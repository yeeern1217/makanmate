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judges. This is MakanMate — the layer between a tourist's phone and the handwritten board at any Malaysian roadside stall. A Pokedex for street food, powered by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beats — the problem, the solution, the architecture, the user flow, the algorithmic edge, and why we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Malaysia is a global food capital — but the food that matters isn't on Instagram. It's at roadside stalls with fifteen online reviews, run by third-generation hawkers. When the uncle retires, the recipe disappears. No foundation model has trained on these stalls. That's the moat — and that's the problem. Tourists can't read the menus, can't verify their allergies, and they walk away. The hawker loses. The heritage erodes.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compound. First, language and legibility — these menus are handwritten, colloquial, full of shorthand like 'CKT.' Standard translators give you the words, not the meaning. Second, dietary anxiety — a tourist with a shellfish allergy cannot verify that the sambal contains shrimp paste, or that the Char Kuey Teow contains cockles. So they don't risk it. Third, the economic impact — they end up at the mall cafe. The B40 hawker loses high-yield tourist revenue. Multiply that across every tourist, every day, and the heritage literally disappears with the generation that cooked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4-layer agentic pipeline. Vision reads the menu. Personalization pulls the user's profile — allergies, Halal, spice tolerance. Heritage RAG retrieves the actual ingredient matrix and the cultural backstory. And then a Critic audits the output against the profile — if a dangerous ingredient is detected, it intercepts and flags the dish before the user sees it. The whole thing requires zero vendor friction. No new hardware. No reprinted menus.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the architecture has two pillars. Multimodal ingestion — our Vision mode reads photos, decodes Malaysian shorthand like CKT, and the Magic Lens returns actual bounding-box coordinates so allergen icons and halal badges can be placed on the live camera feed at the exact dish position. The second pillar is grounded knowledge. We don't trust the model to remember what's in sambal — we retrieve it. Tavily searches the web for every ingredient, Gemini synthesizes with those sources injected, and every output carries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that looks like in the user's hand. The Magic Lens. You point your phone at the menu, and the Vision Agent reads handwriting, returns bounding boxes, and we drop allergen icons — shellfish, peanut, gluten, dairy, egg, soy — onto the exact dish on the live camera feed. Char Kuey Teow gets greyed out with a red warning — cockles, pork lard. Ayam Goreng lights up green, with a translated description. This is the moment the allergic tourist feels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technical details matter here. First, retrieval is grounded — we search the web for the actual ingredient and its history, inject those sources into the model, and every response carries attribution. If search fails, we flag the response as a fallback rather than hallucinate. Second, the Critic loop. The model's output never reaches the user until it's been audited against their profile — allergies, Halal, spice tolerance. A dangerous match gets intercepted and replaced with a red warning badge. This is human-in-the-loop safety,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here's the hero flow. The tourist onboardes — toggles seafood allergy, mild spice, Halal. They sit down at a Penang Char Kuey Teow stall, snap the board. Vision extracts 'Char Kuey Teow' and 'Ayam Goreng.' The Critic cross-references RAG and realizes authentic Char Kuey Teow contains cockles — seafood. The UI updates instantly: CKT is greyed out with a red warning. Ayam Goreng lights up green with an English description. Five seconds, end to end, on-device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MakanMate gets opinionated. Our recommender deliberately inverts standard logic. Standard apps push you to the viral place with ten thousand reviews. We push you to the invisible uncle with fifteen. The Invisibility Boost is a literal term in our scoring — 1 minus reviews over 200, plus a 15-point bonus for grassroots venues. The Akar Score — Akar means 'root' in Malay — grades each stall on age, scarcity, and heritage, mapping to rarity tiers from Common to Legendary. The hidden uncle beats the viral cafe. That's the algorithmic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wrapped all that intelligence in gamification so it actually gets used. Heritage Radar — pulsing GPS pins, with three regional voice personas that narrate as you walk up, browser-native speech, no API key. Pokedex — you catch cards by physically visiting stalls. Heritage Blueprint — a 3D knowledge graph in React Three Fiber; tap any ingredient and RAG-powered lore streams in. And Heritage Trails — connect three catches into a shareable story. The AI does the heavy lifting; the UX makes it sticky.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tech credibility. Next.js 16, React 19, TypeScript end-to-end. A single API route dispatches to an orchestrator running six Gemini modes — every mode uses Zod-validated tool schemas with toolChoice required, so output is always structured. Tavily powers the RAG. The 3D graph is React Three Fiber, the map is MapLibre with no API key, voice is Web Speech. And the dataset — 16 heritage nodes and 12 dish knowledge graphs — is hand-curated. That's the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Three pillars. Hyper-local impact — we empower B40 hawkers without requiring them to buy anything or change anything. Responsible AI — every ingredient claim is grounded in cited sources, and unsafe dishes are intercepted before the user sees them; this is safety-first, not vibes-first. And cultural preservation — every meal becomes an educational story, captured before the hawker retires. Responsible, grounded, agentic. That's MakanMate.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Scan the QR to try MakanMate right now — the repo, the live demo, the dataset are all linked. We're around for questions.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8607247" y="3003804"/>
            <a:ext cx="3072384" cy="2496312"/>
          </a:xfrm>
          <a:prstGeom prst="ellipse">
            <a:avLst/>
          </a:prstGeom>
          <a:solidFill>
            <a:srgbClr val="D4A947">
              <a:alpha val="25000"/>
            </a:srgbClr>
          </a:solidFill>
          <a:ln/>
        </p:spPr>
      </p:sp>
      <p:sp>
        <p:nvSpPr>
          <p:cNvPr id="26" name="Shape 24"/>
          <p:cNvSpPr/>
          <p:nvPr/>
        </p:nvSpPr>
        <p:spPr>
          <a:xfrm>
            <a:off x="8991295" y="3291840"/>
            <a:ext cx="2304288" cy="672084"/>
          </a:xfrm>
          <a:prstGeom prst="triangle">
            <a:avLst/>
          </a:prstGeom>
          <a:solidFill>
            <a:srgbClr val="2F5D3A"/>
          </a:solidFill>
          <a:ln w="12700">
            <a:solidFill>
              <a:srgbClr val="2C1810"/>
            </a:solidFill>
            <a:prstDash val="solid"/>
          </a:ln>
        </p:spPr>
      </p:sp>
      <p:sp>
        <p:nvSpPr>
          <p:cNvPr id="27" name="Shape 25"/>
          <p:cNvSpPr/>
          <p:nvPr/>
        </p:nvSpPr>
        <p:spPr>
          <a:xfrm>
            <a:off x="9087307" y="3915918"/>
            <a:ext cx="2112264" cy="1152144"/>
          </a:xfrm>
          <a:prstGeom prst="rect">
            <a:avLst/>
          </a:prstGeom>
          <a:solidFill>
            <a:srgbClr val="8B1E1E"/>
          </a:solidFill>
          <a:ln w="12700">
            <a:solidFill>
              <a:srgbClr val="2C1810"/>
            </a:solidFill>
            <a:prstDash val="solid"/>
          </a:ln>
        </p:spPr>
      </p:sp>
      <p:sp>
        <p:nvSpPr>
          <p:cNvPr id="28" name="Shape 26"/>
          <p:cNvSpPr/>
          <p:nvPr/>
        </p:nvSpPr>
        <p:spPr>
          <a:xfrm>
            <a:off x="9327337" y="4059936"/>
            <a:ext cx="1632204" cy="403250"/>
          </a:xfrm>
          <a:prstGeom prst="rect">
            <a:avLst/>
          </a:prstGeom>
          <a:solidFill>
            <a:srgbClr val="F4ECD8"/>
          </a:solidFill>
          <a:ln w="9525">
            <a:solidFill>
              <a:srgbClr val="2C1810"/>
            </a:solidFill>
            <a:prstDash val="solid"/>
          </a:ln>
        </p:spPr>
      </p:sp>
      <p:sp>
        <p:nvSpPr>
          <p:cNvPr id="29" name="Shape 27"/>
          <p:cNvSpPr/>
          <p:nvPr/>
        </p:nvSpPr>
        <p:spPr>
          <a:xfrm>
            <a:off x="9394546" y="4155948"/>
            <a:ext cx="1440180" cy="0"/>
          </a:xfrm>
          <a:prstGeom prst="line">
            <a:avLst/>
          </a:prstGeom>
          <a:noFill/>
          <a:ln w="9525">
            <a:solidFill>
              <a:srgbClr val="5B4636"/>
            </a:solidFill>
            <a:prstDash val="solid"/>
          </a:ln>
        </p:spPr>
      </p:sp>
      <p:sp>
        <p:nvSpPr>
          <p:cNvPr id="30" name="Shape 28"/>
          <p:cNvSpPr/>
          <p:nvPr/>
        </p:nvSpPr>
        <p:spPr>
          <a:xfrm>
            <a:off x="9394546" y="4251960"/>
            <a:ext cx="1440180" cy="0"/>
          </a:xfrm>
          <a:prstGeom prst="line">
            <a:avLst/>
          </a:prstGeom>
          <a:noFill/>
          <a:ln w="9525">
            <a:solidFill>
              <a:srgbClr val="5B4636"/>
            </a:solidFill>
            <a:prstDash val="solid"/>
          </a:ln>
        </p:spPr>
      </p:sp>
      <p:sp>
        <p:nvSpPr>
          <p:cNvPr id="31" name="Shape 29"/>
          <p:cNvSpPr/>
          <p:nvPr/>
        </p:nvSpPr>
        <p:spPr>
          <a:xfrm>
            <a:off x="9394546" y="4347972"/>
            <a:ext cx="1440180" cy="0"/>
          </a:xfrm>
          <a:prstGeom prst="line">
            <a:avLst/>
          </a:prstGeom>
          <a:noFill/>
          <a:ln w="9525">
            <a:solidFill>
              <a:srgbClr val="5B4636"/>
            </a:solidFill>
            <a:prstDash val="solid"/>
          </a:ln>
        </p:spPr>
      </p:sp>
      <p:sp>
        <p:nvSpPr>
          <p:cNvPr id="32" name="Shape 30"/>
          <p:cNvSpPr/>
          <p:nvPr/>
        </p:nvSpPr>
        <p:spPr>
          <a:xfrm>
            <a:off x="9663379" y="4732020"/>
            <a:ext cx="672084" cy="288036"/>
          </a:xfrm>
          <a:prstGeom prst="ellipse">
            <a:avLst/>
          </a:prstGeom>
          <a:solidFill>
            <a:srgbClr val="2C1810"/>
          </a:solidFill>
          <a:ln w="9525">
            <a:solidFill>
              <a:srgbClr val="2C1810"/>
            </a:solidFill>
            <a:prstDash val="solid"/>
          </a:ln>
        </p:spPr>
      </p:sp>
      <p:sp>
        <p:nvSpPr>
          <p:cNvPr id="33" name="Shape 31"/>
          <p:cNvSpPr/>
          <p:nvPr/>
        </p:nvSpPr>
        <p:spPr>
          <a:xfrm>
            <a:off x="9903409" y="3387852"/>
            <a:ext cx="336042" cy="336042"/>
          </a:xfrm>
          <a:prstGeom prst="ellipse">
            <a:avLst/>
          </a:prstGeom>
          <a:solidFill>
            <a:srgbClr val="FFFFFF">
              <a:alpha val="40000"/>
            </a:srgbClr>
          </a:solidFill>
          <a:ln/>
        </p:spPr>
      </p:sp>
      <p:sp>
        <p:nvSpPr>
          <p:cNvPr id="34" name="Shape 32"/>
          <p:cNvSpPr/>
          <p:nvPr/>
        </p:nvSpPr>
        <p:spPr>
          <a:xfrm>
            <a:off x="10095433" y="3147822"/>
            <a:ext cx="268834" cy="268834"/>
          </a:xfrm>
          <a:prstGeom prst="ellipse">
            <a:avLst/>
          </a:prstGeom>
          <a:solidFill>
            <a:srgbClr val="FFFFFF">
              <a:alpha val="40000"/>
            </a:srgbClr>
          </a:solidFill>
          <a:ln/>
        </p:spPr>
      </p:sp>
      <p:sp>
        <p:nvSpPr>
          <p:cNvPr id="35" name="Shape 33"/>
          <p:cNvSpPr/>
          <p:nvPr/>
        </p:nvSpPr>
        <p:spPr>
          <a:xfrm>
            <a:off x="9711385" y="3243834"/>
            <a:ext cx="211226" cy="211226"/>
          </a:xfrm>
          <a:prstGeom prst="ellipse">
            <a:avLst/>
          </a:prstGeom>
          <a:solidFill>
            <a:srgbClr val="FFFFFF">
              <a:alpha val="40000"/>
            </a:srgbClr>
          </a:solidFill>
          <a:ln/>
        </p:spPr>
      </p:sp>
      <p:sp>
        <p:nvSpPr>
          <p:cNvPr id="36" name="Shape 34"/>
          <p:cNvSpPr/>
          <p:nvPr/>
        </p:nvSpPr>
        <p:spPr>
          <a:xfrm>
            <a:off x="10911535" y="4040734"/>
            <a:ext cx="172822" cy="211226"/>
          </a:xfrm>
          <a:prstGeom prst="ellipse">
            <a:avLst/>
          </a:prstGeom>
          <a:solidFill>
            <a:srgbClr val="D4A947"/>
          </a:solidFill>
          <a:ln w="6350">
            <a:solidFill>
              <a:srgbClr val="2C1810"/>
            </a:solidFill>
            <a:prstDash val="solid"/>
          </a:ln>
        </p:spPr>
      </p:sp>
      <p:sp>
        <p:nvSpPr>
          <p:cNvPr id="37" name="Shape 35"/>
          <p:cNvSpPr/>
          <p:nvPr/>
        </p:nvSpPr>
        <p:spPr>
          <a:xfrm>
            <a:off x="896112" y="3273552"/>
            <a:ext cx="1591056" cy="2688336"/>
          </a:xfrm>
          <a:prstGeom prst="roundRect">
            <a:avLst>
              <a:gd name="adj" fmla="val 11494"/>
            </a:avLst>
          </a:prstGeom>
          <a:solidFill>
            <a:srgbClr val="D4A947">
              <a:alpha val="22000"/>
            </a:srgbClr>
          </a:solidFill>
          <a:ln/>
        </p:spPr>
      </p:sp>
      <p:sp>
        <p:nvSpPr>
          <p:cNvPr id="38" name="Shape 36"/>
          <p:cNvSpPr/>
          <p:nvPr/>
        </p:nvSpPr>
        <p:spPr>
          <a:xfrm>
            <a:off x="1005840" y="3383280"/>
            <a:ext cx="1371600" cy="2468880"/>
          </a:xfrm>
          <a:prstGeom prst="roundRect">
            <a:avLst>
              <a:gd name="adj" fmla="val 9333"/>
            </a:avLst>
          </a:prstGeom>
          <a:solidFill>
            <a:srgbClr val="2C1810"/>
          </a:solidFill>
          <a:ln w="12700">
            <a:solidFill>
              <a:srgbClr val="2C1810"/>
            </a:solidFill>
            <a:prstDash val="solid"/>
          </a:ln>
        </p:spPr>
      </p:sp>
      <p:sp>
        <p:nvSpPr>
          <p:cNvPr id="39" name="Shape 37"/>
          <p:cNvSpPr/>
          <p:nvPr/>
        </p:nvSpPr>
        <p:spPr>
          <a:xfrm>
            <a:off x="1069848" y="3447288"/>
            <a:ext cx="1243584" cy="2340864"/>
          </a:xfrm>
          <a:prstGeom prst="roundRect">
            <a:avLst>
              <a:gd name="adj" fmla="val 5882"/>
            </a:avLst>
          </a:prstGeom>
          <a:solidFill>
            <a:srgbClr val="F4ECD8"/>
          </a:solidFill>
          <a:ln w="6350">
            <a:solidFill>
              <a:srgbClr val="C4A882"/>
            </a:solidFill>
            <a:prstDash val="solid"/>
          </a:ln>
        </p:spPr>
      </p:sp>
      <p:sp>
        <p:nvSpPr>
          <p:cNvPr id="40" name="Shape 38"/>
          <p:cNvSpPr/>
          <p:nvPr/>
        </p:nvSpPr>
        <p:spPr>
          <a:xfrm>
            <a:off x="1527048" y="3419856"/>
            <a:ext cx="329184" cy="54864"/>
          </a:xfrm>
          <a:prstGeom prst="roundRect">
            <a:avLst>
              <a:gd name="adj" fmla="val 50000"/>
            </a:avLst>
          </a:prstGeom>
          <a:solidFill>
            <a:srgbClr val="2C1810"/>
          </a:solidFill>
          <a:ln/>
        </p:spPr>
      </p:sp>
      <p:sp>
        <p:nvSpPr>
          <p:cNvPr id="41" name="Shape 39"/>
          <p:cNvSpPr/>
          <p:nvPr/>
        </p:nvSpPr>
        <p:spPr>
          <a:xfrm>
            <a:off x="1234440" y="3749040"/>
            <a:ext cx="182880" cy="182880"/>
          </a:xfrm>
          <a:prstGeom prst="ellipse">
            <a:avLst/>
          </a:prstGeom>
          <a:solidFill>
            <a:srgbClr val="3F7A4A"/>
          </a:solidFill>
          <a:ln w="9525">
            <a:solidFill>
              <a:srgbClr val="2C1810"/>
            </a:solidFill>
            <a:prstDash val="solid"/>
          </a:ln>
        </p:spPr>
      </p:sp>
      <p:sp>
        <p:nvSpPr>
          <p:cNvPr id="42" name="Shape 40"/>
          <p:cNvSpPr/>
          <p:nvPr/>
        </p:nvSpPr>
        <p:spPr>
          <a:xfrm>
            <a:off x="1284732" y="3845052"/>
            <a:ext cx="32004" cy="36576"/>
          </a:xfrm>
          <a:prstGeom prst="line">
            <a:avLst/>
          </a:prstGeom>
          <a:noFill/>
          <a:ln w="25400">
            <a:solidFill>
              <a:srgbClr val="F4ECD8"/>
            </a:solidFill>
            <a:prstDash val="solid"/>
          </a:ln>
        </p:spPr>
      </p:sp>
      <p:sp>
        <p:nvSpPr>
          <p:cNvPr id="43" name="Shape 41"/>
          <p:cNvSpPr/>
          <p:nvPr/>
        </p:nvSpPr>
        <p:spPr>
          <a:xfrm>
            <a:off x="1316736" y="3881628"/>
            <a:ext cx="50292" cy="-54864"/>
          </a:xfrm>
          <a:prstGeom prst="line">
            <a:avLst/>
          </a:prstGeom>
          <a:noFill/>
          <a:ln w="25400">
            <a:solidFill>
              <a:srgbClr val="F4ECD8"/>
            </a:solidFill>
            <a:prstDash val="solid"/>
          </a:ln>
        </p:spPr>
      </p:sp>
      <p:sp>
        <p:nvSpPr>
          <p:cNvPr id="44" name="Shape 42"/>
          <p:cNvSpPr/>
          <p:nvPr/>
        </p:nvSpPr>
        <p:spPr>
          <a:xfrm>
            <a:off x="1234440" y="4069080"/>
            <a:ext cx="182880" cy="182880"/>
          </a:xfrm>
          <a:prstGeom prst="ellipse">
            <a:avLst/>
          </a:prstGeom>
          <a:solidFill>
            <a:srgbClr val="3F7A4A"/>
          </a:solidFill>
          <a:ln w="9525">
            <a:solidFill>
              <a:srgbClr val="2C1810"/>
            </a:solidFill>
            <a:prstDash val="solid"/>
          </a:ln>
        </p:spPr>
      </p:sp>
      <p:sp>
        <p:nvSpPr>
          <p:cNvPr id="45" name="Shape 43"/>
          <p:cNvSpPr/>
          <p:nvPr/>
        </p:nvSpPr>
        <p:spPr>
          <a:xfrm>
            <a:off x="1284732" y="4165092"/>
            <a:ext cx="32004" cy="36576"/>
          </a:xfrm>
          <a:prstGeom prst="line">
            <a:avLst/>
          </a:prstGeom>
          <a:noFill/>
          <a:ln w="25400">
            <a:solidFill>
              <a:srgbClr val="F4ECD8"/>
            </a:solidFill>
            <a:prstDash val="solid"/>
          </a:ln>
        </p:spPr>
      </p:sp>
      <p:sp>
        <p:nvSpPr>
          <p:cNvPr id="46" name="Shape 44"/>
          <p:cNvSpPr/>
          <p:nvPr/>
        </p:nvSpPr>
        <p:spPr>
          <a:xfrm>
            <a:off x="1316736" y="4201668"/>
            <a:ext cx="50292" cy="-54864"/>
          </a:xfrm>
          <a:prstGeom prst="line">
            <a:avLst/>
          </a:prstGeom>
          <a:noFill/>
          <a:ln w="25400">
            <a:solidFill>
              <a:srgbClr val="F4ECD8"/>
            </a:solidFill>
            <a:prstDash val="solid"/>
          </a:ln>
        </p:spPr>
      </p:sp>
      <p:sp>
        <p:nvSpPr>
          <p:cNvPr id="47" name="Shape 45"/>
          <p:cNvSpPr/>
          <p:nvPr/>
        </p:nvSpPr>
        <p:spPr>
          <a:xfrm>
            <a:off x="1691640" y="4402836"/>
            <a:ext cx="182880" cy="155448"/>
          </a:xfrm>
          <a:prstGeom prst="triangle">
            <a:avLst/>
          </a:prstGeom>
          <a:solidFill>
            <a:srgbClr val="B83A3A"/>
          </a:solidFill>
          <a:ln w="9525">
            <a:solidFill>
              <a:srgbClr val="2C1810"/>
            </a:solidFill>
            <a:prstDash val="solid"/>
          </a:ln>
        </p:spPr>
      </p:sp>
      <p:sp>
        <p:nvSpPr>
          <p:cNvPr id="48" name="Text 46"/>
          <p:cNvSpPr txBox="1"/>
          <p:nvPr/>
        </p:nvSpPr>
        <p:spPr>
          <a:xfrm>
            <a:off x="1691640" y="4434840"/>
            <a:ext cx="182880" cy="109728"/>
          </a:xfrm>
          <a:prstGeom prst="rect">
            <a:avLst/>
          </a:prstGeom>
          <a:noFill/>
          <a:ln/>
        </p:spPr>
        <p:txBody>
          <a:bodyPr wrap="square" rtlCol="0" anchor="ctr"/>
          <a:lstStyle/>
          <a:p>
            <a:pPr algn="ctr" indent="0" marL="0">
              <a:buNone/>
            </a:pPr>
            <a:r>
              <a:rPr lang="en-US" sz="1200" b="1" dirty="0">
                <a:solidFill>
                  <a:srgbClr val="F4ECD8"/>
                </a:solidFill>
                <a:latin typeface="Fraunces" pitchFamily="34" charset="0"/>
                <a:ea typeface="Fraunces" pitchFamily="34" charset="-122"/>
                <a:cs typeface="Fraunces" pitchFamily="34" charset="-120"/>
              </a:rPr>
              <a:t>!</a:t>
            </a:r>
            <a:endParaRPr lang="en-US" sz="1200" dirty="0"/>
          </a:p>
        </p:txBody>
      </p:sp>
      <p:sp>
        <p:nvSpPr>
          <p:cNvPr id="49" name="Shape 47"/>
          <p:cNvSpPr/>
          <p:nvPr/>
        </p:nvSpPr>
        <p:spPr>
          <a:xfrm>
            <a:off x="1234440" y="4709160"/>
            <a:ext cx="182880" cy="182880"/>
          </a:xfrm>
          <a:prstGeom prst="ellipse">
            <a:avLst/>
          </a:prstGeom>
          <a:solidFill>
            <a:srgbClr val="3F7A4A"/>
          </a:solidFill>
          <a:ln w="9525">
            <a:solidFill>
              <a:srgbClr val="2C1810"/>
            </a:solidFill>
            <a:prstDash val="solid"/>
          </a:ln>
        </p:spPr>
      </p:sp>
      <p:sp>
        <p:nvSpPr>
          <p:cNvPr id="50" name="Shape 48"/>
          <p:cNvSpPr/>
          <p:nvPr/>
        </p:nvSpPr>
        <p:spPr>
          <a:xfrm>
            <a:off x="1284732" y="4805172"/>
            <a:ext cx="32004" cy="36576"/>
          </a:xfrm>
          <a:prstGeom prst="line">
            <a:avLst/>
          </a:prstGeom>
          <a:noFill/>
          <a:ln w="25400">
            <a:solidFill>
              <a:srgbClr val="F4ECD8"/>
            </a:solidFill>
            <a:prstDash val="solid"/>
          </a:ln>
        </p:spPr>
      </p:sp>
      <p:sp>
        <p:nvSpPr>
          <p:cNvPr id="51" name="Shape 49"/>
          <p:cNvSpPr/>
          <p:nvPr/>
        </p:nvSpPr>
        <p:spPr>
          <a:xfrm>
            <a:off x="1316736" y="4841748"/>
            <a:ext cx="50292" cy="-54864"/>
          </a:xfrm>
          <a:prstGeom prst="line">
            <a:avLst/>
          </a:prstGeom>
          <a:noFill/>
          <a:ln w="25400">
            <a:solidFill>
              <a:srgbClr val="F4ECD8"/>
            </a:solidFill>
            <a:prstDash val="solid"/>
          </a:ln>
        </p:spPr>
      </p:sp>
      <p:sp>
        <p:nvSpPr>
          <p:cNvPr id="52" name="Shape 50"/>
          <p:cNvSpPr/>
          <p:nvPr/>
        </p:nvSpPr>
        <p:spPr>
          <a:xfrm>
            <a:off x="1143000" y="5120640"/>
            <a:ext cx="1097280" cy="0"/>
          </a:xfrm>
          <a:prstGeom prst="line">
            <a:avLst/>
          </a:prstGeom>
          <a:noFill/>
          <a:ln w="9525">
            <a:solidFill>
              <a:srgbClr val="C4A882"/>
            </a:solidFill>
            <a:prstDash val="solid"/>
          </a:ln>
        </p:spPr>
      </p:sp>
      <p:sp>
        <p:nvSpPr>
          <p:cNvPr id="53" name="Shape 51"/>
          <p:cNvSpPr/>
          <p:nvPr/>
        </p:nvSpPr>
        <p:spPr>
          <a:xfrm>
            <a:off x="1143000" y="5285232"/>
            <a:ext cx="1097280" cy="0"/>
          </a:xfrm>
          <a:prstGeom prst="line">
            <a:avLst/>
          </a:prstGeom>
          <a:noFill/>
          <a:ln w="9525">
            <a:solidFill>
              <a:srgbClr val="C4A882"/>
            </a:solidFill>
            <a:prstDash val="solid"/>
          </a:ln>
        </p:spPr>
      </p:sp>
      <p:sp>
        <p:nvSpPr>
          <p:cNvPr id="54" name="Shape 52"/>
          <p:cNvSpPr/>
          <p:nvPr/>
        </p:nvSpPr>
        <p:spPr>
          <a:xfrm>
            <a:off x="1143000" y="5449824"/>
            <a:ext cx="1097280" cy="0"/>
          </a:xfrm>
          <a:prstGeom prst="line">
            <a:avLst/>
          </a:prstGeom>
          <a:noFill/>
          <a:ln w="9525">
            <a:solidFill>
              <a:srgbClr val="C4A882"/>
            </a:solidFill>
            <a:prstDash val="solid"/>
          </a:ln>
        </p:spPr>
      </p:sp>
      <p:sp>
        <p:nvSpPr>
          <p:cNvPr id="55" name="Shape 53"/>
          <p:cNvSpPr/>
          <p:nvPr/>
        </p:nvSpPr>
        <p:spPr>
          <a:xfrm>
            <a:off x="1143000" y="5614416"/>
            <a:ext cx="1097280" cy="0"/>
          </a:xfrm>
          <a:prstGeom prst="line">
            <a:avLst/>
          </a:prstGeom>
          <a:noFill/>
          <a:ln w="9525">
            <a:solidFill>
              <a:srgbClr val="C4A882"/>
            </a:solidFill>
            <a:prstDash val="solid"/>
          </a:ln>
        </p:spPr>
      </p:sp>
      <p:sp>
        <p:nvSpPr>
          <p:cNvPr id="56" name="Text 54"/>
          <p:cNvSpPr txBox="1"/>
          <p:nvPr/>
        </p:nvSpPr>
        <p:spPr>
          <a:xfrm>
            <a:off x="502920" y="1371600"/>
            <a:ext cx="11185855" cy="365760"/>
          </a:xfrm>
          <a:prstGeom prst="rect">
            <a:avLst/>
          </a:prstGeom>
          <a:noFill/>
          <a:ln/>
        </p:spPr>
        <p:txBody>
          <a:bodyPr wrap="square" rtlCol="0" anchor="ctr"/>
          <a:lstStyle/>
          <a:p>
            <a:pPr algn="ctr" indent="0" marL="0">
              <a:buNone/>
            </a:pPr>
            <a:r>
              <a:rPr lang="en-US" sz="1300" b="1" spc="600" kern="0" dirty="0">
                <a:solidFill>
                  <a:srgbClr val="8B1E1E"/>
                </a:solidFill>
                <a:latin typeface="DM Sans" pitchFamily="34" charset="0"/>
                <a:ea typeface="DM Sans" pitchFamily="34" charset="-122"/>
                <a:cs typeface="DM Sans" pitchFamily="34" charset="-120"/>
              </a:rPr>
              <a:t>MALAYSIAN STREET FOOD AI COMPANION</a:t>
            </a:r>
            <a:endParaRPr lang="en-US" sz="1300" dirty="0"/>
          </a:p>
        </p:txBody>
      </p:sp>
      <p:sp>
        <p:nvSpPr>
          <p:cNvPr id="57" name="Text 55"/>
          <p:cNvSpPr txBox="1"/>
          <p:nvPr/>
        </p:nvSpPr>
        <p:spPr>
          <a:xfrm>
            <a:off x="502920" y="1920240"/>
            <a:ext cx="11185855" cy="1280160"/>
          </a:xfrm>
          <a:prstGeom prst="rect">
            <a:avLst/>
          </a:prstGeom>
          <a:noFill/>
          <a:ln/>
        </p:spPr>
        <p:txBody>
          <a:bodyPr wrap="square" rtlCol="0" anchor="ctr"/>
          <a:lstStyle/>
          <a:p>
            <a:pPr algn="ctr" indent="0" marL="0">
              <a:buNone/>
            </a:pPr>
            <a:r>
              <a:rPr lang="en-US" sz="9600" b="1" dirty="0">
                <a:solidFill>
                  <a:srgbClr val="C4A882"/>
                </a:solidFill>
                <a:latin typeface="Fraunces" pitchFamily="34" charset="0"/>
                <a:ea typeface="Fraunces" pitchFamily="34" charset="-122"/>
                <a:cs typeface="Fraunces" pitchFamily="34" charset="-120"/>
              </a:rPr>
              <a:t>MAKANMATE</a:t>
            </a:r>
            <a:endParaRPr lang="en-US" sz="9600" dirty="0"/>
          </a:p>
        </p:txBody>
      </p:sp>
      <p:sp>
        <p:nvSpPr>
          <p:cNvPr id="58" name="Text 56"/>
          <p:cNvSpPr txBox="1"/>
          <p:nvPr/>
        </p:nvSpPr>
        <p:spPr>
          <a:xfrm>
            <a:off x="502920" y="1874520"/>
            <a:ext cx="11185855" cy="1280160"/>
          </a:xfrm>
          <a:prstGeom prst="rect">
            <a:avLst/>
          </a:prstGeom>
          <a:noFill/>
          <a:ln/>
        </p:spPr>
        <p:txBody>
          <a:bodyPr wrap="square" rtlCol="0" anchor="ctr"/>
          <a:lstStyle/>
          <a:p>
            <a:pPr algn="ctr" indent="0" marL="0">
              <a:buNone/>
            </a:pPr>
            <a:r>
              <a:rPr lang="en-US" sz="9600" b="1" dirty="0">
                <a:solidFill>
                  <a:srgbClr val="8B1E1E"/>
                </a:solidFill>
                <a:latin typeface="Fraunces" pitchFamily="34" charset="0"/>
                <a:ea typeface="Fraunces" pitchFamily="34" charset="-122"/>
                <a:cs typeface="Fraunces" pitchFamily="34" charset="-120"/>
              </a:rPr>
              <a:t>MAKANMATE</a:t>
            </a:r>
            <a:endParaRPr lang="en-US" sz="9600" dirty="0"/>
          </a:p>
        </p:txBody>
      </p:sp>
      <p:sp>
        <p:nvSpPr>
          <p:cNvPr id="59" name="Shape 57"/>
          <p:cNvSpPr/>
          <p:nvPr/>
        </p:nvSpPr>
        <p:spPr>
          <a:xfrm>
            <a:off x="4724248" y="3337560"/>
            <a:ext cx="2743200" cy="0"/>
          </a:xfrm>
          <a:prstGeom prst="line">
            <a:avLst/>
          </a:prstGeom>
          <a:noFill/>
          <a:ln w="19050">
            <a:solidFill>
              <a:srgbClr val="D4A947"/>
            </a:solidFill>
            <a:prstDash val="solid"/>
          </a:ln>
        </p:spPr>
      </p:sp>
      <p:sp>
        <p:nvSpPr>
          <p:cNvPr id="60" name="Shape 58"/>
          <p:cNvSpPr/>
          <p:nvPr/>
        </p:nvSpPr>
        <p:spPr>
          <a:xfrm>
            <a:off x="6118708" y="3268980"/>
            <a:ext cx="205740" cy="137160"/>
          </a:xfrm>
          <a:prstGeom prst="ellipse">
            <a:avLst/>
          </a:prstGeom>
          <a:solidFill>
            <a:srgbClr val="8B1E1E">
              <a:alpha val="65000"/>
            </a:srgbClr>
          </a:solidFill>
          <a:ln w="6350">
            <a:solidFill>
              <a:srgbClr val="8B1E1E"/>
            </a:solidFill>
            <a:prstDash val="solid"/>
          </a:ln>
        </p:spPr>
      </p:sp>
      <p:sp>
        <p:nvSpPr>
          <p:cNvPr id="61" name="Shape 59"/>
          <p:cNvSpPr/>
          <p:nvPr/>
        </p:nvSpPr>
        <p:spPr>
          <a:xfrm rot="5400000">
            <a:off x="5992978" y="3394710"/>
            <a:ext cx="205740" cy="137160"/>
          </a:xfrm>
          <a:prstGeom prst="ellipse">
            <a:avLst/>
          </a:prstGeom>
          <a:solidFill>
            <a:srgbClr val="8B1E1E">
              <a:alpha val="65000"/>
            </a:srgbClr>
          </a:solidFill>
          <a:ln w="6350">
            <a:solidFill>
              <a:srgbClr val="8B1E1E"/>
            </a:solidFill>
            <a:prstDash val="solid"/>
          </a:ln>
        </p:spPr>
      </p:sp>
      <p:sp>
        <p:nvSpPr>
          <p:cNvPr id="62" name="Shape 60"/>
          <p:cNvSpPr/>
          <p:nvPr/>
        </p:nvSpPr>
        <p:spPr>
          <a:xfrm rot="10800000">
            <a:off x="5867248" y="3268980"/>
            <a:ext cx="205740" cy="137160"/>
          </a:xfrm>
          <a:prstGeom prst="ellipse">
            <a:avLst/>
          </a:prstGeom>
          <a:solidFill>
            <a:srgbClr val="8B1E1E">
              <a:alpha val="65000"/>
            </a:srgbClr>
          </a:solidFill>
          <a:ln w="6350">
            <a:solidFill>
              <a:srgbClr val="8B1E1E"/>
            </a:solidFill>
            <a:prstDash val="solid"/>
          </a:ln>
        </p:spPr>
      </p:sp>
      <p:sp>
        <p:nvSpPr>
          <p:cNvPr id="63" name="Shape 61"/>
          <p:cNvSpPr/>
          <p:nvPr/>
        </p:nvSpPr>
        <p:spPr>
          <a:xfrm rot="16200000">
            <a:off x="5992978" y="3143250"/>
            <a:ext cx="205740" cy="137160"/>
          </a:xfrm>
          <a:prstGeom prst="ellipse">
            <a:avLst/>
          </a:prstGeom>
          <a:solidFill>
            <a:srgbClr val="8B1E1E">
              <a:alpha val="65000"/>
            </a:srgbClr>
          </a:solidFill>
          <a:ln w="6350">
            <a:solidFill>
              <a:srgbClr val="8B1E1E"/>
            </a:solidFill>
            <a:prstDash val="solid"/>
          </a:ln>
        </p:spPr>
      </p:sp>
      <p:sp>
        <p:nvSpPr>
          <p:cNvPr id="64" name="Shape 62"/>
          <p:cNvSpPr/>
          <p:nvPr/>
        </p:nvSpPr>
        <p:spPr>
          <a:xfrm>
            <a:off x="6054700" y="3296412"/>
            <a:ext cx="82296" cy="82296"/>
          </a:xfrm>
          <a:prstGeom prst="ellipse">
            <a:avLst/>
          </a:prstGeom>
          <a:solidFill>
            <a:srgbClr val="D4A947"/>
          </a:solidFill>
          <a:ln w="6350">
            <a:solidFill>
              <a:srgbClr val="8B1E1E"/>
            </a:solidFill>
            <a:prstDash val="solid"/>
          </a:ln>
        </p:spPr>
      </p:sp>
      <p:sp>
        <p:nvSpPr>
          <p:cNvPr id="65" name="Text 63"/>
          <p:cNvSpPr txBox="1"/>
          <p:nvPr/>
        </p:nvSpPr>
        <p:spPr>
          <a:xfrm>
            <a:off x="502920" y="5989320"/>
            <a:ext cx="11185855" cy="365760"/>
          </a:xfrm>
          <a:prstGeom prst="rect">
            <a:avLst/>
          </a:prstGeom>
          <a:noFill/>
          <a:ln/>
        </p:spPr>
        <p:txBody>
          <a:bodyPr wrap="square" rtlCol="0" anchor="ctr"/>
          <a:lstStyle/>
          <a:p>
            <a:pPr algn="ctr" indent="0" marL="0">
              <a:buNone/>
            </a:pPr>
            <a:r>
              <a:rPr lang="en-US" sz="1300" b="1" spc="500" kern="0" dirty="0">
                <a:solidFill>
                  <a:srgbClr val="2F5D3A"/>
                </a:solidFill>
                <a:latin typeface="DM Sans" pitchFamily="34" charset="0"/>
                <a:ea typeface="DM Sans" pitchFamily="34" charset="-122"/>
                <a:cs typeface="DM Sans" pitchFamily="34" charset="-120"/>
              </a:rPr>
              <a:t>HERITAGE  ·  AGENTIC AI  ·  CODEX HACKATHON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685800"/>
            <a:ext cx="11185855" cy="914400"/>
          </a:xfrm>
          <a:prstGeom prst="rect">
            <a:avLst/>
          </a:prstGeom>
          <a:noFill/>
          <a:ln/>
        </p:spPr>
        <p:txBody>
          <a:bodyPr wrap="square" rtlCol="0" anchor="t"/>
          <a:lstStyle/>
          <a:p>
            <a:pPr algn="l" indent="0" marL="0">
              <a:buNone/>
            </a:pPr>
            <a:r>
              <a:rPr lang="en-US" sz="4800" b="1" dirty="0">
                <a:solidFill>
                  <a:srgbClr val="C4A882"/>
                </a:solidFill>
                <a:latin typeface="Fraunces" pitchFamily="34" charset="0"/>
                <a:ea typeface="Fraunces" pitchFamily="34" charset="-122"/>
                <a:cs typeface="Fraunces" pitchFamily="34" charset="-120"/>
              </a:rPr>
              <a:t>AGENDA</a:t>
            </a:r>
            <a:endParaRPr lang="en-US" sz="4800" dirty="0"/>
          </a:p>
        </p:txBody>
      </p:sp>
      <p:sp>
        <p:nvSpPr>
          <p:cNvPr id="26" name="Text 24"/>
          <p:cNvSpPr txBox="1"/>
          <p:nvPr/>
        </p:nvSpPr>
        <p:spPr>
          <a:xfrm>
            <a:off x="502920" y="640080"/>
            <a:ext cx="11185855" cy="914400"/>
          </a:xfrm>
          <a:prstGeom prst="rect">
            <a:avLst/>
          </a:prstGeom>
          <a:noFill/>
          <a:ln/>
        </p:spPr>
        <p:txBody>
          <a:bodyPr wrap="square" rtlCol="0" anchor="t"/>
          <a:lstStyle/>
          <a:p>
            <a:pPr algn="l" indent="0" marL="0">
              <a:buNone/>
            </a:pPr>
            <a:r>
              <a:rPr lang="en-US" sz="4800" b="1" dirty="0">
                <a:solidFill>
                  <a:srgbClr val="8B1E1E"/>
                </a:solidFill>
                <a:latin typeface="Fraunces" pitchFamily="34" charset="0"/>
                <a:ea typeface="Fraunces" pitchFamily="34" charset="-122"/>
                <a:cs typeface="Fraunces" pitchFamily="34" charset="-120"/>
              </a:rPr>
              <a:t>AGENDA</a:t>
            </a:r>
            <a:endParaRPr lang="en-US" sz="48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SIX BEATS · ~6 MINUTE PITCH</a:t>
            </a:r>
            <a:endParaRPr lang="en-US" sz="1100" dirty="0"/>
          </a:p>
        </p:txBody>
      </p:sp>
      <p:sp>
        <p:nvSpPr>
          <p:cNvPr id="28" name="Shape 26"/>
          <p:cNvSpPr/>
          <p:nvPr/>
        </p:nvSpPr>
        <p:spPr>
          <a:xfrm>
            <a:off x="685800" y="1783080"/>
            <a:ext cx="640080" cy="502920"/>
          </a:xfrm>
          <a:prstGeom prst="roundRect">
            <a:avLst>
              <a:gd name="adj" fmla="val 10909"/>
            </a:avLst>
          </a:prstGeom>
          <a:solidFill>
            <a:srgbClr val="8B1E1E"/>
          </a:solidFill>
          <a:ln w="9525">
            <a:solidFill>
              <a:srgbClr val="2C1810"/>
            </a:solidFill>
            <a:prstDash val="solid"/>
          </a:ln>
        </p:spPr>
      </p:sp>
      <p:sp>
        <p:nvSpPr>
          <p:cNvPr id="29" name="Text 27"/>
          <p:cNvSpPr txBox="1"/>
          <p:nvPr/>
        </p:nvSpPr>
        <p:spPr>
          <a:xfrm>
            <a:off x="685800" y="1783080"/>
            <a:ext cx="640080" cy="502920"/>
          </a:xfrm>
          <a:prstGeom prst="rect">
            <a:avLst/>
          </a:prstGeom>
          <a:noFill/>
          <a:ln/>
        </p:spPr>
        <p:txBody>
          <a:bodyPr wrap="square" rtlCol="0" anchor="ctr"/>
          <a:lstStyle/>
          <a:p>
            <a:pPr algn="ctr" indent="0" marL="0">
              <a:buNone/>
            </a:pPr>
            <a:r>
              <a:rPr lang="en-US" sz="2000" b="1" dirty="0">
                <a:solidFill>
                  <a:srgbClr val="F4ECD8"/>
                </a:solidFill>
                <a:latin typeface="Fraunces" pitchFamily="34" charset="0"/>
                <a:ea typeface="Fraunces" pitchFamily="34" charset="-122"/>
                <a:cs typeface="Fraunces" pitchFamily="34" charset="-120"/>
              </a:rPr>
              <a:t>01</a:t>
            </a:r>
            <a:endParaRPr lang="en-US" sz="2000" dirty="0"/>
          </a:p>
        </p:txBody>
      </p:sp>
      <p:sp>
        <p:nvSpPr>
          <p:cNvPr id="30" name="Text 28"/>
          <p:cNvSpPr txBox="1"/>
          <p:nvPr/>
        </p:nvSpPr>
        <p:spPr>
          <a:xfrm>
            <a:off x="1554480" y="1783080"/>
            <a:ext cx="5029200" cy="502920"/>
          </a:xfrm>
          <a:prstGeom prst="rect">
            <a:avLst/>
          </a:prstGeom>
          <a:noFill/>
          <a:ln/>
        </p:spPr>
        <p:txBody>
          <a:bodyPr wrap="square" rtlCol="0" anchor="ctr"/>
          <a:lstStyle/>
          <a:p>
            <a:pPr algn="l" indent="0" marL="0">
              <a:buNone/>
            </a:pPr>
            <a:r>
              <a:rPr lang="en-US" sz="1800" b="1" dirty="0">
                <a:solidFill>
                  <a:srgbClr val="2C1810"/>
                </a:solidFill>
                <a:latin typeface="Fraunces" pitchFamily="34" charset="0"/>
                <a:ea typeface="Fraunces" pitchFamily="34" charset="-122"/>
                <a:cs typeface="Fraunces" pitchFamily="34" charset="-120"/>
              </a:rPr>
              <a:t>THE PROBLEM</a:t>
            </a:r>
            <a:endParaRPr lang="en-US" sz="1800" dirty="0"/>
          </a:p>
        </p:txBody>
      </p:sp>
      <p:sp>
        <p:nvSpPr>
          <p:cNvPr id="31" name="Shape 29"/>
          <p:cNvSpPr/>
          <p:nvPr/>
        </p:nvSpPr>
        <p:spPr>
          <a:xfrm>
            <a:off x="685800" y="2350008"/>
            <a:ext cx="5760720" cy="0"/>
          </a:xfrm>
          <a:prstGeom prst="line">
            <a:avLst/>
          </a:prstGeom>
          <a:noFill/>
          <a:ln w="6350">
            <a:solidFill>
              <a:srgbClr val="C4A882"/>
            </a:solidFill>
            <a:prstDash val="dash"/>
          </a:ln>
        </p:spPr>
      </p:sp>
      <p:sp>
        <p:nvSpPr>
          <p:cNvPr id="32" name="Shape 30"/>
          <p:cNvSpPr/>
          <p:nvPr/>
        </p:nvSpPr>
        <p:spPr>
          <a:xfrm>
            <a:off x="685800" y="2423160"/>
            <a:ext cx="640080" cy="502920"/>
          </a:xfrm>
          <a:prstGeom prst="roundRect">
            <a:avLst>
              <a:gd name="adj" fmla="val 10909"/>
            </a:avLst>
          </a:prstGeom>
          <a:solidFill>
            <a:srgbClr val="2F5D3A"/>
          </a:solidFill>
          <a:ln w="9525">
            <a:solidFill>
              <a:srgbClr val="2C1810"/>
            </a:solidFill>
            <a:prstDash val="solid"/>
          </a:ln>
        </p:spPr>
      </p:sp>
      <p:sp>
        <p:nvSpPr>
          <p:cNvPr id="33" name="Text 31"/>
          <p:cNvSpPr txBox="1"/>
          <p:nvPr/>
        </p:nvSpPr>
        <p:spPr>
          <a:xfrm>
            <a:off x="685800" y="2423160"/>
            <a:ext cx="640080" cy="502920"/>
          </a:xfrm>
          <a:prstGeom prst="rect">
            <a:avLst/>
          </a:prstGeom>
          <a:noFill/>
          <a:ln/>
        </p:spPr>
        <p:txBody>
          <a:bodyPr wrap="square" rtlCol="0" anchor="ctr"/>
          <a:lstStyle/>
          <a:p>
            <a:pPr algn="ctr" indent="0" marL="0">
              <a:buNone/>
            </a:pPr>
            <a:r>
              <a:rPr lang="en-US" sz="2000" b="1" dirty="0">
                <a:solidFill>
                  <a:srgbClr val="F4ECD8"/>
                </a:solidFill>
                <a:latin typeface="Fraunces" pitchFamily="34" charset="0"/>
                <a:ea typeface="Fraunces" pitchFamily="34" charset="-122"/>
                <a:cs typeface="Fraunces" pitchFamily="34" charset="-120"/>
              </a:rPr>
              <a:t>02</a:t>
            </a:r>
            <a:endParaRPr lang="en-US" sz="2000" dirty="0"/>
          </a:p>
        </p:txBody>
      </p:sp>
      <p:sp>
        <p:nvSpPr>
          <p:cNvPr id="34" name="Text 32"/>
          <p:cNvSpPr txBox="1"/>
          <p:nvPr/>
        </p:nvSpPr>
        <p:spPr>
          <a:xfrm>
            <a:off x="1554480" y="2423160"/>
            <a:ext cx="5029200" cy="502920"/>
          </a:xfrm>
          <a:prstGeom prst="rect">
            <a:avLst/>
          </a:prstGeom>
          <a:noFill/>
          <a:ln/>
        </p:spPr>
        <p:txBody>
          <a:bodyPr wrap="square" rtlCol="0" anchor="ctr"/>
          <a:lstStyle/>
          <a:p>
            <a:pPr algn="l" indent="0" marL="0">
              <a:buNone/>
            </a:pPr>
            <a:r>
              <a:rPr lang="en-US" sz="1800" b="1" dirty="0">
                <a:solidFill>
                  <a:srgbClr val="2C1810"/>
                </a:solidFill>
                <a:latin typeface="Fraunces" pitchFamily="34" charset="0"/>
                <a:ea typeface="Fraunces" pitchFamily="34" charset="-122"/>
                <a:cs typeface="Fraunces" pitchFamily="34" charset="-120"/>
              </a:rPr>
              <a:t>THE SOLUTION</a:t>
            </a:r>
            <a:endParaRPr lang="en-US" sz="1800" dirty="0"/>
          </a:p>
        </p:txBody>
      </p:sp>
      <p:sp>
        <p:nvSpPr>
          <p:cNvPr id="35" name="Shape 33"/>
          <p:cNvSpPr/>
          <p:nvPr/>
        </p:nvSpPr>
        <p:spPr>
          <a:xfrm>
            <a:off x="685800" y="2990088"/>
            <a:ext cx="5760720" cy="0"/>
          </a:xfrm>
          <a:prstGeom prst="line">
            <a:avLst/>
          </a:prstGeom>
          <a:noFill/>
          <a:ln w="6350">
            <a:solidFill>
              <a:srgbClr val="C4A882"/>
            </a:solidFill>
            <a:prstDash val="dash"/>
          </a:ln>
        </p:spPr>
      </p:sp>
      <p:sp>
        <p:nvSpPr>
          <p:cNvPr id="36" name="Shape 34"/>
          <p:cNvSpPr/>
          <p:nvPr/>
        </p:nvSpPr>
        <p:spPr>
          <a:xfrm>
            <a:off x="685800" y="3063240"/>
            <a:ext cx="640080" cy="502920"/>
          </a:xfrm>
          <a:prstGeom prst="roundRect">
            <a:avLst>
              <a:gd name="adj" fmla="val 10909"/>
            </a:avLst>
          </a:prstGeom>
          <a:solidFill>
            <a:srgbClr val="8B1E1E"/>
          </a:solidFill>
          <a:ln w="9525">
            <a:solidFill>
              <a:srgbClr val="2C1810"/>
            </a:solidFill>
            <a:prstDash val="solid"/>
          </a:ln>
        </p:spPr>
      </p:sp>
      <p:sp>
        <p:nvSpPr>
          <p:cNvPr id="37" name="Text 35"/>
          <p:cNvSpPr txBox="1"/>
          <p:nvPr/>
        </p:nvSpPr>
        <p:spPr>
          <a:xfrm>
            <a:off x="685800" y="3063240"/>
            <a:ext cx="640080" cy="502920"/>
          </a:xfrm>
          <a:prstGeom prst="rect">
            <a:avLst/>
          </a:prstGeom>
          <a:noFill/>
          <a:ln/>
        </p:spPr>
        <p:txBody>
          <a:bodyPr wrap="square" rtlCol="0" anchor="ctr"/>
          <a:lstStyle/>
          <a:p>
            <a:pPr algn="ctr" indent="0" marL="0">
              <a:buNone/>
            </a:pPr>
            <a:r>
              <a:rPr lang="en-US" sz="2000" b="1" dirty="0">
                <a:solidFill>
                  <a:srgbClr val="F4ECD8"/>
                </a:solidFill>
                <a:latin typeface="Fraunces" pitchFamily="34" charset="0"/>
                <a:ea typeface="Fraunces" pitchFamily="34" charset="-122"/>
                <a:cs typeface="Fraunces" pitchFamily="34" charset="-120"/>
              </a:rPr>
              <a:t>03</a:t>
            </a:r>
            <a:endParaRPr lang="en-US" sz="2000" dirty="0"/>
          </a:p>
        </p:txBody>
      </p:sp>
      <p:sp>
        <p:nvSpPr>
          <p:cNvPr id="38" name="Text 36"/>
          <p:cNvSpPr txBox="1"/>
          <p:nvPr/>
        </p:nvSpPr>
        <p:spPr>
          <a:xfrm>
            <a:off x="1554480" y="3063240"/>
            <a:ext cx="5029200" cy="502920"/>
          </a:xfrm>
          <a:prstGeom prst="rect">
            <a:avLst/>
          </a:prstGeom>
          <a:noFill/>
          <a:ln/>
        </p:spPr>
        <p:txBody>
          <a:bodyPr wrap="square" rtlCol="0" anchor="ctr"/>
          <a:lstStyle/>
          <a:p>
            <a:pPr algn="l" indent="0" marL="0">
              <a:buNone/>
            </a:pPr>
            <a:r>
              <a:rPr lang="en-US" sz="1800" b="1" dirty="0">
                <a:solidFill>
                  <a:srgbClr val="2C1810"/>
                </a:solidFill>
                <a:latin typeface="Fraunces" pitchFamily="34" charset="0"/>
                <a:ea typeface="Fraunces" pitchFamily="34" charset="-122"/>
                <a:cs typeface="Fraunces" pitchFamily="34" charset="-120"/>
              </a:rPr>
              <a:t>AI ARCHITECTURE</a:t>
            </a:r>
            <a:endParaRPr lang="en-US" sz="1800" dirty="0"/>
          </a:p>
        </p:txBody>
      </p:sp>
      <p:sp>
        <p:nvSpPr>
          <p:cNvPr id="39" name="Shape 37"/>
          <p:cNvSpPr/>
          <p:nvPr/>
        </p:nvSpPr>
        <p:spPr>
          <a:xfrm>
            <a:off x="685800" y="3630168"/>
            <a:ext cx="5760720" cy="0"/>
          </a:xfrm>
          <a:prstGeom prst="line">
            <a:avLst/>
          </a:prstGeom>
          <a:noFill/>
          <a:ln w="6350">
            <a:solidFill>
              <a:srgbClr val="C4A882"/>
            </a:solidFill>
            <a:prstDash val="dash"/>
          </a:ln>
        </p:spPr>
      </p:sp>
      <p:sp>
        <p:nvSpPr>
          <p:cNvPr id="40" name="Shape 38"/>
          <p:cNvSpPr/>
          <p:nvPr/>
        </p:nvSpPr>
        <p:spPr>
          <a:xfrm>
            <a:off x="685800" y="3703320"/>
            <a:ext cx="640080" cy="502920"/>
          </a:xfrm>
          <a:prstGeom prst="roundRect">
            <a:avLst>
              <a:gd name="adj" fmla="val 10909"/>
            </a:avLst>
          </a:prstGeom>
          <a:solidFill>
            <a:srgbClr val="2F5D3A"/>
          </a:solidFill>
          <a:ln w="9525">
            <a:solidFill>
              <a:srgbClr val="2C1810"/>
            </a:solidFill>
            <a:prstDash val="solid"/>
          </a:ln>
        </p:spPr>
      </p:sp>
      <p:sp>
        <p:nvSpPr>
          <p:cNvPr id="41" name="Text 39"/>
          <p:cNvSpPr txBox="1"/>
          <p:nvPr/>
        </p:nvSpPr>
        <p:spPr>
          <a:xfrm>
            <a:off x="685800" y="3703320"/>
            <a:ext cx="640080" cy="502920"/>
          </a:xfrm>
          <a:prstGeom prst="rect">
            <a:avLst/>
          </a:prstGeom>
          <a:noFill/>
          <a:ln/>
        </p:spPr>
        <p:txBody>
          <a:bodyPr wrap="square" rtlCol="0" anchor="ctr"/>
          <a:lstStyle/>
          <a:p>
            <a:pPr algn="ctr" indent="0" marL="0">
              <a:buNone/>
            </a:pPr>
            <a:r>
              <a:rPr lang="en-US" sz="2000" b="1" dirty="0">
                <a:solidFill>
                  <a:srgbClr val="F4ECD8"/>
                </a:solidFill>
                <a:latin typeface="Fraunces" pitchFamily="34" charset="0"/>
                <a:ea typeface="Fraunces" pitchFamily="34" charset="-122"/>
                <a:cs typeface="Fraunces" pitchFamily="34" charset="-120"/>
              </a:rPr>
              <a:t>04</a:t>
            </a:r>
            <a:endParaRPr lang="en-US" sz="2000" dirty="0"/>
          </a:p>
        </p:txBody>
      </p:sp>
      <p:sp>
        <p:nvSpPr>
          <p:cNvPr id="42" name="Text 40"/>
          <p:cNvSpPr txBox="1"/>
          <p:nvPr/>
        </p:nvSpPr>
        <p:spPr>
          <a:xfrm>
            <a:off x="1554480" y="3703320"/>
            <a:ext cx="5029200" cy="502920"/>
          </a:xfrm>
          <a:prstGeom prst="rect">
            <a:avLst/>
          </a:prstGeom>
          <a:noFill/>
          <a:ln/>
        </p:spPr>
        <p:txBody>
          <a:bodyPr wrap="square" rtlCol="0" anchor="ctr"/>
          <a:lstStyle/>
          <a:p>
            <a:pPr algn="l" indent="0" marL="0">
              <a:buNone/>
            </a:pPr>
            <a:r>
              <a:rPr lang="en-US" sz="1800" b="1" dirty="0">
                <a:solidFill>
                  <a:srgbClr val="2C1810"/>
                </a:solidFill>
                <a:latin typeface="Fraunces" pitchFamily="34" charset="0"/>
                <a:ea typeface="Fraunces" pitchFamily="34" charset="-122"/>
                <a:cs typeface="Fraunces" pitchFamily="34" charset="-120"/>
              </a:rPr>
              <a:t>THE HERO FLOW</a:t>
            </a:r>
            <a:endParaRPr lang="en-US" sz="1800" dirty="0"/>
          </a:p>
        </p:txBody>
      </p:sp>
      <p:sp>
        <p:nvSpPr>
          <p:cNvPr id="43" name="Shape 41"/>
          <p:cNvSpPr/>
          <p:nvPr/>
        </p:nvSpPr>
        <p:spPr>
          <a:xfrm>
            <a:off x="685800" y="4270248"/>
            <a:ext cx="5760720" cy="0"/>
          </a:xfrm>
          <a:prstGeom prst="line">
            <a:avLst/>
          </a:prstGeom>
          <a:noFill/>
          <a:ln w="6350">
            <a:solidFill>
              <a:srgbClr val="C4A882"/>
            </a:solidFill>
            <a:prstDash val="dash"/>
          </a:ln>
        </p:spPr>
      </p:sp>
      <p:sp>
        <p:nvSpPr>
          <p:cNvPr id="44" name="Shape 42"/>
          <p:cNvSpPr/>
          <p:nvPr/>
        </p:nvSpPr>
        <p:spPr>
          <a:xfrm>
            <a:off x="685800" y="4343400"/>
            <a:ext cx="640080" cy="502920"/>
          </a:xfrm>
          <a:prstGeom prst="roundRect">
            <a:avLst>
              <a:gd name="adj" fmla="val 10909"/>
            </a:avLst>
          </a:prstGeom>
          <a:solidFill>
            <a:srgbClr val="8B1E1E"/>
          </a:solidFill>
          <a:ln w="9525">
            <a:solidFill>
              <a:srgbClr val="2C1810"/>
            </a:solidFill>
            <a:prstDash val="solid"/>
          </a:ln>
        </p:spPr>
      </p:sp>
      <p:sp>
        <p:nvSpPr>
          <p:cNvPr id="45" name="Text 43"/>
          <p:cNvSpPr txBox="1"/>
          <p:nvPr/>
        </p:nvSpPr>
        <p:spPr>
          <a:xfrm>
            <a:off x="685800" y="4343400"/>
            <a:ext cx="640080" cy="502920"/>
          </a:xfrm>
          <a:prstGeom prst="rect">
            <a:avLst/>
          </a:prstGeom>
          <a:noFill/>
          <a:ln/>
        </p:spPr>
        <p:txBody>
          <a:bodyPr wrap="square" rtlCol="0" anchor="ctr"/>
          <a:lstStyle/>
          <a:p>
            <a:pPr algn="ctr" indent="0" marL="0">
              <a:buNone/>
            </a:pPr>
            <a:r>
              <a:rPr lang="en-US" sz="2000" b="1" dirty="0">
                <a:solidFill>
                  <a:srgbClr val="F4ECD8"/>
                </a:solidFill>
                <a:latin typeface="Fraunces" pitchFamily="34" charset="0"/>
                <a:ea typeface="Fraunces" pitchFamily="34" charset="-122"/>
                <a:cs typeface="Fraunces" pitchFamily="34" charset="-120"/>
              </a:rPr>
              <a:t>05</a:t>
            </a:r>
            <a:endParaRPr lang="en-US" sz="2000" dirty="0"/>
          </a:p>
        </p:txBody>
      </p:sp>
      <p:sp>
        <p:nvSpPr>
          <p:cNvPr id="46" name="Text 44"/>
          <p:cNvSpPr txBox="1"/>
          <p:nvPr/>
        </p:nvSpPr>
        <p:spPr>
          <a:xfrm>
            <a:off x="1554480" y="4343400"/>
            <a:ext cx="5029200" cy="502920"/>
          </a:xfrm>
          <a:prstGeom prst="rect">
            <a:avLst/>
          </a:prstGeom>
          <a:noFill/>
          <a:ln/>
        </p:spPr>
        <p:txBody>
          <a:bodyPr wrap="square" rtlCol="0" anchor="ctr"/>
          <a:lstStyle/>
          <a:p>
            <a:pPr algn="l" indent="0" marL="0">
              <a:buNone/>
            </a:pPr>
            <a:r>
              <a:rPr lang="en-US" sz="1800" b="1" dirty="0">
                <a:solidFill>
                  <a:srgbClr val="2C1810"/>
                </a:solidFill>
                <a:latin typeface="Fraunces" pitchFamily="34" charset="0"/>
                <a:ea typeface="Fraunces" pitchFamily="34" charset="-122"/>
                <a:cs typeface="Fraunces" pitchFamily="34" charset="-120"/>
              </a:rPr>
              <a:t>ALGORITHMIC EDGE</a:t>
            </a:r>
            <a:endParaRPr lang="en-US" sz="1800" dirty="0"/>
          </a:p>
        </p:txBody>
      </p:sp>
      <p:sp>
        <p:nvSpPr>
          <p:cNvPr id="47" name="Shape 45"/>
          <p:cNvSpPr/>
          <p:nvPr/>
        </p:nvSpPr>
        <p:spPr>
          <a:xfrm>
            <a:off x="685800" y="4910328"/>
            <a:ext cx="5760720" cy="0"/>
          </a:xfrm>
          <a:prstGeom prst="line">
            <a:avLst/>
          </a:prstGeom>
          <a:noFill/>
          <a:ln w="6350">
            <a:solidFill>
              <a:srgbClr val="C4A882"/>
            </a:solidFill>
            <a:prstDash val="dash"/>
          </a:ln>
        </p:spPr>
      </p:sp>
      <p:sp>
        <p:nvSpPr>
          <p:cNvPr id="48" name="Shape 46"/>
          <p:cNvSpPr/>
          <p:nvPr/>
        </p:nvSpPr>
        <p:spPr>
          <a:xfrm>
            <a:off x="685800" y="4983480"/>
            <a:ext cx="640080" cy="502920"/>
          </a:xfrm>
          <a:prstGeom prst="roundRect">
            <a:avLst>
              <a:gd name="adj" fmla="val 10909"/>
            </a:avLst>
          </a:prstGeom>
          <a:solidFill>
            <a:srgbClr val="2F5D3A"/>
          </a:solidFill>
          <a:ln w="9525">
            <a:solidFill>
              <a:srgbClr val="2C1810"/>
            </a:solidFill>
            <a:prstDash val="solid"/>
          </a:ln>
        </p:spPr>
      </p:sp>
      <p:sp>
        <p:nvSpPr>
          <p:cNvPr id="49" name="Text 47"/>
          <p:cNvSpPr txBox="1"/>
          <p:nvPr/>
        </p:nvSpPr>
        <p:spPr>
          <a:xfrm>
            <a:off x="685800" y="4983480"/>
            <a:ext cx="640080" cy="502920"/>
          </a:xfrm>
          <a:prstGeom prst="rect">
            <a:avLst/>
          </a:prstGeom>
          <a:noFill/>
          <a:ln/>
        </p:spPr>
        <p:txBody>
          <a:bodyPr wrap="square" rtlCol="0" anchor="ctr"/>
          <a:lstStyle/>
          <a:p>
            <a:pPr algn="ctr" indent="0" marL="0">
              <a:buNone/>
            </a:pPr>
            <a:r>
              <a:rPr lang="en-US" sz="2000" b="1" dirty="0">
                <a:solidFill>
                  <a:srgbClr val="F4ECD8"/>
                </a:solidFill>
                <a:latin typeface="Fraunces" pitchFamily="34" charset="0"/>
                <a:ea typeface="Fraunces" pitchFamily="34" charset="-122"/>
                <a:cs typeface="Fraunces" pitchFamily="34" charset="-120"/>
              </a:rPr>
              <a:t>06</a:t>
            </a:r>
            <a:endParaRPr lang="en-US" sz="2000" dirty="0"/>
          </a:p>
        </p:txBody>
      </p:sp>
      <p:sp>
        <p:nvSpPr>
          <p:cNvPr id="50" name="Text 48"/>
          <p:cNvSpPr txBox="1"/>
          <p:nvPr/>
        </p:nvSpPr>
        <p:spPr>
          <a:xfrm>
            <a:off x="1554480" y="4983480"/>
            <a:ext cx="5029200" cy="502920"/>
          </a:xfrm>
          <a:prstGeom prst="rect">
            <a:avLst/>
          </a:prstGeom>
          <a:noFill/>
          <a:ln/>
        </p:spPr>
        <p:txBody>
          <a:bodyPr wrap="square" rtlCol="0" anchor="ctr"/>
          <a:lstStyle/>
          <a:p>
            <a:pPr algn="l" indent="0" marL="0">
              <a:buNone/>
            </a:pPr>
            <a:r>
              <a:rPr lang="en-US" sz="1800" b="1" dirty="0">
                <a:solidFill>
                  <a:srgbClr val="2C1810"/>
                </a:solidFill>
                <a:latin typeface="Fraunces" pitchFamily="34" charset="0"/>
                <a:ea typeface="Fraunces" pitchFamily="34" charset="-122"/>
                <a:cs typeface="Fraunces" pitchFamily="34" charset="-120"/>
              </a:rPr>
              <a:t>WHY WE WIN</a:t>
            </a:r>
            <a:endParaRPr lang="en-US" sz="1800" dirty="0"/>
          </a:p>
        </p:txBody>
      </p:sp>
      <p:sp>
        <p:nvSpPr>
          <p:cNvPr id="51" name="Shape 49"/>
          <p:cNvSpPr/>
          <p:nvPr/>
        </p:nvSpPr>
        <p:spPr>
          <a:xfrm>
            <a:off x="685800" y="5550408"/>
            <a:ext cx="5760720" cy="0"/>
          </a:xfrm>
          <a:prstGeom prst="line">
            <a:avLst/>
          </a:prstGeom>
          <a:noFill/>
          <a:ln w="6350">
            <a:solidFill>
              <a:srgbClr val="C4A882"/>
            </a:solidFill>
            <a:prstDash val="dash"/>
          </a:ln>
        </p:spPr>
      </p:sp>
      <p:sp>
        <p:nvSpPr>
          <p:cNvPr id="52" name="Shape 50"/>
          <p:cNvSpPr/>
          <p:nvPr/>
        </p:nvSpPr>
        <p:spPr>
          <a:xfrm>
            <a:off x="8046720" y="5120640"/>
            <a:ext cx="3474720" cy="0"/>
          </a:xfrm>
          <a:prstGeom prst="line">
            <a:avLst/>
          </a:prstGeom>
          <a:noFill/>
          <a:ln w="25400">
            <a:solidFill>
              <a:srgbClr val="8B1E1E"/>
            </a:solidFill>
            <a:prstDash val="solid"/>
          </a:ln>
        </p:spPr>
      </p:sp>
      <p:sp>
        <p:nvSpPr>
          <p:cNvPr id="53" name="Text 51"/>
          <p:cNvSpPr txBox="1"/>
          <p:nvPr/>
        </p:nvSpPr>
        <p:spPr>
          <a:xfrm>
            <a:off x="8046720" y="1737360"/>
            <a:ext cx="3474720" cy="274320"/>
          </a:xfrm>
          <a:prstGeom prst="rect">
            <a:avLst/>
          </a:prstGeom>
          <a:noFill/>
          <a:ln/>
        </p:spPr>
        <p:txBody>
          <a:bodyPr wrap="square" rtlCol="0" anchor="ctr"/>
          <a:lstStyle/>
          <a:p>
            <a:pPr algn="ctr" indent="0" marL="0">
              <a:buNone/>
            </a:pPr>
            <a:r>
              <a:rPr lang="en-US" sz="1000" b="1" spc="300" kern="0" dirty="0">
                <a:solidFill>
                  <a:srgbClr val="8B1E1E"/>
                </a:solidFill>
                <a:latin typeface="DM Sans" pitchFamily="34" charset="0"/>
                <a:ea typeface="DM Sans" pitchFamily="34" charset="-122"/>
                <a:cs typeface="DM Sans" pitchFamily="34" charset="-120"/>
              </a:rPr>
              <a:t>THE MENU OF MALAYSIA</a:t>
            </a:r>
            <a:endParaRPr lang="en-US" sz="1000" dirty="0"/>
          </a:p>
        </p:txBody>
      </p:sp>
      <p:sp>
        <p:nvSpPr>
          <p:cNvPr id="54" name="Shape 52"/>
          <p:cNvSpPr/>
          <p:nvPr/>
        </p:nvSpPr>
        <p:spPr>
          <a:xfrm>
            <a:off x="8366760" y="2324862"/>
            <a:ext cx="822960" cy="288036"/>
          </a:xfrm>
          <a:prstGeom prst="ellipse">
            <a:avLst/>
          </a:prstGeom>
          <a:solidFill>
            <a:srgbClr val="F4ECD8"/>
          </a:solidFill>
          <a:ln w="12700">
            <a:solidFill>
              <a:srgbClr val="2C1810"/>
            </a:solidFill>
            <a:prstDash val="solid"/>
          </a:ln>
        </p:spPr>
      </p:sp>
      <p:sp>
        <p:nvSpPr>
          <p:cNvPr id="55" name="Shape 53"/>
          <p:cNvSpPr/>
          <p:nvPr/>
        </p:nvSpPr>
        <p:spPr>
          <a:xfrm>
            <a:off x="8469630" y="2378354"/>
            <a:ext cx="617220" cy="185166"/>
          </a:xfrm>
          <a:prstGeom prst="ellipse">
            <a:avLst/>
          </a:prstGeom>
          <a:solidFill>
            <a:srgbClr val="C4553A"/>
          </a:solidFill>
          <a:ln w="6350">
            <a:solidFill>
              <a:srgbClr val="2C1810"/>
            </a:solidFill>
            <a:prstDash val="solid"/>
          </a:ln>
        </p:spPr>
      </p:sp>
      <p:sp>
        <p:nvSpPr>
          <p:cNvPr id="56" name="Shape 54"/>
          <p:cNvSpPr/>
          <p:nvPr/>
        </p:nvSpPr>
        <p:spPr>
          <a:xfrm>
            <a:off x="8551926" y="2386584"/>
            <a:ext cx="123444" cy="82296"/>
          </a:xfrm>
          <a:prstGeom prst="arc">
            <a:avLst>
              <a:gd name="adj1" fmla="val 0"/>
              <a:gd name="adj2" fmla="val 10800000"/>
            </a:avLst>
          </a:prstGeom>
          <a:ln w="9525">
            <a:solidFill>
              <a:srgbClr val="D4A947"/>
            </a:solidFill>
            <a:prstDash val="solid"/>
          </a:ln>
        </p:spPr>
      </p:sp>
      <p:sp>
        <p:nvSpPr>
          <p:cNvPr id="57" name="Shape 55"/>
          <p:cNvSpPr/>
          <p:nvPr/>
        </p:nvSpPr>
        <p:spPr>
          <a:xfrm>
            <a:off x="8695944" y="2386584"/>
            <a:ext cx="123444" cy="82296"/>
          </a:xfrm>
          <a:prstGeom prst="arc">
            <a:avLst>
              <a:gd name="adj1" fmla="val 0"/>
              <a:gd name="adj2" fmla="val 10800000"/>
            </a:avLst>
          </a:prstGeom>
          <a:ln w="9525">
            <a:solidFill>
              <a:srgbClr val="D4A947"/>
            </a:solidFill>
            <a:prstDash val="solid"/>
          </a:ln>
        </p:spPr>
      </p:sp>
      <p:sp>
        <p:nvSpPr>
          <p:cNvPr id="58" name="Shape 56"/>
          <p:cNvSpPr/>
          <p:nvPr/>
        </p:nvSpPr>
        <p:spPr>
          <a:xfrm>
            <a:off x="8839962" y="2386584"/>
            <a:ext cx="123444" cy="82296"/>
          </a:xfrm>
          <a:prstGeom prst="arc">
            <a:avLst>
              <a:gd name="adj1" fmla="val 0"/>
              <a:gd name="adj2" fmla="val 10800000"/>
            </a:avLst>
          </a:prstGeom>
          <a:ln w="9525">
            <a:solidFill>
              <a:srgbClr val="D4A947"/>
            </a:solidFill>
            <a:prstDash val="solid"/>
          </a:ln>
        </p:spPr>
      </p:sp>
      <p:sp>
        <p:nvSpPr>
          <p:cNvPr id="59" name="Shape 57"/>
          <p:cNvSpPr/>
          <p:nvPr/>
        </p:nvSpPr>
        <p:spPr>
          <a:xfrm>
            <a:off x="9811512" y="2057400"/>
            <a:ext cx="493776" cy="822960"/>
          </a:xfrm>
          <a:prstGeom prst="roundRect">
            <a:avLst>
              <a:gd name="adj" fmla="val 9259"/>
            </a:avLst>
          </a:prstGeom>
          <a:solidFill>
            <a:srgbClr val="F4ECD8">
              <a:alpha val="70000"/>
            </a:srgbClr>
          </a:solidFill>
          <a:ln w="12700">
            <a:solidFill>
              <a:srgbClr val="2C1810"/>
            </a:solidFill>
            <a:prstDash val="solid"/>
          </a:ln>
        </p:spPr>
      </p:sp>
      <p:sp>
        <p:nvSpPr>
          <p:cNvPr id="60" name="Shape 58"/>
          <p:cNvSpPr/>
          <p:nvPr/>
        </p:nvSpPr>
        <p:spPr>
          <a:xfrm>
            <a:off x="9832086" y="2592324"/>
            <a:ext cx="452628" cy="267462"/>
          </a:xfrm>
          <a:prstGeom prst="roundRect">
            <a:avLst>
              <a:gd name="adj" fmla="val 13675"/>
            </a:avLst>
          </a:prstGeom>
          <a:solidFill>
            <a:srgbClr val="4A7C59"/>
          </a:solidFill>
          <a:ln/>
        </p:spPr>
      </p:sp>
      <p:sp>
        <p:nvSpPr>
          <p:cNvPr id="61" name="Shape 59"/>
          <p:cNvSpPr/>
          <p:nvPr/>
        </p:nvSpPr>
        <p:spPr>
          <a:xfrm>
            <a:off x="9832086" y="2427732"/>
            <a:ext cx="452628" cy="432054"/>
          </a:xfrm>
          <a:prstGeom prst="roundRect">
            <a:avLst>
              <a:gd name="adj" fmla="val 8466"/>
            </a:avLst>
          </a:prstGeom>
          <a:solidFill>
            <a:srgbClr val="D4A947">
              <a:alpha val="40000"/>
            </a:srgbClr>
          </a:solidFill>
          <a:ln/>
        </p:spPr>
      </p:sp>
      <p:sp>
        <p:nvSpPr>
          <p:cNvPr id="62" name="Shape 60"/>
          <p:cNvSpPr/>
          <p:nvPr/>
        </p:nvSpPr>
        <p:spPr>
          <a:xfrm>
            <a:off x="10120122" y="1975104"/>
            <a:ext cx="82296" cy="740664"/>
          </a:xfrm>
          <a:prstGeom prst="line">
            <a:avLst/>
          </a:prstGeom>
          <a:noFill/>
          <a:ln w="31750">
            <a:solidFill>
              <a:srgbClr val="8B1E1E"/>
            </a:solidFill>
            <a:prstDash val="solid"/>
          </a:ln>
        </p:spPr>
      </p:sp>
      <p:sp>
        <p:nvSpPr>
          <p:cNvPr id="63" name="Shape 61"/>
          <p:cNvSpPr/>
          <p:nvPr/>
        </p:nvSpPr>
        <p:spPr>
          <a:xfrm>
            <a:off x="10881360" y="2286000"/>
            <a:ext cx="731520" cy="365760"/>
          </a:xfrm>
          <a:prstGeom prst="line">
            <a:avLst/>
          </a:prstGeom>
          <a:noFill/>
          <a:ln w="19050">
            <a:solidFill>
              <a:srgbClr val="5B4636"/>
            </a:solidFill>
            <a:prstDash val="solid"/>
          </a:ln>
        </p:spPr>
      </p:sp>
      <p:sp>
        <p:nvSpPr>
          <p:cNvPr id="64" name="Shape 62"/>
          <p:cNvSpPr/>
          <p:nvPr/>
        </p:nvSpPr>
        <p:spPr>
          <a:xfrm>
            <a:off x="11100816" y="2414016"/>
            <a:ext cx="402336" cy="117043"/>
          </a:xfrm>
          <a:prstGeom prst="roundRect">
            <a:avLst>
              <a:gd name="adj" fmla="val 31250"/>
            </a:avLst>
          </a:prstGeom>
          <a:solidFill>
            <a:srgbClr val="C4553A"/>
          </a:solidFill>
          <a:ln w="6350">
            <a:solidFill>
              <a:srgbClr val="2C1810"/>
            </a:solidFill>
            <a:prstDash val="solid"/>
          </a:ln>
        </p:spPr>
      </p:sp>
      <p:sp>
        <p:nvSpPr>
          <p:cNvPr id="65" name="Shape 63"/>
          <p:cNvSpPr/>
          <p:nvPr/>
        </p:nvSpPr>
        <p:spPr>
          <a:xfrm>
            <a:off x="10881360" y="2414016"/>
            <a:ext cx="731520" cy="365760"/>
          </a:xfrm>
          <a:prstGeom prst="line">
            <a:avLst/>
          </a:prstGeom>
          <a:noFill/>
          <a:ln w="19050">
            <a:solidFill>
              <a:srgbClr val="5B4636"/>
            </a:solidFill>
            <a:prstDash val="solid"/>
          </a:ln>
        </p:spPr>
      </p:sp>
      <p:sp>
        <p:nvSpPr>
          <p:cNvPr id="66" name="Shape 64"/>
          <p:cNvSpPr/>
          <p:nvPr/>
        </p:nvSpPr>
        <p:spPr>
          <a:xfrm>
            <a:off x="11100816" y="2542032"/>
            <a:ext cx="402336" cy="117043"/>
          </a:xfrm>
          <a:prstGeom prst="roundRect">
            <a:avLst>
              <a:gd name="adj" fmla="val 31250"/>
            </a:avLst>
          </a:prstGeom>
          <a:solidFill>
            <a:srgbClr val="C4553A"/>
          </a:solidFill>
          <a:ln w="6350">
            <a:solidFill>
              <a:srgbClr val="2C1810"/>
            </a:solidFill>
            <a:prstDash val="solid"/>
          </a:ln>
        </p:spPr>
      </p:sp>
      <p:sp>
        <p:nvSpPr>
          <p:cNvPr id="67" name="Shape 65"/>
          <p:cNvSpPr/>
          <p:nvPr/>
        </p:nvSpPr>
        <p:spPr>
          <a:xfrm>
            <a:off x="10881360" y="2542032"/>
            <a:ext cx="731520" cy="365760"/>
          </a:xfrm>
          <a:prstGeom prst="line">
            <a:avLst/>
          </a:prstGeom>
          <a:noFill/>
          <a:ln w="19050">
            <a:solidFill>
              <a:srgbClr val="5B4636"/>
            </a:solidFill>
            <a:prstDash val="solid"/>
          </a:ln>
        </p:spPr>
      </p:sp>
      <p:sp>
        <p:nvSpPr>
          <p:cNvPr id="68" name="Shape 66"/>
          <p:cNvSpPr/>
          <p:nvPr/>
        </p:nvSpPr>
        <p:spPr>
          <a:xfrm>
            <a:off x="11100816" y="2670048"/>
            <a:ext cx="402336" cy="117043"/>
          </a:xfrm>
          <a:prstGeom prst="roundRect">
            <a:avLst>
              <a:gd name="adj" fmla="val 31250"/>
            </a:avLst>
          </a:prstGeom>
          <a:solidFill>
            <a:srgbClr val="C4553A"/>
          </a:solidFill>
          <a:ln w="6350">
            <a:solidFill>
              <a:srgbClr val="2C1810"/>
            </a:solidFill>
            <a:prstDash val="solid"/>
          </a:ln>
        </p:spPr>
      </p:sp>
      <p:sp>
        <p:nvSpPr>
          <p:cNvPr id="69" name="Shape 67"/>
          <p:cNvSpPr/>
          <p:nvPr/>
        </p:nvSpPr>
        <p:spPr>
          <a:xfrm>
            <a:off x="8366760" y="3319272"/>
            <a:ext cx="822960" cy="493776"/>
          </a:xfrm>
          <a:prstGeom prst="ellipse">
            <a:avLst/>
          </a:prstGeom>
          <a:solidFill>
            <a:srgbClr val="D4A947"/>
          </a:solidFill>
          <a:ln w="12700">
            <a:solidFill>
              <a:srgbClr val="2C1810"/>
            </a:solidFill>
            <a:prstDash val="solid"/>
          </a:ln>
        </p:spPr>
      </p:sp>
      <p:sp>
        <p:nvSpPr>
          <p:cNvPr id="70" name="Shape 68"/>
          <p:cNvSpPr/>
          <p:nvPr/>
        </p:nvSpPr>
        <p:spPr>
          <a:xfrm>
            <a:off x="8490204" y="3393338"/>
            <a:ext cx="576072" cy="349758"/>
          </a:xfrm>
          <a:prstGeom prst="ellipse">
            <a:avLst/>
          </a:prstGeom>
          <a:ln w="9525">
            <a:solidFill>
              <a:srgbClr val="8B1E1E"/>
            </a:solidFill>
            <a:prstDash val="dash"/>
          </a:ln>
        </p:spPr>
      </p:sp>
      <p:sp>
        <p:nvSpPr>
          <p:cNvPr id="71" name="Shape 69"/>
          <p:cNvSpPr/>
          <p:nvPr/>
        </p:nvSpPr>
        <p:spPr>
          <a:xfrm>
            <a:off x="8613648" y="3467405"/>
            <a:ext cx="329184" cy="205740"/>
          </a:xfrm>
          <a:prstGeom prst="ellipse">
            <a:avLst/>
          </a:prstGeom>
          <a:ln w="6350">
            <a:solidFill>
              <a:srgbClr val="8B1E1E"/>
            </a:solidFill>
            <a:prstDash val="dash"/>
          </a:ln>
        </p:spPr>
      </p:sp>
      <p:sp>
        <p:nvSpPr>
          <p:cNvPr id="72" name="Shape 70"/>
          <p:cNvSpPr/>
          <p:nvPr/>
        </p:nvSpPr>
        <p:spPr>
          <a:xfrm>
            <a:off x="9802368" y="3355848"/>
            <a:ext cx="512064" cy="475488"/>
          </a:xfrm>
          <a:prstGeom prst="roundRect">
            <a:avLst>
              <a:gd name="adj" fmla="val 9615"/>
            </a:avLst>
          </a:prstGeom>
          <a:solidFill>
            <a:srgbClr val="F4ECD8"/>
          </a:solidFill>
          <a:ln w="12700">
            <a:solidFill>
              <a:srgbClr val="2C1810"/>
            </a:solidFill>
            <a:prstDash val="solid"/>
          </a:ln>
        </p:spPr>
      </p:sp>
      <p:sp>
        <p:nvSpPr>
          <p:cNvPr id="73" name="Shape 71"/>
          <p:cNvSpPr/>
          <p:nvPr/>
        </p:nvSpPr>
        <p:spPr>
          <a:xfrm>
            <a:off x="9802368" y="3300984"/>
            <a:ext cx="512064" cy="146304"/>
          </a:xfrm>
          <a:prstGeom prst="ellipse">
            <a:avLst/>
          </a:prstGeom>
          <a:solidFill>
            <a:srgbClr val="2C1810"/>
          </a:solidFill>
          <a:ln w="6350">
            <a:solidFill>
              <a:srgbClr val="2C1810"/>
            </a:solidFill>
            <a:prstDash val="solid"/>
          </a:ln>
        </p:spPr>
      </p:sp>
      <p:sp>
        <p:nvSpPr>
          <p:cNvPr id="74" name="Shape 72"/>
          <p:cNvSpPr/>
          <p:nvPr/>
        </p:nvSpPr>
        <p:spPr>
          <a:xfrm>
            <a:off x="10277856" y="3502152"/>
            <a:ext cx="219456" cy="219456"/>
          </a:xfrm>
          <a:prstGeom prst="arc">
            <a:avLst>
              <a:gd name="adj1" fmla="val -5400000"/>
              <a:gd name="adj2" fmla="val 5400000"/>
            </a:avLst>
          </a:prstGeom>
          <a:ln w="15875">
            <a:solidFill>
              <a:srgbClr val="2C1810"/>
            </a:solidFill>
            <a:prstDash val="solid"/>
          </a:ln>
        </p:spPr>
      </p:sp>
      <p:sp>
        <p:nvSpPr>
          <p:cNvPr id="75" name="Shape 73"/>
          <p:cNvSpPr/>
          <p:nvPr/>
        </p:nvSpPr>
        <p:spPr>
          <a:xfrm>
            <a:off x="9948672" y="3099816"/>
            <a:ext cx="146304" cy="146304"/>
          </a:xfrm>
          <a:prstGeom prst="arc">
            <a:avLst>
              <a:gd name="adj1" fmla="val 10800000"/>
              <a:gd name="adj2" fmla="val 21600000"/>
            </a:avLst>
          </a:prstGeom>
          <a:ln w="9525">
            <a:solidFill>
              <a:srgbClr val="BFBFBF"/>
            </a:solidFill>
            <a:prstDash val="solid"/>
          </a:ln>
        </p:spPr>
      </p:sp>
      <p:sp>
        <p:nvSpPr>
          <p:cNvPr id="76" name="Text 74"/>
          <p:cNvSpPr txBox="1"/>
          <p:nvPr/>
        </p:nvSpPr>
        <p:spPr>
          <a:xfrm>
            <a:off x="8229600" y="2880360"/>
            <a:ext cx="1280160" cy="228600"/>
          </a:xfrm>
          <a:prstGeom prst="rect">
            <a:avLst/>
          </a:prstGeom>
          <a:noFill/>
          <a:ln/>
        </p:spPr>
        <p:txBody>
          <a:bodyPr wrap="square" rtlCol="0" anchor="ctr"/>
          <a:lstStyle/>
          <a:p>
            <a:pPr algn="ctr" indent="0" marL="0">
              <a:buNone/>
            </a:pPr>
            <a:r>
              <a:rPr lang="en-US" sz="800" dirty="0">
                <a:solidFill>
                  <a:srgbClr val="5B4636"/>
                </a:solidFill>
                <a:latin typeface="DM Sans" pitchFamily="34" charset="0"/>
                <a:ea typeface="DM Sans" pitchFamily="34" charset="-122"/>
                <a:cs typeface="DM Sans" pitchFamily="34" charset="-120"/>
              </a:rPr>
              <a:t>Char Kuey Teow</a:t>
            </a:r>
            <a:endParaRPr lang="en-US" sz="800" dirty="0"/>
          </a:p>
        </p:txBody>
      </p:sp>
      <p:sp>
        <p:nvSpPr>
          <p:cNvPr id="77" name="Text 75"/>
          <p:cNvSpPr txBox="1"/>
          <p:nvPr/>
        </p:nvSpPr>
        <p:spPr>
          <a:xfrm>
            <a:off x="9509760" y="2880360"/>
            <a:ext cx="1280160" cy="228600"/>
          </a:xfrm>
          <a:prstGeom prst="rect">
            <a:avLst/>
          </a:prstGeom>
          <a:noFill/>
          <a:ln/>
        </p:spPr>
        <p:txBody>
          <a:bodyPr wrap="square" rtlCol="0" anchor="ctr"/>
          <a:lstStyle/>
          <a:p>
            <a:pPr algn="ctr" indent="0" marL="0">
              <a:buNone/>
            </a:pPr>
            <a:r>
              <a:rPr lang="en-US" sz="800" dirty="0">
                <a:solidFill>
                  <a:srgbClr val="5B4636"/>
                </a:solidFill>
                <a:latin typeface="DM Sans" pitchFamily="34" charset="0"/>
                <a:ea typeface="DM Sans" pitchFamily="34" charset="-122"/>
                <a:cs typeface="DM Sans" pitchFamily="34" charset="-120"/>
              </a:rPr>
              <a:t>Cendol</a:t>
            </a:r>
            <a:endParaRPr lang="en-US" sz="800" dirty="0"/>
          </a:p>
        </p:txBody>
      </p:sp>
      <p:sp>
        <p:nvSpPr>
          <p:cNvPr id="78" name="Text 76"/>
          <p:cNvSpPr txBox="1"/>
          <p:nvPr/>
        </p:nvSpPr>
        <p:spPr>
          <a:xfrm>
            <a:off x="10744200" y="2880360"/>
            <a:ext cx="1280160" cy="228600"/>
          </a:xfrm>
          <a:prstGeom prst="rect">
            <a:avLst/>
          </a:prstGeom>
          <a:noFill/>
          <a:ln/>
        </p:spPr>
        <p:txBody>
          <a:bodyPr wrap="square" rtlCol="0" anchor="ctr"/>
          <a:lstStyle/>
          <a:p>
            <a:pPr algn="ctr" indent="0" marL="0">
              <a:buNone/>
            </a:pPr>
            <a:r>
              <a:rPr lang="en-US" sz="800" dirty="0">
                <a:solidFill>
                  <a:srgbClr val="5B4636"/>
                </a:solidFill>
                <a:latin typeface="DM Sans" pitchFamily="34" charset="0"/>
                <a:ea typeface="DM Sans" pitchFamily="34" charset="-122"/>
                <a:cs typeface="DM Sans" pitchFamily="34" charset="-120"/>
              </a:rPr>
              <a:t>Satay</a:t>
            </a:r>
            <a:endParaRPr lang="en-US" sz="800" dirty="0"/>
          </a:p>
        </p:txBody>
      </p:sp>
      <p:sp>
        <p:nvSpPr>
          <p:cNvPr id="79" name="Text 77"/>
          <p:cNvSpPr txBox="1"/>
          <p:nvPr/>
        </p:nvSpPr>
        <p:spPr>
          <a:xfrm>
            <a:off x="8229600" y="3977640"/>
            <a:ext cx="1280160" cy="228600"/>
          </a:xfrm>
          <a:prstGeom prst="rect">
            <a:avLst/>
          </a:prstGeom>
          <a:noFill/>
          <a:ln/>
        </p:spPr>
        <p:txBody>
          <a:bodyPr wrap="square" rtlCol="0" anchor="ctr"/>
          <a:lstStyle/>
          <a:p>
            <a:pPr algn="ctr" indent="0" marL="0">
              <a:buNone/>
            </a:pPr>
            <a:r>
              <a:rPr lang="en-US" sz="800" dirty="0">
                <a:solidFill>
                  <a:srgbClr val="5B4636"/>
                </a:solidFill>
                <a:latin typeface="DM Sans" pitchFamily="34" charset="0"/>
                <a:ea typeface="DM Sans" pitchFamily="34" charset="-122"/>
                <a:cs typeface="DM Sans" pitchFamily="34" charset="-120"/>
              </a:rPr>
              <a:t>Roti Canai</a:t>
            </a:r>
            <a:endParaRPr lang="en-US" sz="800" dirty="0"/>
          </a:p>
        </p:txBody>
      </p:sp>
      <p:sp>
        <p:nvSpPr>
          <p:cNvPr id="80" name="Text 78"/>
          <p:cNvSpPr txBox="1"/>
          <p:nvPr/>
        </p:nvSpPr>
        <p:spPr>
          <a:xfrm>
            <a:off x="9509760" y="3977640"/>
            <a:ext cx="1280160" cy="228600"/>
          </a:xfrm>
          <a:prstGeom prst="rect">
            <a:avLst/>
          </a:prstGeom>
          <a:noFill/>
          <a:ln/>
        </p:spPr>
        <p:txBody>
          <a:bodyPr wrap="square" rtlCol="0" anchor="ctr"/>
          <a:lstStyle/>
          <a:p>
            <a:pPr algn="ctr" indent="0" marL="0">
              <a:buNone/>
            </a:pPr>
            <a:r>
              <a:rPr lang="en-US" sz="800" dirty="0">
                <a:solidFill>
                  <a:srgbClr val="5B4636"/>
                </a:solidFill>
                <a:latin typeface="DM Sans" pitchFamily="34" charset="0"/>
                <a:ea typeface="DM Sans" pitchFamily="34" charset="-122"/>
                <a:cs typeface="DM Sans" pitchFamily="34" charset="-120"/>
              </a:rPr>
              <a:t>Kopi-O</a:t>
            </a:r>
            <a:endParaRPr lang="en-US" sz="800" dirty="0"/>
          </a:p>
        </p:txBody>
      </p:sp>
      <p:sp>
        <p:nvSpPr>
          <p:cNvPr id="81" name="Text 79"/>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82" name="Text 80"/>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685800"/>
            <a:ext cx="7772400"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MALAYSIA'S BEST FOOD IS INVISIBLE.</a:t>
            </a:r>
            <a:endParaRPr lang="en-US" sz="4000" dirty="0"/>
          </a:p>
        </p:txBody>
      </p:sp>
      <p:sp>
        <p:nvSpPr>
          <p:cNvPr id="26" name="Text 24"/>
          <p:cNvSpPr txBox="1"/>
          <p:nvPr/>
        </p:nvSpPr>
        <p:spPr>
          <a:xfrm>
            <a:off x="502920" y="640080"/>
            <a:ext cx="7772400"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MALAYSIA'S BEST FOOD IS INVISIBLE.</a:t>
            </a:r>
            <a:endParaRPr lang="en-US" sz="40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THE HOOK</a:t>
            </a:r>
            <a:endParaRPr lang="en-US" sz="1100" dirty="0"/>
          </a:p>
        </p:txBody>
      </p:sp>
      <p:sp>
        <p:nvSpPr>
          <p:cNvPr id="28" name="Shape 26"/>
          <p:cNvSpPr/>
          <p:nvPr/>
        </p:nvSpPr>
        <p:spPr>
          <a:xfrm>
            <a:off x="502920" y="1828800"/>
            <a:ext cx="5669280" cy="1645920"/>
          </a:xfrm>
          <a:prstGeom prst="roundRect">
            <a:avLst>
              <a:gd name="adj" fmla="val 4444"/>
            </a:avLst>
          </a:prstGeom>
          <a:solidFill>
            <a:srgbClr val="EAE0C2"/>
          </a:solidFill>
          <a:ln w="15875">
            <a:solidFill>
              <a:srgbClr val="C4A882"/>
            </a:solidFill>
            <a:prstDash val="solid"/>
          </a:ln>
        </p:spPr>
      </p:sp>
      <p:sp>
        <p:nvSpPr>
          <p:cNvPr id="29" name="Text 27"/>
          <p:cNvSpPr txBox="1"/>
          <p:nvPr/>
        </p:nvSpPr>
        <p:spPr>
          <a:xfrm>
            <a:off x="777240" y="1965960"/>
            <a:ext cx="5120640" cy="1371600"/>
          </a:xfrm>
          <a:prstGeom prst="rect">
            <a:avLst/>
          </a:prstGeom>
          <a:noFill/>
          <a:ln/>
        </p:spPr>
        <p:txBody>
          <a:bodyPr wrap="square" rtlCol="0" anchor="ctr"/>
          <a:lstStyle/>
          <a:p>
            <a:pPr algn="l" indent="0" marL="0">
              <a:lnSpc>
                <a:spcPct val="120000"/>
              </a:lnSpc>
              <a:buNone/>
            </a:pPr>
            <a:r>
              <a:rPr lang="en-US" sz="1300" dirty="0">
                <a:solidFill>
                  <a:srgbClr val="2C1810"/>
                </a:solidFill>
                <a:latin typeface="DM Sans" pitchFamily="34" charset="0"/>
                <a:ea typeface="DM Sans" pitchFamily="34" charset="-122"/>
                <a:cs typeface="DM Sans" pitchFamily="34" charset="-120"/>
              </a:rPr>
              <a:t>The most authentic food lives at unmarked warungs, kopitiams and mamak stalls with 15 online reviews. When the uncle retires, the recipe disappears. No LLM has trained on these stalls.</a:t>
            </a:r>
            <a:endParaRPr lang="en-US" sz="1300" dirty="0"/>
          </a:p>
        </p:txBody>
      </p:sp>
      <p:sp>
        <p:nvSpPr>
          <p:cNvPr id="30" name="Shape 28"/>
          <p:cNvSpPr/>
          <p:nvPr/>
        </p:nvSpPr>
        <p:spPr>
          <a:xfrm>
            <a:off x="6446520" y="1828800"/>
            <a:ext cx="5212080" cy="1554480"/>
          </a:xfrm>
          <a:prstGeom prst="roundRect">
            <a:avLst>
              <a:gd name="adj" fmla="val 4706"/>
            </a:avLst>
          </a:prstGeom>
          <a:solidFill>
            <a:srgbClr val="F4D6D2"/>
          </a:solidFill>
          <a:ln w="15875">
            <a:solidFill>
              <a:srgbClr val="B83A3A"/>
            </a:solidFill>
            <a:prstDash val="solid"/>
          </a:ln>
        </p:spPr>
      </p:sp>
      <p:sp>
        <p:nvSpPr>
          <p:cNvPr id="31" name="Text 29"/>
          <p:cNvSpPr txBox="1"/>
          <p:nvPr/>
        </p:nvSpPr>
        <p:spPr>
          <a:xfrm>
            <a:off x="6675120" y="1965960"/>
            <a:ext cx="4754880" cy="1325880"/>
          </a:xfrm>
          <a:prstGeom prst="rect">
            <a:avLst/>
          </a:prstGeom>
          <a:noFill/>
          <a:ln/>
        </p:spPr>
        <p:txBody>
          <a:bodyPr wrap="square" rtlCol="0" anchor="ctr"/>
          <a:lstStyle/>
          <a:p>
            <a:pPr algn="l" indent="0" marL="0">
              <a:lnSpc>
                <a:spcPct val="115000"/>
              </a:lnSpc>
              <a:buNone/>
            </a:pPr>
            <a:r>
              <a:rPr lang="en-US" sz="1150" dirty="0">
                <a:solidFill>
                  <a:srgbClr val="2C1810"/>
                </a:solidFill>
                <a:latin typeface="DM Sans" pitchFamily="34" charset="0"/>
                <a:ea typeface="DM Sans" pitchFamily="34" charset="-122"/>
                <a:cs typeface="DM Sans" pitchFamily="34" charset="-120"/>
              </a:rPr>
              <a:t>Tourists can't read handwritten Malay or Manglish. Allergies can't be verified. B40 hawkers lose tourist revenue to westernized mall cafes.</a:t>
            </a:r>
            <a:endParaRPr lang="en-US" sz="1150" dirty="0"/>
          </a:p>
        </p:txBody>
      </p:sp>
      <p:sp>
        <p:nvSpPr>
          <p:cNvPr id="32" name="Shape 30"/>
          <p:cNvSpPr/>
          <p:nvPr/>
        </p:nvSpPr>
        <p:spPr>
          <a:xfrm>
            <a:off x="6446520" y="3520440"/>
            <a:ext cx="5212080" cy="1554480"/>
          </a:xfrm>
          <a:prstGeom prst="roundRect">
            <a:avLst>
              <a:gd name="adj" fmla="val 4706"/>
            </a:avLst>
          </a:prstGeom>
          <a:solidFill>
            <a:srgbClr val="D6E2D4"/>
          </a:solidFill>
          <a:ln w="15875">
            <a:solidFill>
              <a:srgbClr val="2F5D3A"/>
            </a:solidFill>
            <a:prstDash val="solid"/>
          </a:ln>
        </p:spPr>
      </p:sp>
      <p:sp>
        <p:nvSpPr>
          <p:cNvPr id="33" name="Text 31"/>
          <p:cNvSpPr txBox="1"/>
          <p:nvPr/>
        </p:nvSpPr>
        <p:spPr>
          <a:xfrm>
            <a:off x="6675120" y="3657600"/>
            <a:ext cx="4754880" cy="1325880"/>
          </a:xfrm>
          <a:prstGeom prst="rect">
            <a:avLst/>
          </a:prstGeom>
          <a:noFill/>
          <a:ln/>
        </p:spPr>
        <p:txBody>
          <a:bodyPr wrap="square" rtlCol="0" anchor="ctr"/>
          <a:lstStyle/>
          <a:p>
            <a:pPr algn="l" indent="0" marL="0">
              <a:lnSpc>
                <a:spcPct val="115000"/>
              </a:lnSpc>
              <a:buNone/>
            </a:pPr>
            <a:r>
              <a:rPr lang="en-US" sz="1150" dirty="0">
                <a:solidFill>
                  <a:srgbClr val="2C1810"/>
                </a:solidFill>
                <a:latin typeface="DM Sans" pitchFamily="34" charset="0"/>
                <a:ea typeface="DM Sans" pitchFamily="34" charset="-122"/>
                <a:cs typeface="DM Sans" pitchFamily="34" charset="-120"/>
              </a:rPr>
              <a:t>MakanMate is the layer between a tourist's phone and the handwritten board. Vision, RAG, and a safety audit turn any stall into a safe, narrated, discoverable experience.</a:t>
            </a:r>
            <a:endParaRPr lang="en-US" sz="1150" dirty="0"/>
          </a:p>
        </p:txBody>
      </p:sp>
      <p:sp>
        <p:nvSpPr>
          <p:cNvPr id="34" name="Shape 32"/>
          <p:cNvSpPr/>
          <p:nvPr/>
        </p:nvSpPr>
        <p:spPr>
          <a:xfrm>
            <a:off x="822960" y="5257800"/>
            <a:ext cx="2377440" cy="1097280"/>
          </a:xfrm>
          <a:prstGeom prst="roundRect">
            <a:avLst>
              <a:gd name="adj" fmla="val 4167"/>
            </a:avLst>
          </a:prstGeom>
          <a:solidFill>
            <a:srgbClr val="BFBFBF"/>
          </a:solidFill>
          <a:ln w="12700">
            <a:solidFill>
              <a:srgbClr val="6E6E6E"/>
            </a:solidFill>
            <a:prstDash val="solid"/>
          </a:ln>
        </p:spPr>
      </p:sp>
      <p:sp>
        <p:nvSpPr>
          <p:cNvPr id="35" name="Text 33"/>
          <p:cNvSpPr txBox="1"/>
          <p:nvPr/>
        </p:nvSpPr>
        <p:spPr>
          <a:xfrm>
            <a:off x="822960" y="5285232"/>
            <a:ext cx="2377440" cy="274320"/>
          </a:xfrm>
          <a:prstGeom prst="rect">
            <a:avLst/>
          </a:prstGeom>
          <a:noFill/>
          <a:ln/>
        </p:spPr>
        <p:txBody>
          <a:bodyPr wrap="square" rtlCol="0" anchor="ctr"/>
          <a:lstStyle/>
          <a:p>
            <a:pPr algn="ctr" indent="0" marL="0">
              <a:buNone/>
            </a:pPr>
            <a:r>
              <a:rPr lang="en-US" sz="900" b="1" spc="300" kern="0" dirty="0">
                <a:solidFill>
                  <a:srgbClr val="6E6E6E"/>
                </a:solidFill>
                <a:latin typeface="DM Sans" pitchFamily="34" charset="0"/>
                <a:ea typeface="DM Sans" pitchFamily="34" charset="-122"/>
                <a:cs typeface="DM Sans" pitchFamily="34" charset="-120"/>
              </a:rPr>
              <a:t>MALL CAFE</a:t>
            </a:r>
            <a:endParaRPr lang="en-US" sz="900" dirty="0"/>
          </a:p>
        </p:txBody>
      </p:sp>
      <p:sp>
        <p:nvSpPr>
          <p:cNvPr id="36" name="Shape 34"/>
          <p:cNvSpPr/>
          <p:nvPr/>
        </p:nvSpPr>
        <p:spPr>
          <a:xfrm>
            <a:off x="1005840" y="5623560"/>
            <a:ext cx="502920" cy="640080"/>
          </a:xfrm>
          <a:prstGeom prst="rect">
            <a:avLst/>
          </a:prstGeom>
          <a:solidFill>
            <a:srgbClr val="FFFFFF">
              <a:alpha val="30000"/>
            </a:srgbClr>
          </a:solidFill>
          <a:ln w="6350">
            <a:solidFill>
              <a:srgbClr val="6E6E6E"/>
            </a:solidFill>
            <a:prstDash val="solid"/>
          </a:ln>
        </p:spPr>
      </p:sp>
      <p:sp>
        <p:nvSpPr>
          <p:cNvPr id="37" name="Shape 35"/>
          <p:cNvSpPr/>
          <p:nvPr/>
        </p:nvSpPr>
        <p:spPr>
          <a:xfrm>
            <a:off x="1737360" y="5623560"/>
            <a:ext cx="502920" cy="640080"/>
          </a:xfrm>
          <a:prstGeom prst="rect">
            <a:avLst/>
          </a:prstGeom>
          <a:solidFill>
            <a:srgbClr val="FFFFFF">
              <a:alpha val="30000"/>
            </a:srgbClr>
          </a:solidFill>
          <a:ln w="6350">
            <a:solidFill>
              <a:srgbClr val="6E6E6E"/>
            </a:solidFill>
            <a:prstDash val="solid"/>
          </a:ln>
        </p:spPr>
      </p:sp>
      <p:sp>
        <p:nvSpPr>
          <p:cNvPr id="38" name="Shape 36"/>
          <p:cNvSpPr/>
          <p:nvPr/>
        </p:nvSpPr>
        <p:spPr>
          <a:xfrm>
            <a:off x="2468880" y="5623560"/>
            <a:ext cx="502920" cy="640080"/>
          </a:xfrm>
          <a:prstGeom prst="rect">
            <a:avLst/>
          </a:prstGeom>
          <a:solidFill>
            <a:srgbClr val="FFFFFF">
              <a:alpha val="30000"/>
            </a:srgbClr>
          </a:solidFill>
          <a:ln w="6350">
            <a:solidFill>
              <a:srgbClr val="6E6E6E"/>
            </a:solidFill>
            <a:prstDash val="solid"/>
          </a:ln>
        </p:spPr>
      </p:sp>
      <p:sp>
        <p:nvSpPr>
          <p:cNvPr id="39" name="Shape 37"/>
          <p:cNvSpPr/>
          <p:nvPr/>
        </p:nvSpPr>
        <p:spPr>
          <a:xfrm>
            <a:off x="4526280" y="5486400"/>
            <a:ext cx="274320" cy="274320"/>
          </a:xfrm>
          <a:prstGeom prst="ellipse">
            <a:avLst/>
          </a:prstGeom>
          <a:solidFill>
            <a:srgbClr val="2C1810"/>
          </a:solidFill>
          <a:ln/>
        </p:spPr>
      </p:sp>
      <p:sp>
        <p:nvSpPr>
          <p:cNvPr id="40" name="Shape 38"/>
          <p:cNvSpPr/>
          <p:nvPr/>
        </p:nvSpPr>
        <p:spPr>
          <a:xfrm>
            <a:off x="4434840" y="5760720"/>
            <a:ext cx="457200" cy="548640"/>
          </a:xfrm>
          <a:prstGeom prst="roundRect">
            <a:avLst>
              <a:gd name="adj" fmla="val 20000"/>
            </a:avLst>
          </a:prstGeom>
          <a:solidFill>
            <a:srgbClr val="2C1810"/>
          </a:solidFill>
          <a:ln/>
        </p:spPr>
      </p:sp>
      <p:sp>
        <p:nvSpPr>
          <p:cNvPr id="41" name="Text 39"/>
          <p:cNvSpPr txBox="1"/>
          <p:nvPr/>
        </p:nvSpPr>
        <p:spPr>
          <a:xfrm>
            <a:off x="4114800" y="6309360"/>
            <a:ext cx="1097280" cy="182880"/>
          </a:xfrm>
          <a:prstGeom prst="rect">
            <a:avLst/>
          </a:prstGeom>
          <a:noFill/>
          <a:ln/>
        </p:spPr>
        <p:txBody>
          <a:bodyPr wrap="square" rtlCol="0" anchor="ctr"/>
          <a:lstStyle/>
          <a:p>
            <a:pPr algn="ctr" indent="0" marL="0">
              <a:buNone/>
            </a:pPr>
            <a:r>
              <a:rPr lang="en-US" sz="700" dirty="0">
                <a:solidFill>
                  <a:srgbClr val="5B4636"/>
                </a:solidFill>
                <a:latin typeface="DM Sans" pitchFamily="34" charset="0"/>
                <a:ea typeface="DM Sans" pitchFamily="34" charset="-122"/>
                <a:cs typeface="DM Sans" pitchFamily="34" charset="-120"/>
              </a:rPr>
              <a:t>tourist</a:t>
            </a:r>
            <a:endParaRPr lang="en-US" sz="700" dirty="0"/>
          </a:p>
        </p:txBody>
      </p:sp>
      <p:sp>
        <p:nvSpPr>
          <p:cNvPr id="42" name="Text 40"/>
          <p:cNvSpPr txBox="1"/>
          <p:nvPr/>
        </p:nvSpPr>
        <p:spPr>
          <a:xfrm>
            <a:off x="3108960" y="5577840"/>
            <a:ext cx="1463040" cy="365760"/>
          </a:xfrm>
          <a:prstGeom prst="rect">
            <a:avLst/>
          </a:prstGeom>
          <a:noFill/>
          <a:ln/>
        </p:spPr>
        <p:txBody>
          <a:bodyPr wrap="square" rtlCol="0" anchor="ctr"/>
          <a:lstStyle/>
          <a:p>
            <a:pPr algn="ctr" indent="0" marL="0">
              <a:buNone/>
            </a:pPr>
            <a:r>
              <a:rPr lang="en-US" sz="1800" b="1" dirty="0">
                <a:solidFill>
                  <a:srgbClr val="8B1E1E"/>
                </a:solidFill>
                <a:latin typeface="Fraunces" pitchFamily="34" charset="0"/>
                <a:ea typeface="Fraunces" pitchFamily="34" charset="-122"/>
                <a:cs typeface="Fraunces" pitchFamily="34" charset="-120"/>
              </a:rPr>
              <a:t>?   ?</a:t>
            </a:r>
            <a:endParaRPr lang="en-US" sz="1800" dirty="0"/>
          </a:p>
        </p:txBody>
      </p:sp>
      <p:sp>
        <p:nvSpPr>
          <p:cNvPr id="43" name="Shape 41"/>
          <p:cNvSpPr/>
          <p:nvPr/>
        </p:nvSpPr>
        <p:spPr>
          <a:xfrm>
            <a:off x="6784848" y="4882896"/>
            <a:ext cx="2048256" cy="1664208"/>
          </a:xfrm>
          <a:prstGeom prst="ellipse">
            <a:avLst/>
          </a:prstGeom>
          <a:solidFill>
            <a:srgbClr val="D4A947">
              <a:alpha val="25000"/>
            </a:srgbClr>
          </a:solidFill>
          <a:ln/>
        </p:spPr>
      </p:sp>
      <p:sp>
        <p:nvSpPr>
          <p:cNvPr id="44" name="Shape 42"/>
          <p:cNvSpPr/>
          <p:nvPr/>
        </p:nvSpPr>
        <p:spPr>
          <a:xfrm>
            <a:off x="7040880" y="5074920"/>
            <a:ext cx="1536192" cy="448056"/>
          </a:xfrm>
          <a:prstGeom prst="triangle">
            <a:avLst/>
          </a:prstGeom>
          <a:solidFill>
            <a:srgbClr val="2F5D3A"/>
          </a:solidFill>
          <a:ln w="12700">
            <a:solidFill>
              <a:srgbClr val="2C1810"/>
            </a:solidFill>
            <a:prstDash val="solid"/>
          </a:ln>
        </p:spPr>
      </p:sp>
      <p:sp>
        <p:nvSpPr>
          <p:cNvPr id="45" name="Shape 43"/>
          <p:cNvSpPr/>
          <p:nvPr/>
        </p:nvSpPr>
        <p:spPr>
          <a:xfrm>
            <a:off x="7104888" y="5490972"/>
            <a:ext cx="1408176" cy="768096"/>
          </a:xfrm>
          <a:prstGeom prst="rect">
            <a:avLst/>
          </a:prstGeom>
          <a:solidFill>
            <a:srgbClr val="8B1E1E"/>
          </a:solidFill>
          <a:ln w="12700">
            <a:solidFill>
              <a:srgbClr val="2C1810"/>
            </a:solidFill>
            <a:prstDash val="solid"/>
          </a:ln>
        </p:spPr>
      </p:sp>
      <p:sp>
        <p:nvSpPr>
          <p:cNvPr id="46" name="Shape 44"/>
          <p:cNvSpPr/>
          <p:nvPr/>
        </p:nvSpPr>
        <p:spPr>
          <a:xfrm>
            <a:off x="7264908" y="5586984"/>
            <a:ext cx="1088136" cy="268834"/>
          </a:xfrm>
          <a:prstGeom prst="rect">
            <a:avLst/>
          </a:prstGeom>
          <a:solidFill>
            <a:srgbClr val="F4ECD8"/>
          </a:solidFill>
          <a:ln w="9525">
            <a:solidFill>
              <a:srgbClr val="2C1810"/>
            </a:solidFill>
            <a:prstDash val="solid"/>
          </a:ln>
        </p:spPr>
      </p:sp>
      <p:sp>
        <p:nvSpPr>
          <p:cNvPr id="47" name="Shape 45"/>
          <p:cNvSpPr/>
          <p:nvPr/>
        </p:nvSpPr>
        <p:spPr>
          <a:xfrm>
            <a:off x="7309714" y="5650992"/>
            <a:ext cx="960120" cy="0"/>
          </a:xfrm>
          <a:prstGeom prst="line">
            <a:avLst/>
          </a:prstGeom>
          <a:noFill/>
          <a:ln w="9525">
            <a:solidFill>
              <a:srgbClr val="5B4636"/>
            </a:solidFill>
            <a:prstDash val="solid"/>
          </a:ln>
        </p:spPr>
      </p:sp>
      <p:sp>
        <p:nvSpPr>
          <p:cNvPr id="48" name="Shape 46"/>
          <p:cNvSpPr/>
          <p:nvPr/>
        </p:nvSpPr>
        <p:spPr>
          <a:xfrm>
            <a:off x="7309714" y="5715000"/>
            <a:ext cx="960120" cy="0"/>
          </a:xfrm>
          <a:prstGeom prst="line">
            <a:avLst/>
          </a:prstGeom>
          <a:noFill/>
          <a:ln w="9525">
            <a:solidFill>
              <a:srgbClr val="5B4636"/>
            </a:solidFill>
            <a:prstDash val="solid"/>
          </a:ln>
        </p:spPr>
      </p:sp>
      <p:sp>
        <p:nvSpPr>
          <p:cNvPr id="49" name="Shape 47"/>
          <p:cNvSpPr/>
          <p:nvPr/>
        </p:nvSpPr>
        <p:spPr>
          <a:xfrm>
            <a:off x="7309714" y="5779008"/>
            <a:ext cx="960120" cy="0"/>
          </a:xfrm>
          <a:prstGeom prst="line">
            <a:avLst/>
          </a:prstGeom>
          <a:noFill/>
          <a:ln w="9525">
            <a:solidFill>
              <a:srgbClr val="5B4636"/>
            </a:solidFill>
            <a:prstDash val="solid"/>
          </a:ln>
        </p:spPr>
      </p:sp>
      <p:sp>
        <p:nvSpPr>
          <p:cNvPr id="50" name="Shape 48"/>
          <p:cNvSpPr/>
          <p:nvPr/>
        </p:nvSpPr>
        <p:spPr>
          <a:xfrm>
            <a:off x="7488936" y="6035040"/>
            <a:ext cx="448056" cy="192024"/>
          </a:xfrm>
          <a:prstGeom prst="ellipse">
            <a:avLst/>
          </a:prstGeom>
          <a:solidFill>
            <a:srgbClr val="2C1810"/>
          </a:solidFill>
          <a:ln w="9525">
            <a:solidFill>
              <a:srgbClr val="2C1810"/>
            </a:solidFill>
            <a:prstDash val="solid"/>
          </a:ln>
        </p:spPr>
      </p:sp>
      <p:sp>
        <p:nvSpPr>
          <p:cNvPr id="51" name="Shape 49"/>
          <p:cNvSpPr/>
          <p:nvPr/>
        </p:nvSpPr>
        <p:spPr>
          <a:xfrm>
            <a:off x="7648956" y="5138928"/>
            <a:ext cx="224028" cy="224028"/>
          </a:xfrm>
          <a:prstGeom prst="ellipse">
            <a:avLst/>
          </a:prstGeom>
          <a:solidFill>
            <a:srgbClr val="FFFFFF">
              <a:alpha val="40000"/>
            </a:srgbClr>
          </a:solidFill>
          <a:ln/>
        </p:spPr>
      </p:sp>
      <p:sp>
        <p:nvSpPr>
          <p:cNvPr id="52" name="Shape 50"/>
          <p:cNvSpPr/>
          <p:nvPr/>
        </p:nvSpPr>
        <p:spPr>
          <a:xfrm>
            <a:off x="7776972" y="4978908"/>
            <a:ext cx="179222" cy="179222"/>
          </a:xfrm>
          <a:prstGeom prst="ellipse">
            <a:avLst/>
          </a:prstGeom>
          <a:solidFill>
            <a:srgbClr val="FFFFFF">
              <a:alpha val="40000"/>
            </a:srgbClr>
          </a:solidFill>
          <a:ln/>
        </p:spPr>
      </p:sp>
      <p:sp>
        <p:nvSpPr>
          <p:cNvPr id="53" name="Shape 51"/>
          <p:cNvSpPr/>
          <p:nvPr/>
        </p:nvSpPr>
        <p:spPr>
          <a:xfrm>
            <a:off x="7520940" y="5042916"/>
            <a:ext cx="140818" cy="140818"/>
          </a:xfrm>
          <a:prstGeom prst="ellipse">
            <a:avLst/>
          </a:prstGeom>
          <a:solidFill>
            <a:srgbClr val="FFFFFF">
              <a:alpha val="40000"/>
            </a:srgbClr>
          </a:solidFill>
          <a:ln/>
        </p:spPr>
      </p:sp>
      <p:sp>
        <p:nvSpPr>
          <p:cNvPr id="54" name="Shape 52"/>
          <p:cNvSpPr/>
          <p:nvPr/>
        </p:nvSpPr>
        <p:spPr>
          <a:xfrm>
            <a:off x="8321040" y="5574182"/>
            <a:ext cx="115214" cy="140818"/>
          </a:xfrm>
          <a:prstGeom prst="ellipse">
            <a:avLst/>
          </a:prstGeom>
          <a:solidFill>
            <a:srgbClr val="D4A947"/>
          </a:solidFill>
          <a:ln w="6350">
            <a:solidFill>
              <a:srgbClr val="2C1810"/>
            </a:solidFill>
            <a:prstDash val="solid"/>
          </a:ln>
        </p:spPr>
      </p:sp>
      <p:sp>
        <p:nvSpPr>
          <p:cNvPr id="55" name="Shape 53"/>
          <p:cNvSpPr/>
          <p:nvPr/>
        </p:nvSpPr>
        <p:spPr>
          <a:xfrm>
            <a:off x="6858000" y="5440680"/>
            <a:ext cx="1280160" cy="640080"/>
          </a:xfrm>
          <a:prstGeom prst="ellipse">
            <a:avLst/>
          </a:prstGeom>
          <a:solidFill>
            <a:srgbClr val="F4ECD8">
              <a:alpha val="45000"/>
            </a:srgbClr>
          </a:solidFill>
          <a:ln/>
        </p:spPr>
      </p:sp>
      <p:sp>
        <p:nvSpPr>
          <p:cNvPr id="56" name="Shape 54"/>
          <p:cNvSpPr/>
          <p:nvPr/>
        </p:nvSpPr>
        <p:spPr>
          <a:xfrm>
            <a:off x="7680960" y="5715000"/>
            <a:ext cx="1280160" cy="640080"/>
          </a:xfrm>
          <a:prstGeom prst="ellipse">
            <a:avLst/>
          </a:prstGeom>
          <a:solidFill>
            <a:srgbClr val="F4ECD8">
              <a:alpha val="45000"/>
            </a:srgbClr>
          </a:solidFill>
          <a:ln/>
        </p:spPr>
      </p:sp>
      <p:sp>
        <p:nvSpPr>
          <p:cNvPr id="57" name="Shape 55"/>
          <p:cNvSpPr/>
          <p:nvPr/>
        </p:nvSpPr>
        <p:spPr>
          <a:xfrm>
            <a:off x="8503920" y="5440680"/>
            <a:ext cx="1280160" cy="640080"/>
          </a:xfrm>
          <a:prstGeom prst="ellipse">
            <a:avLst/>
          </a:prstGeom>
          <a:solidFill>
            <a:srgbClr val="F4ECD8">
              <a:alpha val="45000"/>
            </a:srgbClr>
          </a:solidFill>
          <a:ln/>
        </p:spPr>
      </p:sp>
      <p:sp>
        <p:nvSpPr>
          <p:cNvPr id="58" name="Text 56"/>
          <p:cNvSpPr txBox="1"/>
          <p:nvPr/>
        </p:nvSpPr>
        <p:spPr>
          <a:xfrm>
            <a:off x="7040880" y="6355080"/>
            <a:ext cx="2286000" cy="228600"/>
          </a:xfrm>
          <a:prstGeom prst="rect">
            <a:avLst/>
          </a:prstGeom>
          <a:noFill/>
          <a:ln/>
        </p:spPr>
        <p:txBody>
          <a:bodyPr wrap="square" rtlCol="0" anchor="ctr"/>
          <a:lstStyle/>
          <a:p>
            <a:pPr algn="ctr" indent="0" marL="0">
              <a:buNone/>
            </a:pPr>
            <a:r>
              <a:rPr lang="en-US" sz="900" b="1" spc="200" kern="0" dirty="0">
                <a:solidFill>
                  <a:srgbClr val="8B1E1E"/>
                </a:solidFill>
                <a:latin typeface="DM Sans" pitchFamily="34" charset="0"/>
                <a:ea typeface="DM Sans" pitchFamily="34" charset="-122"/>
                <a:cs typeface="DM Sans" pitchFamily="34" charset="-120"/>
              </a:rPr>
              <a:t>THE INVISIBLE UNCLE</a:t>
            </a:r>
            <a:endParaRPr lang="en-US" sz="900" dirty="0"/>
          </a:p>
        </p:txBody>
      </p:sp>
      <p:sp>
        <p:nvSpPr>
          <p:cNvPr id="59" name="Text 57"/>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60" name="Text 58"/>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( 01 )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THE PROBLEM</a:t>
            </a:r>
            <a:endParaRPr lang="en-US" sz="40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THE PROBLEM</a:t>
            </a:r>
            <a:endParaRPr lang="en-US" sz="40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THREE FORCES COMPOUND THE INVISIBILITY</a:t>
            </a:r>
            <a:endParaRPr lang="en-US" sz="1100" dirty="0"/>
          </a:p>
        </p:txBody>
      </p:sp>
      <p:sp>
        <p:nvSpPr>
          <p:cNvPr id="28" name="Shape 26"/>
          <p:cNvSpPr/>
          <p:nvPr/>
        </p:nvSpPr>
        <p:spPr>
          <a:xfrm>
            <a:off x="586588" y="1691640"/>
            <a:ext cx="3520440" cy="4023360"/>
          </a:xfrm>
          <a:prstGeom prst="roundRect">
            <a:avLst>
              <a:gd name="adj" fmla="val 2078"/>
            </a:avLst>
          </a:prstGeom>
          <a:solidFill>
            <a:srgbClr val="EFE6CC"/>
          </a:solidFill>
          <a:ln w="19050">
            <a:solidFill>
              <a:srgbClr val="8B1E1E"/>
            </a:solidFill>
            <a:prstDash val="solid"/>
          </a:ln>
        </p:spPr>
      </p:sp>
      <p:sp>
        <p:nvSpPr>
          <p:cNvPr id="29" name="Shape 27"/>
          <p:cNvSpPr/>
          <p:nvPr/>
        </p:nvSpPr>
        <p:spPr>
          <a:xfrm>
            <a:off x="586588" y="1691640"/>
            <a:ext cx="3520440" cy="457200"/>
          </a:xfrm>
          <a:prstGeom prst="rect">
            <a:avLst/>
          </a:prstGeom>
          <a:solidFill>
            <a:srgbClr val="8B1E1E"/>
          </a:solidFill>
          <a:ln w="12700">
            <a:solidFill>
              <a:srgbClr val="8B1E1E"/>
            </a:solidFill>
            <a:prstDash val="solid"/>
          </a:ln>
        </p:spPr>
      </p:sp>
      <p:sp>
        <p:nvSpPr>
          <p:cNvPr id="30" name="Text 28"/>
          <p:cNvSpPr txBox="1"/>
          <p:nvPr/>
        </p:nvSpPr>
        <p:spPr>
          <a:xfrm>
            <a:off x="723748" y="1691640"/>
            <a:ext cx="3246120" cy="457200"/>
          </a:xfrm>
          <a:prstGeom prst="rect">
            <a:avLst/>
          </a:prstGeom>
          <a:noFill/>
          <a:ln/>
        </p:spPr>
        <p:txBody>
          <a:bodyPr wrap="square" rtlCol="0" anchor="ctr"/>
          <a:lstStyle/>
          <a:p>
            <a:pPr algn="ctr" indent="0" marL="0">
              <a:buNone/>
            </a:pPr>
            <a:r>
              <a:rPr lang="en-US" sz="1300" b="1" spc="100" kern="0" dirty="0">
                <a:solidFill>
                  <a:srgbClr val="F4ECD8"/>
                </a:solidFill>
                <a:latin typeface="Fraunces" pitchFamily="34" charset="0"/>
                <a:ea typeface="Fraunces" pitchFamily="34" charset="-122"/>
                <a:cs typeface="Fraunces" pitchFamily="34" charset="-120"/>
              </a:rPr>
              <a:t>LANGUAGE &amp; LEGIBILITY</a:t>
            </a:r>
            <a:endParaRPr lang="en-US" sz="1300" dirty="0"/>
          </a:p>
        </p:txBody>
      </p:sp>
      <p:sp>
        <p:nvSpPr>
          <p:cNvPr id="31" name="Shape 29"/>
          <p:cNvSpPr/>
          <p:nvPr/>
        </p:nvSpPr>
        <p:spPr>
          <a:xfrm>
            <a:off x="1043788" y="2468880"/>
            <a:ext cx="2606040" cy="1188720"/>
          </a:xfrm>
          <a:prstGeom prst="rect">
            <a:avLst/>
          </a:prstGeom>
          <a:solidFill>
            <a:srgbClr val="F4ECD8"/>
          </a:solidFill>
          <a:ln w="12700">
            <a:solidFill>
              <a:srgbClr val="2C1810"/>
            </a:solidFill>
            <a:prstDash val="solid"/>
          </a:ln>
        </p:spPr>
      </p:sp>
      <p:sp>
        <p:nvSpPr>
          <p:cNvPr id="32" name="Shape 30"/>
          <p:cNvSpPr/>
          <p:nvPr/>
        </p:nvSpPr>
        <p:spPr>
          <a:xfrm>
            <a:off x="1226668" y="2651760"/>
            <a:ext cx="2240280" cy="0"/>
          </a:xfrm>
          <a:prstGeom prst="line">
            <a:avLst/>
          </a:prstGeom>
          <a:noFill/>
          <a:ln w="12700">
            <a:solidFill>
              <a:srgbClr val="5B4636"/>
            </a:solidFill>
            <a:prstDash val="dashDot"/>
          </a:ln>
        </p:spPr>
      </p:sp>
      <p:sp>
        <p:nvSpPr>
          <p:cNvPr id="33" name="Shape 31"/>
          <p:cNvSpPr/>
          <p:nvPr/>
        </p:nvSpPr>
        <p:spPr>
          <a:xfrm>
            <a:off x="1226668" y="2852928"/>
            <a:ext cx="2240280" cy="0"/>
          </a:xfrm>
          <a:prstGeom prst="line">
            <a:avLst/>
          </a:prstGeom>
          <a:noFill/>
          <a:ln w="12700">
            <a:solidFill>
              <a:srgbClr val="5B4636"/>
            </a:solidFill>
            <a:prstDash val="dashDot"/>
          </a:ln>
        </p:spPr>
      </p:sp>
      <p:sp>
        <p:nvSpPr>
          <p:cNvPr id="34" name="Shape 32"/>
          <p:cNvSpPr/>
          <p:nvPr/>
        </p:nvSpPr>
        <p:spPr>
          <a:xfrm>
            <a:off x="1226668" y="3054096"/>
            <a:ext cx="2240280" cy="0"/>
          </a:xfrm>
          <a:prstGeom prst="line">
            <a:avLst/>
          </a:prstGeom>
          <a:noFill/>
          <a:ln w="12700">
            <a:solidFill>
              <a:srgbClr val="5B4636"/>
            </a:solidFill>
            <a:prstDash val="dashDot"/>
          </a:ln>
        </p:spPr>
      </p:sp>
      <p:sp>
        <p:nvSpPr>
          <p:cNvPr id="35" name="Shape 33"/>
          <p:cNvSpPr/>
          <p:nvPr/>
        </p:nvSpPr>
        <p:spPr>
          <a:xfrm>
            <a:off x="1226668" y="3255264"/>
            <a:ext cx="2240280" cy="0"/>
          </a:xfrm>
          <a:prstGeom prst="line">
            <a:avLst/>
          </a:prstGeom>
          <a:noFill/>
          <a:ln w="12700">
            <a:solidFill>
              <a:srgbClr val="5B4636"/>
            </a:solidFill>
            <a:prstDash val="dashDot"/>
          </a:ln>
        </p:spPr>
      </p:sp>
      <p:sp>
        <p:nvSpPr>
          <p:cNvPr id="36" name="Shape 34"/>
          <p:cNvSpPr/>
          <p:nvPr/>
        </p:nvSpPr>
        <p:spPr>
          <a:xfrm>
            <a:off x="1226668" y="3456432"/>
            <a:ext cx="2240280" cy="0"/>
          </a:xfrm>
          <a:prstGeom prst="line">
            <a:avLst/>
          </a:prstGeom>
          <a:noFill/>
          <a:ln w="12700">
            <a:solidFill>
              <a:srgbClr val="5B4636"/>
            </a:solidFill>
            <a:prstDash val="dashDot"/>
          </a:ln>
        </p:spPr>
      </p:sp>
      <p:sp>
        <p:nvSpPr>
          <p:cNvPr id="37" name="Shape 35"/>
          <p:cNvSpPr/>
          <p:nvPr/>
        </p:nvSpPr>
        <p:spPr>
          <a:xfrm>
            <a:off x="3103474" y="3111246"/>
            <a:ext cx="448056" cy="448056"/>
          </a:xfrm>
          <a:prstGeom prst="ellipse">
            <a:avLst/>
          </a:prstGeom>
          <a:ln w="25400">
            <a:solidFill>
              <a:srgbClr val="8B1E1E"/>
            </a:solidFill>
            <a:prstDash val="solid"/>
          </a:ln>
        </p:spPr>
      </p:sp>
      <p:sp>
        <p:nvSpPr>
          <p:cNvPr id="38" name="Shape 36"/>
          <p:cNvSpPr/>
          <p:nvPr/>
        </p:nvSpPr>
        <p:spPr>
          <a:xfrm>
            <a:off x="3439516" y="3447288"/>
            <a:ext cx="192024" cy="192024"/>
          </a:xfrm>
          <a:prstGeom prst="line">
            <a:avLst/>
          </a:prstGeom>
          <a:noFill/>
          <a:ln w="31750">
            <a:solidFill>
              <a:srgbClr val="8B1E1E"/>
            </a:solidFill>
            <a:prstDash val="solid"/>
          </a:ln>
        </p:spPr>
      </p:sp>
      <p:sp>
        <p:nvSpPr>
          <p:cNvPr id="39" name="Text 37"/>
          <p:cNvSpPr txBox="1"/>
          <p:nvPr/>
        </p:nvSpPr>
        <p:spPr>
          <a:xfrm>
            <a:off x="815188" y="3886200"/>
            <a:ext cx="3063240" cy="1691640"/>
          </a:xfrm>
          <a:prstGeom prst="rect">
            <a:avLst/>
          </a:prstGeom>
          <a:noFill/>
          <a:ln/>
        </p:spPr>
        <p:txBody>
          <a:bodyPr wrap="square" rtlCol="0" anchor="t"/>
          <a:lstStyle/>
          <a:p>
            <a:pPr algn="l" indent="0" marL="0">
              <a:lnSpc>
                <a:spcPct val="120000"/>
              </a:lnSpc>
              <a:buNone/>
            </a:pPr>
            <a:r>
              <a:rPr lang="en-US" sz="1100" dirty="0">
                <a:solidFill>
                  <a:srgbClr val="2C1810"/>
                </a:solidFill>
                <a:latin typeface="DM Sans" pitchFamily="34" charset="0"/>
                <a:ea typeface="DM Sans" pitchFamily="34" charset="-122"/>
                <a:cs typeface="DM Sans" pitchFamily="34" charset="-120"/>
              </a:rPr>
              <a:t>Handwritten Malay, Manglish, Hokkien shorthand. 'CKT' doesn't decode itself. Standard translators translate words, not cultural context — so tourists still don't know what's inside the dish.</a:t>
            </a:r>
            <a:endParaRPr lang="en-US" sz="1100" dirty="0"/>
          </a:p>
        </p:txBody>
      </p:sp>
      <p:sp>
        <p:nvSpPr>
          <p:cNvPr id="40" name="Shape 38"/>
          <p:cNvSpPr/>
          <p:nvPr/>
        </p:nvSpPr>
        <p:spPr>
          <a:xfrm>
            <a:off x="4335628" y="1691640"/>
            <a:ext cx="3520440" cy="4023360"/>
          </a:xfrm>
          <a:prstGeom prst="roundRect">
            <a:avLst>
              <a:gd name="adj" fmla="val 2078"/>
            </a:avLst>
          </a:prstGeom>
          <a:solidFill>
            <a:srgbClr val="EFE6CC"/>
          </a:solidFill>
          <a:ln w="19050">
            <a:solidFill>
              <a:srgbClr val="B83A3A"/>
            </a:solidFill>
            <a:prstDash val="solid"/>
          </a:ln>
        </p:spPr>
      </p:sp>
      <p:sp>
        <p:nvSpPr>
          <p:cNvPr id="41" name="Shape 39"/>
          <p:cNvSpPr/>
          <p:nvPr/>
        </p:nvSpPr>
        <p:spPr>
          <a:xfrm>
            <a:off x="4335628" y="1691640"/>
            <a:ext cx="3520440" cy="457200"/>
          </a:xfrm>
          <a:prstGeom prst="rect">
            <a:avLst/>
          </a:prstGeom>
          <a:solidFill>
            <a:srgbClr val="B83A3A"/>
          </a:solidFill>
          <a:ln w="12700">
            <a:solidFill>
              <a:srgbClr val="B83A3A"/>
            </a:solidFill>
            <a:prstDash val="solid"/>
          </a:ln>
        </p:spPr>
      </p:sp>
      <p:sp>
        <p:nvSpPr>
          <p:cNvPr id="42" name="Text 40"/>
          <p:cNvSpPr txBox="1"/>
          <p:nvPr/>
        </p:nvSpPr>
        <p:spPr>
          <a:xfrm>
            <a:off x="4472788" y="1691640"/>
            <a:ext cx="3246120" cy="457200"/>
          </a:xfrm>
          <a:prstGeom prst="rect">
            <a:avLst/>
          </a:prstGeom>
          <a:noFill/>
          <a:ln/>
        </p:spPr>
        <p:txBody>
          <a:bodyPr wrap="square" rtlCol="0" anchor="ctr"/>
          <a:lstStyle/>
          <a:p>
            <a:pPr algn="ctr" indent="0" marL="0">
              <a:buNone/>
            </a:pPr>
            <a:r>
              <a:rPr lang="en-US" sz="1300" b="1" spc="100" kern="0" dirty="0">
                <a:solidFill>
                  <a:srgbClr val="F4ECD8"/>
                </a:solidFill>
                <a:latin typeface="Fraunces" pitchFamily="34" charset="0"/>
                <a:ea typeface="Fraunces" pitchFamily="34" charset="-122"/>
                <a:cs typeface="Fraunces" pitchFamily="34" charset="-120"/>
              </a:rPr>
              <a:t>DIETARY ANXIETY</a:t>
            </a:r>
            <a:endParaRPr lang="en-US" sz="1300" dirty="0"/>
          </a:p>
        </p:txBody>
      </p:sp>
      <p:sp>
        <p:nvSpPr>
          <p:cNvPr id="43" name="Shape 41"/>
          <p:cNvSpPr/>
          <p:nvPr/>
        </p:nvSpPr>
        <p:spPr>
          <a:xfrm>
            <a:off x="5684368" y="3284982"/>
            <a:ext cx="822960" cy="288036"/>
          </a:xfrm>
          <a:prstGeom prst="ellipse">
            <a:avLst/>
          </a:prstGeom>
          <a:solidFill>
            <a:srgbClr val="F4ECD8"/>
          </a:solidFill>
          <a:ln w="12700">
            <a:solidFill>
              <a:srgbClr val="2C1810"/>
            </a:solidFill>
            <a:prstDash val="solid"/>
          </a:ln>
        </p:spPr>
      </p:sp>
      <p:sp>
        <p:nvSpPr>
          <p:cNvPr id="44" name="Shape 42"/>
          <p:cNvSpPr/>
          <p:nvPr/>
        </p:nvSpPr>
        <p:spPr>
          <a:xfrm>
            <a:off x="5787238" y="3338474"/>
            <a:ext cx="617220" cy="185166"/>
          </a:xfrm>
          <a:prstGeom prst="ellipse">
            <a:avLst/>
          </a:prstGeom>
          <a:solidFill>
            <a:srgbClr val="C4553A"/>
          </a:solidFill>
          <a:ln w="6350">
            <a:solidFill>
              <a:srgbClr val="2C1810"/>
            </a:solidFill>
            <a:prstDash val="solid"/>
          </a:ln>
        </p:spPr>
      </p:sp>
      <p:sp>
        <p:nvSpPr>
          <p:cNvPr id="45" name="Shape 43"/>
          <p:cNvSpPr/>
          <p:nvPr/>
        </p:nvSpPr>
        <p:spPr>
          <a:xfrm>
            <a:off x="5869534" y="3346704"/>
            <a:ext cx="123444" cy="82296"/>
          </a:xfrm>
          <a:prstGeom prst="arc">
            <a:avLst>
              <a:gd name="adj1" fmla="val 0"/>
              <a:gd name="adj2" fmla="val 10800000"/>
            </a:avLst>
          </a:prstGeom>
          <a:ln w="9525">
            <a:solidFill>
              <a:srgbClr val="D4A947"/>
            </a:solidFill>
            <a:prstDash val="solid"/>
          </a:ln>
        </p:spPr>
      </p:sp>
      <p:sp>
        <p:nvSpPr>
          <p:cNvPr id="46" name="Shape 44"/>
          <p:cNvSpPr/>
          <p:nvPr/>
        </p:nvSpPr>
        <p:spPr>
          <a:xfrm>
            <a:off x="6013552" y="3346704"/>
            <a:ext cx="123444" cy="82296"/>
          </a:xfrm>
          <a:prstGeom prst="arc">
            <a:avLst>
              <a:gd name="adj1" fmla="val 0"/>
              <a:gd name="adj2" fmla="val 10800000"/>
            </a:avLst>
          </a:prstGeom>
          <a:ln w="9525">
            <a:solidFill>
              <a:srgbClr val="D4A947"/>
            </a:solidFill>
            <a:prstDash val="solid"/>
          </a:ln>
        </p:spPr>
      </p:sp>
      <p:sp>
        <p:nvSpPr>
          <p:cNvPr id="47" name="Shape 45"/>
          <p:cNvSpPr/>
          <p:nvPr/>
        </p:nvSpPr>
        <p:spPr>
          <a:xfrm>
            <a:off x="6157570" y="3346704"/>
            <a:ext cx="123444" cy="82296"/>
          </a:xfrm>
          <a:prstGeom prst="arc">
            <a:avLst>
              <a:gd name="adj1" fmla="val 0"/>
              <a:gd name="adj2" fmla="val 10800000"/>
            </a:avLst>
          </a:prstGeom>
          <a:ln w="9525">
            <a:solidFill>
              <a:srgbClr val="D4A947"/>
            </a:solidFill>
            <a:prstDash val="solid"/>
          </a:ln>
        </p:spPr>
      </p:sp>
      <p:sp>
        <p:nvSpPr>
          <p:cNvPr id="48" name="Shape 46"/>
          <p:cNvSpPr/>
          <p:nvPr/>
        </p:nvSpPr>
        <p:spPr>
          <a:xfrm>
            <a:off x="5730088" y="2560320"/>
            <a:ext cx="731520" cy="731520"/>
          </a:xfrm>
          <a:prstGeom prst="ellipse">
            <a:avLst/>
          </a:prstGeom>
          <a:solidFill>
            <a:srgbClr val="D4A947"/>
          </a:solidFill>
          <a:ln w="12700">
            <a:solidFill>
              <a:srgbClr val="2C1810"/>
            </a:solidFill>
            <a:prstDash val="solid"/>
          </a:ln>
        </p:spPr>
      </p:sp>
      <p:sp>
        <p:nvSpPr>
          <p:cNvPr id="49" name="Shape 47"/>
          <p:cNvSpPr/>
          <p:nvPr/>
        </p:nvSpPr>
        <p:spPr>
          <a:xfrm>
            <a:off x="5894680" y="2834640"/>
            <a:ext cx="109728" cy="54864"/>
          </a:xfrm>
          <a:prstGeom prst="line">
            <a:avLst/>
          </a:prstGeom>
          <a:noFill/>
          <a:ln w="25400">
            <a:solidFill>
              <a:srgbClr val="2C1810"/>
            </a:solidFill>
            <a:prstDash val="solid"/>
          </a:ln>
        </p:spPr>
      </p:sp>
      <p:sp>
        <p:nvSpPr>
          <p:cNvPr id="50" name="Shape 48"/>
          <p:cNvSpPr/>
          <p:nvPr/>
        </p:nvSpPr>
        <p:spPr>
          <a:xfrm>
            <a:off x="6187288" y="2834640"/>
            <a:ext cx="109728" cy="54864"/>
          </a:xfrm>
          <a:prstGeom prst="line">
            <a:avLst/>
          </a:prstGeom>
          <a:noFill/>
          <a:ln w="25400">
            <a:solidFill>
              <a:srgbClr val="2C1810"/>
            </a:solidFill>
            <a:prstDash val="solid"/>
          </a:ln>
        </p:spPr>
      </p:sp>
      <p:sp>
        <p:nvSpPr>
          <p:cNvPr id="51" name="Shape 49"/>
          <p:cNvSpPr/>
          <p:nvPr/>
        </p:nvSpPr>
        <p:spPr>
          <a:xfrm>
            <a:off x="5958688" y="2971800"/>
            <a:ext cx="274320" cy="137160"/>
          </a:xfrm>
          <a:prstGeom prst="arc">
            <a:avLst>
              <a:gd name="adj1" fmla="val 10800000"/>
              <a:gd name="adj2" fmla="val 21600000"/>
            </a:avLst>
          </a:prstGeom>
          <a:ln w="19050">
            <a:solidFill>
              <a:srgbClr val="2C1810"/>
            </a:solidFill>
            <a:prstDash val="solid"/>
          </a:ln>
        </p:spPr>
      </p:sp>
      <p:sp>
        <p:nvSpPr>
          <p:cNvPr id="52" name="Shape 50"/>
          <p:cNvSpPr/>
          <p:nvPr/>
        </p:nvSpPr>
        <p:spPr>
          <a:xfrm>
            <a:off x="7051396" y="2569464"/>
            <a:ext cx="329184" cy="164592"/>
          </a:xfrm>
          <a:prstGeom prst="ellipse">
            <a:avLst/>
          </a:prstGeom>
          <a:solidFill>
            <a:srgbClr val="B83A3A"/>
          </a:solidFill>
          <a:ln w="6350">
            <a:solidFill>
              <a:srgbClr val="2C1810"/>
            </a:solidFill>
            <a:prstDash val="solid"/>
          </a:ln>
        </p:spPr>
      </p:sp>
      <p:sp>
        <p:nvSpPr>
          <p:cNvPr id="53" name="Shape 51"/>
          <p:cNvSpPr/>
          <p:nvPr/>
        </p:nvSpPr>
        <p:spPr>
          <a:xfrm>
            <a:off x="7262541" y="2605206"/>
            <a:ext cx="81469" cy="-81469"/>
          </a:xfrm>
          <a:prstGeom prst="line">
            <a:avLst/>
          </a:prstGeom>
          <a:noFill/>
          <a:ln w="12700">
            <a:solidFill>
              <a:srgbClr val="2C1810"/>
            </a:solidFill>
            <a:prstDash val="solid"/>
          </a:ln>
        </p:spPr>
      </p:sp>
      <p:sp>
        <p:nvSpPr>
          <p:cNvPr id="54" name="Shape 52"/>
          <p:cNvSpPr/>
          <p:nvPr/>
        </p:nvSpPr>
        <p:spPr>
          <a:xfrm>
            <a:off x="7262541" y="2698314"/>
            <a:ext cx="81469" cy="81469"/>
          </a:xfrm>
          <a:prstGeom prst="line">
            <a:avLst/>
          </a:prstGeom>
          <a:noFill/>
          <a:ln w="12700">
            <a:solidFill>
              <a:srgbClr val="2C1810"/>
            </a:solidFill>
            <a:prstDash val="solid"/>
          </a:ln>
        </p:spPr>
      </p:sp>
      <p:sp>
        <p:nvSpPr>
          <p:cNvPr id="55" name="Shape 53"/>
          <p:cNvSpPr/>
          <p:nvPr/>
        </p:nvSpPr>
        <p:spPr>
          <a:xfrm>
            <a:off x="7169434" y="2605206"/>
            <a:ext cx="-81469" cy="-81469"/>
          </a:xfrm>
          <a:prstGeom prst="line">
            <a:avLst/>
          </a:prstGeom>
          <a:noFill/>
          <a:ln w="12700">
            <a:solidFill>
              <a:srgbClr val="2C1810"/>
            </a:solidFill>
            <a:prstDash val="solid"/>
          </a:ln>
        </p:spPr>
      </p:sp>
      <p:sp>
        <p:nvSpPr>
          <p:cNvPr id="56" name="Shape 54"/>
          <p:cNvSpPr/>
          <p:nvPr/>
        </p:nvSpPr>
        <p:spPr>
          <a:xfrm>
            <a:off x="7169434" y="2698314"/>
            <a:ext cx="-81469" cy="81469"/>
          </a:xfrm>
          <a:prstGeom prst="line">
            <a:avLst/>
          </a:prstGeom>
          <a:noFill/>
          <a:ln w="12700">
            <a:solidFill>
              <a:srgbClr val="2C1810"/>
            </a:solidFill>
            <a:prstDash val="solid"/>
          </a:ln>
        </p:spPr>
      </p:sp>
      <p:sp>
        <p:nvSpPr>
          <p:cNvPr id="57" name="Shape 55"/>
          <p:cNvSpPr/>
          <p:nvPr/>
        </p:nvSpPr>
        <p:spPr>
          <a:xfrm>
            <a:off x="6941668" y="2880360"/>
            <a:ext cx="640080" cy="201168"/>
          </a:xfrm>
          <a:prstGeom prst="roundRect">
            <a:avLst>
              <a:gd name="adj" fmla="val 22727"/>
            </a:avLst>
          </a:prstGeom>
          <a:solidFill>
            <a:srgbClr val="B83A3A"/>
          </a:solidFill>
          <a:ln w="6350">
            <a:solidFill>
              <a:srgbClr val="2C1810"/>
            </a:solidFill>
            <a:prstDash val="solid"/>
          </a:ln>
        </p:spPr>
      </p:sp>
      <p:sp>
        <p:nvSpPr>
          <p:cNvPr id="58" name="Text 56"/>
          <p:cNvSpPr txBox="1"/>
          <p:nvPr/>
        </p:nvSpPr>
        <p:spPr>
          <a:xfrm>
            <a:off x="6941668" y="2880360"/>
            <a:ext cx="640080" cy="201168"/>
          </a:xfrm>
          <a:prstGeom prst="rect">
            <a:avLst/>
          </a:prstGeom>
          <a:noFill/>
          <a:ln/>
        </p:spPr>
        <p:txBody>
          <a:bodyPr wrap="square" rtlCol="0" anchor="ctr"/>
          <a:lstStyle/>
          <a:p>
            <a:pPr algn="ctr" indent="0" marL="0">
              <a:buNone/>
            </a:pPr>
            <a:r>
              <a:rPr lang="en-US" sz="650" b="1" spc="100" kern="0" dirty="0">
                <a:solidFill>
                  <a:srgbClr val="F4ECD8"/>
                </a:solidFill>
                <a:latin typeface="DM Sans" pitchFamily="34" charset="0"/>
                <a:ea typeface="DM Sans" pitchFamily="34" charset="-122"/>
                <a:cs typeface="DM Sans" pitchFamily="34" charset="-120"/>
              </a:rPr>
              <a:t>SHELLFISH</a:t>
            </a:r>
            <a:endParaRPr lang="en-US" sz="650" dirty="0"/>
          </a:p>
        </p:txBody>
      </p:sp>
      <p:sp>
        <p:nvSpPr>
          <p:cNvPr id="59" name="Text 57"/>
          <p:cNvSpPr txBox="1"/>
          <p:nvPr/>
        </p:nvSpPr>
        <p:spPr>
          <a:xfrm>
            <a:off x="4564228" y="3886200"/>
            <a:ext cx="3063240" cy="1691640"/>
          </a:xfrm>
          <a:prstGeom prst="rect">
            <a:avLst/>
          </a:prstGeom>
          <a:noFill/>
          <a:ln/>
        </p:spPr>
        <p:txBody>
          <a:bodyPr wrap="square" rtlCol="0" anchor="t"/>
          <a:lstStyle/>
          <a:p>
            <a:pPr algn="l" indent="0" marL="0">
              <a:lnSpc>
                <a:spcPct val="120000"/>
              </a:lnSpc>
              <a:buNone/>
            </a:pPr>
            <a:r>
              <a:rPr lang="en-US" sz="1100" dirty="0">
                <a:solidFill>
                  <a:srgbClr val="2C1810"/>
                </a:solidFill>
                <a:latin typeface="DM Sans" pitchFamily="34" charset="0"/>
                <a:ea typeface="DM Sans" pitchFamily="34" charset="-122"/>
                <a:cs typeface="DM Sans" pitchFamily="34" charset="-120"/>
              </a:rPr>
              <a:t>Shrimp paste in sambal. Cockles in Char Kuey Teow. Pork lard in Halal-looking dishes. Severe allergies cannot be verified, so tourists skip local stalls entirely.</a:t>
            </a:r>
            <a:endParaRPr lang="en-US" sz="1100" dirty="0"/>
          </a:p>
        </p:txBody>
      </p:sp>
      <p:sp>
        <p:nvSpPr>
          <p:cNvPr id="60" name="Shape 58"/>
          <p:cNvSpPr/>
          <p:nvPr/>
        </p:nvSpPr>
        <p:spPr>
          <a:xfrm>
            <a:off x="8084668" y="1691640"/>
            <a:ext cx="3520440" cy="4023360"/>
          </a:xfrm>
          <a:prstGeom prst="roundRect">
            <a:avLst>
              <a:gd name="adj" fmla="val 2078"/>
            </a:avLst>
          </a:prstGeom>
          <a:solidFill>
            <a:srgbClr val="EFE6CC"/>
          </a:solidFill>
          <a:ln w="19050">
            <a:solidFill>
              <a:srgbClr val="2F5D3A"/>
            </a:solidFill>
            <a:prstDash val="solid"/>
          </a:ln>
        </p:spPr>
      </p:sp>
      <p:sp>
        <p:nvSpPr>
          <p:cNvPr id="61" name="Shape 59"/>
          <p:cNvSpPr/>
          <p:nvPr/>
        </p:nvSpPr>
        <p:spPr>
          <a:xfrm>
            <a:off x="8084668" y="1691640"/>
            <a:ext cx="3520440" cy="457200"/>
          </a:xfrm>
          <a:prstGeom prst="rect">
            <a:avLst/>
          </a:prstGeom>
          <a:solidFill>
            <a:srgbClr val="2F5D3A"/>
          </a:solidFill>
          <a:ln w="12700">
            <a:solidFill>
              <a:srgbClr val="2F5D3A"/>
            </a:solidFill>
            <a:prstDash val="solid"/>
          </a:ln>
        </p:spPr>
      </p:sp>
      <p:sp>
        <p:nvSpPr>
          <p:cNvPr id="62" name="Text 60"/>
          <p:cNvSpPr txBox="1"/>
          <p:nvPr/>
        </p:nvSpPr>
        <p:spPr>
          <a:xfrm>
            <a:off x="8221828" y="1691640"/>
            <a:ext cx="3246120" cy="457200"/>
          </a:xfrm>
          <a:prstGeom prst="rect">
            <a:avLst/>
          </a:prstGeom>
          <a:noFill/>
          <a:ln/>
        </p:spPr>
        <p:txBody>
          <a:bodyPr wrap="square" rtlCol="0" anchor="ctr"/>
          <a:lstStyle/>
          <a:p>
            <a:pPr algn="ctr" indent="0" marL="0">
              <a:buNone/>
            </a:pPr>
            <a:r>
              <a:rPr lang="en-US" sz="1300" b="1" spc="100" kern="0" dirty="0">
                <a:solidFill>
                  <a:srgbClr val="F4ECD8"/>
                </a:solidFill>
                <a:latin typeface="Fraunces" pitchFamily="34" charset="0"/>
                <a:ea typeface="Fraunces" pitchFamily="34" charset="-122"/>
                <a:cs typeface="Fraunces" pitchFamily="34" charset="-120"/>
              </a:rPr>
              <a:t>ECONOMIC IMPACT</a:t>
            </a:r>
            <a:endParaRPr lang="en-US" sz="1300" dirty="0"/>
          </a:p>
        </p:txBody>
      </p:sp>
      <p:sp>
        <p:nvSpPr>
          <p:cNvPr id="63" name="Shape 61"/>
          <p:cNvSpPr/>
          <p:nvPr/>
        </p:nvSpPr>
        <p:spPr>
          <a:xfrm>
            <a:off x="10050628" y="2468880"/>
            <a:ext cx="1097280" cy="457200"/>
          </a:xfrm>
          <a:prstGeom prst="roundRect">
            <a:avLst>
              <a:gd name="adj" fmla="val 10000"/>
            </a:avLst>
          </a:prstGeom>
          <a:solidFill>
            <a:srgbClr val="D4A947">
              <a:alpha val="65000"/>
            </a:srgbClr>
          </a:solidFill>
          <a:ln w="9525">
            <a:solidFill>
              <a:srgbClr val="D4A947"/>
            </a:solidFill>
            <a:prstDash val="solid"/>
          </a:ln>
        </p:spPr>
      </p:sp>
      <p:sp>
        <p:nvSpPr>
          <p:cNvPr id="64" name="Shape 62"/>
          <p:cNvSpPr/>
          <p:nvPr/>
        </p:nvSpPr>
        <p:spPr>
          <a:xfrm>
            <a:off x="8450428" y="2743200"/>
            <a:ext cx="987552" cy="288036"/>
          </a:xfrm>
          <a:prstGeom prst="triangle">
            <a:avLst/>
          </a:prstGeom>
          <a:solidFill>
            <a:srgbClr val="6E6E6E"/>
          </a:solidFill>
          <a:ln w="12700">
            <a:solidFill>
              <a:srgbClr val="2C1810"/>
            </a:solidFill>
            <a:prstDash val="solid"/>
          </a:ln>
        </p:spPr>
      </p:sp>
      <p:sp>
        <p:nvSpPr>
          <p:cNvPr id="65" name="Shape 63"/>
          <p:cNvSpPr/>
          <p:nvPr/>
        </p:nvSpPr>
        <p:spPr>
          <a:xfrm>
            <a:off x="8491576" y="3010662"/>
            <a:ext cx="905256" cy="493776"/>
          </a:xfrm>
          <a:prstGeom prst="rect">
            <a:avLst/>
          </a:prstGeom>
          <a:solidFill>
            <a:srgbClr val="9E9E9E"/>
          </a:solidFill>
          <a:ln w="12700">
            <a:solidFill>
              <a:srgbClr val="2C1810"/>
            </a:solidFill>
            <a:prstDash val="solid"/>
          </a:ln>
        </p:spPr>
      </p:sp>
      <p:sp>
        <p:nvSpPr>
          <p:cNvPr id="66" name="Shape 64"/>
          <p:cNvSpPr/>
          <p:nvPr/>
        </p:nvSpPr>
        <p:spPr>
          <a:xfrm>
            <a:off x="8594446" y="3072384"/>
            <a:ext cx="699516" cy="172822"/>
          </a:xfrm>
          <a:prstGeom prst="rect">
            <a:avLst/>
          </a:prstGeom>
          <a:solidFill>
            <a:srgbClr val="F4ECD8"/>
          </a:solidFill>
          <a:ln w="9525">
            <a:solidFill>
              <a:srgbClr val="2C1810"/>
            </a:solidFill>
            <a:prstDash val="solid"/>
          </a:ln>
        </p:spPr>
      </p:sp>
      <p:sp>
        <p:nvSpPr>
          <p:cNvPr id="67" name="Shape 65"/>
          <p:cNvSpPr/>
          <p:nvPr/>
        </p:nvSpPr>
        <p:spPr>
          <a:xfrm>
            <a:off x="8623249" y="3113532"/>
            <a:ext cx="617220" cy="0"/>
          </a:xfrm>
          <a:prstGeom prst="line">
            <a:avLst/>
          </a:prstGeom>
          <a:noFill/>
          <a:ln w="9525">
            <a:solidFill>
              <a:srgbClr val="6E6E6E"/>
            </a:solidFill>
            <a:prstDash val="solid"/>
          </a:ln>
        </p:spPr>
      </p:sp>
      <p:sp>
        <p:nvSpPr>
          <p:cNvPr id="68" name="Shape 66"/>
          <p:cNvSpPr/>
          <p:nvPr/>
        </p:nvSpPr>
        <p:spPr>
          <a:xfrm>
            <a:off x="8623249" y="3154680"/>
            <a:ext cx="617220" cy="0"/>
          </a:xfrm>
          <a:prstGeom prst="line">
            <a:avLst/>
          </a:prstGeom>
          <a:noFill/>
          <a:ln w="9525">
            <a:solidFill>
              <a:srgbClr val="6E6E6E"/>
            </a:solidFill>
            <a:prstDash val="solid"/>
          </a:ln>
        </p:spPr>
      </p:sp>
      <p:sp>
        <p:nvSpPr>
          <p:cNvPr id="69" name="Shape 67"/>
          <p:cNvSpPr/>
          <p:nvPr/>
        </p:nvSpPr>
        <p:spPr>
          <a:xfrm>
            <a:off x="8623249" y="3195828"/>
            <a:ext cx="617220" cy="0"/>
          </a:xfrm>
          <a:prstGeom prst="line">
            <a:avLst/>
          </a:prstGeom>
          <a:noFill/>
          <a:ln w="9525">
            <a:solidFill>
              <a:srgbClr val="6E6E6E"/>
            </a:solidFill>
            <a:prstDash val="solid"/>
          </a:ln>
        </p:spPr>
      </p:sp>
      <p:sp>
        <p:nvSpPr>
          <p:cNvPr id="70" name="Shape 68"/>
          <p:cNvSpPr/>
          <p:nvPr/>
        </p:nvSpPr>
        <p:spPr>
          <a:xfrm>
            <a:off x="8738464" y="3360420"/>
            <a:ext cx="288036" cy="123444"/>
          </a:xfrm>
          <a:prstGeom prst="ellipse">
            <a:avLst/>
          </a:prstGeom>
          <a:solidFill>
            <a:srgbClr val="2C1810"/>
          </a:solidFill>
          <a:ln w="9525">
            <a:solidFill>
              <a:srgbClr val="2C1810"/>
            </a:solidFill>
            <a:prstDash val="solid"/>
          </a:ln>
        </p:spPr>
      </p:sp>
      <p:sp>
        <p:nvSpPr>
          <p:cNvPr id="71" name="Shape 69"/>
          <p:cNvSpPr/>
          <p:nvPr/>
        </p:nvSpPr>
        <p:spPr>
          <a:xfrm>
            <a:off x="9273388" y="3064154"/>
            <a:ext cx="74066" cy="90526"/>
          </a:xfrm>
          <a:prstGeom prst="ellipse">
            <a:avLst/>
          </a:prstGeom>
          <a:solidFill>
            <a:srgbClr val="BFBFBF"/>
          </a:solidFill>
          <a:ln w="6350">
            <a:solidFill>
              <a:srgbClr val="2C1810"/>
            </a:solidFill>
            <a:prstDash val="solid"/>
          </a:ln>
        </p:spPr>
      </p:sp>
      <p:sp>
        <p:nvSpPr>
          <p:cNvPr id="72" name="Shape 70"/>
          <p:cNvSpPr/>
          <p:nvPr/>
        </p:nvSpPr>
        <p:spPr>
          <a:xfrm>
            <a:off x="8999068" y="3108960"/>
            <a:ext cx="201168" cy="201168"/>
          </a:xfrm>
          <a:prstGeom prst="ellipse">
            <a:avLst/>
          </a:prstGeom>
          <a:solidFill>
            <a:srgbClr val="C4553A"/>
          </a:solidFill>
          <a:ln w="6350">
            <a:solidFill>
              <a:srgbClr val="2C1810"/>
            </a:solidFill>
            <a:prstDash val="solid"/>
          </a:ln>
        </p:spPr>
      </p:sp>
      <p:sp>
        <p:nvSpPr>
          <p:cNvPr id="73" name="Shape 71"/>
          <p:cNvSpPr/>
          <p:nvPr/>
        </p:nvSpPr>
        <p:spPr>
          <a:xfrm>
            <a:off x="8925916" y="3291840"/>
            <a:ext cx="347472" cy="365760"/>
          </a:xfrm>
          <a:prstGeom prst="roundRect">
            <a:avLst>
              <a:gd name="adj" fmla="val 13158"/>
            </a:avLst>
          </a:prstGeom>
          <a:solidFill>
            <a:srgbClr val="C4553A"/>
          </a:solidFill>
          <a:ln w="6350">
            <a:solidFill>
              <a:srgbClr val="2C1810"/>
            </a:solidFill>
            <a:prstDash val="solid"/>
          </a:ln>
        </p:spPr>
      </p:sp>
      <p:sp>
        <p:nvSpPr>
          <p:cNvPr id="74" name="Shape 72"/>
          <p:cNvSpPr/>
          <p:nvPr/>
        </p:nvSpPr>
        <p:spPr>
          <a:xfrm>
            <a:off x="9410548" y="3337560"/>
            <a:ext cx="228600" cy="320040"/>
          </a:xfrm>
          <a:prstGeom prst="roundRect">
            <a:avLst>
              <a:gd name="adj" fmla="val 12000"/>
            </a:avLst>
          </a:prstGeom>
          <a:solidFill>
            <a:srgbClr val="2C1810"/>
          </a:solidFill>
          <a:ln/>
        </p:spPr>
      </p:sp>
      <p:sp>
        <p:nvSpPr>
          <p:cNvPr id="75" name="Text 73"/>
          <p:cNvSpPr txBox="1"/>
          <p:nvPr/>
        </p:nvSpPr>
        <p:spPr>
          <a:xfrm>
            <a:off x="9410548" y="3337560"/>
            <a:ext cx="228600" cy="320040"/>
          </a:xfrm>
          <a:prstGeom prst="rect">
            <a:avLst/>
          </a:prstGeom>
          <a:noFill/>
          <a:ln/>
        </p:spPr>
        <p:txBody>
          <a:bodyPr wrap="square" rtlCol="0" anchor="ctr"/>
          <a:lstStyle/>
          <a:p>
            <a:pPr algn="ctr" indent="0" marL="0">
              <a:buNone/>
            </a:pPr>
            <a:r>
              <a:rPr lang="en-US" sz="1000" b="1" dirty="0">
                <a:solidFill>
                  <a:srgbClr val="BFBFBF"/>
                </a:solidFill>
                <a:latin typeface="Fraunces" pitchFamily="34" charset="0"/>
                <a:ea typeface="Fraunces" pitchFamily="34" charset="-122"/>
                <a:cs typeface="Fraunces" pitchFamily="34" charset="-120"/>
              </a:rPr>
              <a:t>0</a:t>
            </a:r>
            <a:endParaRPr lang="en-US" sz="1000" dirty="0"/>
          </a:p>
        </p:txBody>
      </p:sp>
      <p:sp>
        <p:nvSpPr>
          <p:cNvPr id="76" name="Text 74"/>
          <p:cNvSpPr txBox="1"/>
          <p:nvPr/>
        </p:nvSpPr>
        <p:spPr>
          <a:xfrm>
            <a:off x="8313268" y="3886200"/>
            <a:ext cx="3063240" cy="1691640"/>
          </a:xfrm>
          <a:prstGeom prst="rect">
            <a:avLst/>
          </a:prstGeom>
          <a:noFill/>
          <a:ln/>
        </p:spPr>
        <p:txBody>
          <a:bodyPr wrap="square" rtlCol="0" anchor="t"/>
          <a:lstStyle/>
          <a:p>
            <a:pPr algn="l" indent="0" marL="0">
              <a:lnSpc>
                <a:spcPct val="120000"/>
              </a:lnSpc>
              <a:buNone/>
            </a:pPr>
            <a:r>
              <a:rPr lang="en-US" sz="1100" dirty="0">
                <a:solidFill>
                  <a:srgbClr val="2C1810"/>
                </a:solidFill>
                <a:latin typeface="DM Sans" pitchFamily="34" charset="0"/>
                <a:ea typeface="DM Sans" pitchFamily="34" charset="-122"/>
                <a:cs typeface="DM Sans" pitchFamily="34" charset="-120"/>
              </a:rPr>
              <a:t>Tourists default to expensive westernized cafes. Grassroots B40 hawkers miss out on high-yield tourist revenue. Intangible heritage fades with every retiring generation.</a:t>
            </a:r>
            <a:endParaRPr lang="en-US" sz="1100" dirty="0"/>
          </a:p>
        </p:txBody>
      </p:sp>
      <p:sp>
        <p:nvSpPr>
          <p:cNvPr id="77" name="Text 75"/>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78" name="Text 76"/>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( 02 )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THE SOLUTION</a:t>
            </a:r>
            <a:endParaRPr lang="en-US" sz="40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THE SOLUTION</a:t>
            </a:r>
            <a:endParaRPr lang="en-US" sz="40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A 4-LAYER AGENTIC PIPELINE · ZERO VENDOR FRICTION</a:t>
            </a:r>
            <a:endParaRPr lang="en-US" sz="1100" dirty="0"/>
          </a:p>
        </p:txBody>
      </p:sp>
      <p:sp>
        <p:nvSpPr>
          <p:cNvPr id="28" name="Text 26"/>
          <p:cNvSpPr txBox="1"/>
          <p:nvPr/>
        </p:nvSpPr>
        <p:spPr>
          <a:xfrm>
            <a:off x="502920" y="1600200"/>
            <a:ext cx="4572000" cy="274320"/>
          </a:xfrm>
          <a:prstGeom prst="rect">
            <a:avLst/>
          </a:prstGeom>
          <a:noFill/>
          <a:ln/>
        </p:spPr>
        <p:txBody>
          <a:bodyPr wrap="square" rtlCol="0" anchor="ctr"/>
          <a:lstStyle/>
          <a:p>
            <a:pPr indent="0" marL="0">
              <a:buNone/>
            </a:pPr>
            <a:r>
              <a:rPr lang="en-US" sz="1400" b="1" spc="200" kern="0" dirty="0">
                <a:solidFill>
                  <a:srgbClr val="8B1E1E"/>
                </a:solidFill>
                <a:latin typeface="Fraunces" pitchFamily="34" charset="0"/>
                <a:ea typeface="Fraunces" pitchFamily="34" charset="-122"/>
                <a:cs typeface="Fraunces" pitchFamily="34" charset="-120"/>
              </a:rPr>
              <a:t>AGENTIC PIPELINE</a:t>
            </a:r>
            <a:endParaRPr lang="en-US" sz="1400" dirty="0"/>
          </a:p>
        </p:txBody>
      </p:sp>
      <p:sp>
        <p:nvSpPr>
          <p:cNvPr id="29" name="Shape 27"/>
          <p:cNvSpPr/>
          <p:nvPr/>
        </p:nvSpPr>
        <p:spPr>
          <a:xfrm>
            <a:off x="685800" y="2011680"/>
            <a:ext cx="4023360" cy="640080"/>
          </a:xfrm>
          <a:prstGeom prst="roundRect">
            <a:avLst>
              <a:gd name="adj" fmla="val 11429"/>
            </a:avLst>
          </a:prstGeom>
          <a:solidFill>
            <a:srgbClr val="F4ECD8"/>
          </a:solidFill>
          <a:ln w="19050">
            <a:solidFill>
              <a:srgbClr val="8B1E1E"/>
            </a:solidFill>
            <a:prstDash val="solid"/>
          </a:ln>
        </p:spPr>
      </p:sp>
      <p:sp>
        <p:nvSpPr>
          <p:cNvPr id="30" name="Shape 28"/>
          <p:cNvSpPr/>
          <p:nvPr/>
        </p:nvSpPr>
        <p:spPr>
          <a:xfrm>
            <a:off x="685800" y="2011680"/>
            <a:ext cx="640080" cy="640080"/>
          </a:xfrm>
          <a:prstGeom prst="rect">
            <a:avLst/>
          </a:prstGeom>
          <a:solidFill>
            <a:srgbClr val="8B1E1E"/>
          </a:solidFill>
          <a:ln w="12700">
            <a:solidFill>
              <a:srgbClr val="8B1E1E"/>
            </a:solidFill>
            <a:prstDash val="solid"/>
          </a:ln>
        </p:spPr>
      </p:sp>
      <p:sp>
        <p:nvSpPr>
          <p:cNvPr id="31" name="Shape 29"/>
          <p:cNvSpPr/>
          <p:nvPr/>
        </p:nvSpPr>
        <p:spPr>
          <a:xfrm>
            <a:off x="841248" y="2241194"/>
            <a:ext cx="329184" cy="181051"/>
          </a:xfrm>
          <a:prstGeom prst="ellipse">
            <a:avLst/>
          </a:prstGeom>
          <a:solidFill>
            <a:srgbClr val="F4ECD8"/>
          </a:solidFill>
          <a:ln w="19050">
            <a:solidFill>
              <a:srgbClr val="8B1E1E"/>
            </a:solidFill>
            <a:prstDash val="solid"/>
          </a:ln>
        </p:spPr>
      </p:sp>
      <p:sp>
        <p:nvSpPr>
          <p:cNvPr id="32" name="Shape 30"/>
          <p:cNvSpPr/>
          <p:nvPr/>
        </p:nvSpPr>
        <p:spPr>
          <a:xfrm>
            <a:off x="953171" y="2279051"/>
            <a:ext cx="105339" cy="105339"/>
          </a:xfrm>
          <a:prstGeom prst="ellipse">
            <a:avLst/>
          </a:prstGeom>
          <a:solidFill>
            <a:srgbClr val="8B1E1E"/>
          </a:solidFill>
          <a:ln w="9525">
            <a:solidFill>
              <a:srgbClr val="2C1810"/>
            </a:solidFill>
            <a:prstDash val="solid"/>
          </a:ln>
        </p:spPr>
      </p:sp>
      <p:sp>
        <p:nvSpPr>
          <p:cNvPr id="33" name="Text 31"/>
          <p:cNvSpPr txBox="1"/>
          <p:nvPr/>
        </p:nvSpPr>
        <p:spPr>
          <a:xfrm>
            <a:off x="1463040" y="2011680"/>
            <a:ext cx="3108960" cy="640080"/>
          </a:xfrm>
          <a:prstGeom prst="rect">
            <a:avLst/>
          </a:prstGeom>
          <a:noFill/>
          <a:ln/>
        </p:spPr>
        <p:txBody>
          <a:bodyPr wrap="square" rtlCol="0" anchor="ctr"/>
          <a:lstStyle/>
          <a:p>
            <a:pPr algn="l" indent="0" marL="0">
              <a:buNone/>
            </a:pPr>
            <a:r>
              <a:rPr lang="en-US" sz="1400" b="1" spc="100" kern="0" dirty="0">
                <a:solidFill>
                  <a:srgbClr val="2C1810"/>
                </a:solidFill>
                <a:latin typeface="Fraunces" pitchFamily="34" charset="0"/>
                <a:ea typeface="Fraunces" pitchFamily="34" charset="-122"/>
                <a:cs typeface="Fraunces" pitchFamily="34" charset="-120"/>
              </a:rPr>
              <a:t>VISION AGENT</a:t>
            </a:r>
            <a:endParaRPr lang="en-US" sz="1400" dirty="0"/>
          </a:p>
        </p:txBody>
      </p:sp>
      <p:sp>
        <p:nvSpPr>
          <p:cNvPr id="34" name="Shape 32"/>
          <p:cNvSpPr/>
          <p:nvPr/>
        </p:nvSpPr>
        <p:spPr>
          <a:xfrm>
            <a:off x="2697480" y="2651760"/>
            <a:ext cx="0" cy="320040"/>
          </a:xfrm>
          <a:prstGeom prst="line">
            <a:avLst/>
          </a:prstGeom>
          <a:noFill/>
          <a:ln w="25400">
            <a:solidFill>
              <a:srgbClr val="D4A947"/>
            </a:solidFill>
            <a:prstDash val="solid"/>
            <a:headEnd type="none"/>
            <a:tailEnd type="triangle"/>
          </a:ln>
        </p:spPr>
      </p:sp>
      <p:sp>
        <p:nvSpPr>
          <p:cNvPr id="35" name="Shape 33"/>
          <p:cNvSpPr/>
          <p:nvPr/>
        </p:nvSpPr>
        <p:spPr>
          <a:xfrm>
            <a:off x="685800" y="2971800"/>
            <a:ext cx="4023360" cy="640080"/>
          </a:xfrm>
          <a:prstGeom prst="roundRect">
            <a:avLst>
              <a:gd name="adj" fmla="val 11429"/>
            </a:avLst>
          </a:prstGeom>
          <a:solidFill>
            <a:srgbClr val="F4ECD8"/>
          </a:solidFill>
          <a:ln w="19050">
            <a:solidFill>
              <a:srgbClr val="2F5D3A"/>
            </a:solidFill>
            <a:prstDash val="solid"/>
          </a:ln>
        </p:spPr>
      </p:sp>
      <p:sp>
        <p:nvSpPr>
          <p:cNvPr id="36" name="Shape 34"/>
          <p:cNvSpPr/>
          <p:nvPr/>
        </p:nvSpPr>
        <p:spPr>
          <a:xfrm>
            <a:off x="685800" y="2971800"/>
            <a:ext cx="640080" cy="640080"/>
          </a:xfrm>
          <a:prstGeom prst="rect">
            <a:avLst/>
          </a:prstGeom>
          <a:solidFill>
            <a:srgbClr val="2F5D3A"/>
          </a:solidFill>
          <a:ln w="12700">
            <a:solidFill>
              <a:srgbClr val="2F5D3A"/>
            </a:solidFill>
            <a:prstDash val="solid"/>
          </a:ln>
        </p:spPr>
      </p:sp>
      <p:sp>
        <p:nvSpPr>
          <p:cNvPr id="37" name="Shape 35"/>
          <p:cNvSpPr/>
          <p:nvPr/>
        </p:nvSpPr>
        <p:spPr>
          <a:xfrm>
            <a:off x="914400" y="3145536"/>
            <a:ext cx="182880" cy="182880"/>
          </a:xfrm>
          <a:prstGeom prst="ellipse">
            <a:avLst/>
          </a:prstGeom>
          <a:solidFill>
            <a:srgbClr val="2F5D3A"/>
          </a:solidFill>
          <a:ln w="9525">
            <a:solidFill>
              <a:srgbClr val="2C1810"/>
            </a:solidFill>
            <a:prstDash val="solid"/>
          </a:ln>
        </p:spPr>
      </p:sp>
      <p:sp>
        <p:nvSpPr>
          <p:cNvPr id="38" name="Shape 36"/>
          <p:cNvSpPr/>
          <p:nvPr/>
        </p:nvSpPr>
        <p:spPr>
          <a:xfrm>
            <a:off x="832104" y="3282696"/>
            <a:ext cx="347472" cy="201168"/>
          </a:xfrm>
          <a:prstGeom prst="roundRect">
            <a:avLst>
              <a:gd name="adj" fmla="val 45455"/>
            </a:avLst>
          </a:prstGeom>
          <a:solidFill>
            <a:srgbClr val="2F5D3A"/>
          </a:solidFill>
          <a:ln w="9525">
            <a:solidFill>
              <a:srgbClr val="2C1810"/>
            </a:solidFill>
            <a:prstDash val="solid"/>
          </a:ln>
        </p:spPr>
      </p:sp>
      <p:sp>
        <p:nvSpPr>
          <p:cNvPr id="39" name="Text 37"/>
          <p:cNvSpPr txBox="1"/>
          <p:nvPr/>
        </p:nvSpPr>
        <p:spPr>
          <a:xfrm>
            <a:off x="1463040" y="2971800"/>
            <a:ext cx="3108960" cy="640080"/>
          </a:xfrm>
          <a:prstGeom prst="rect">
            <a:avLst/>
          </a:prstGeom>
          <a:noFill/>
          <a:ln/>
        </p:spPr>
        <p:txBody>
          <a:bodyPr wrap="square" rtlCol="0" anchor="ctr"/>
          <a:lstStyle/>
          <a:p>
            <a:pPr algn="l" indent="0" marL="0">
              <a:buNone/>
            </a:pPr>
            <a:r>
              <a:rPr lang="en-US" sz="1400" b="1" spc="100" kern="0" dirty="0">
                <a:solidFill>
                  <a:srgbClr val="2C1810"/>
                </a:solidFill>
                <a:latin typeface="Fraunces" pitchFamily="34" charset="0"/>
                <a:ea typeface="Fraunces" pitchFamily="34" charset="-122"/>
                <a:cs typeface="Fraunces" pitchFamily="34" charset="-120"/>
              </a:rPr>
              <a:t>PERSONALIZATION</a:t>
            </a:r>
            <a:endParaRPr lang="en-US" sz="1400" dirty="0"/>
          </a:p>
        </p:txBody>
      </p:sp>
      <p:sp>
        <p:nvSpPr>
          <p:cNvPr id="40" name="Shape 38"/>
          <p:cNvSpPr/>
          <p:nvPr/>
        </p:nvSpPr>
        <p:spPr>
          <a:xfrm>
            <a:off x="2697480" y="3611880"/>
            <a:ext cx="0" cy="320040"/>
          </a:xfrm>
          <a:prstGeom prst="line">
            <a:avLst/>
          </a:prstGeom>
          <a:noFill/>
          <a:ln w="25400">
            <a:solidFill>
              <a:srgbClr val="D4A947"/>
            </a:solidFill>
            <a:prstDash val="solid"/>
            <a:headEnd type="none"/>
            <a:tailEnd type="triangle"/>
          </a:ln>
        </p:spPr>
      </p:sp>
      <p:sp>
        <p:nvSpPr>
          <p:cNvPr id="41" name="Shape 39"/>
          <p:cNvSpPr/>
          <p:nvPr/>
        </p:nvSpPr>
        <p:spPr>
          <a:xfrm>
            <a:off x="685800" y="3931920"/>
            <a:ext cx="4023360" cy="640080"/>
          </a:xfrm>
          <a:prstGeom prst="roundRect">
            <a:avLst>
              <a:gd name="adj" fmla="val 11429"/>
            </a:avLst>
          </a:prstGeom>
          <a:solidFill>
            <a:srgbClr val="F4ECD8"/>
          </a:solidFill>
          <a:ln w="19050">
            <a:solidFill>
              <a:srgbClr val="B8902F"/>
            </a:solidFill>
            <a:prstDash val="solid"/>
          </a:ln>
        </p:spPr>
      </p:sp>
      <p:sp>
        <p:nvSpPr>
          <p:cNvPr id="42" name="Shape 40"/>
          <p:cNvSpPr/>
          <p:nvPr/>
        </p:nvSpPr>
        <p:spPr>
          <a:xfrm>
            <a:off x="685800" y="3931920"/>
            <a:ext cx="640080" cy="640080"/>
          </a:xfrm>
          <a:prstGeom prst="rect">
            <a:avLst/>
          </a:prstGeom>
          <a:solidFill>
            <a:srgbClr val="B8902F"/>
          </a:solidFill>
          <a:ln w="12700">
            <a:solidFill>
              <a:srgbClr val="B8902F"/>
            </a:solidFill>
            <a:prstDash val="solid"/>
          </a:ln>
        </p:spPr>
      </p:sp>
      <p:sp>
        <p:nvSpPr>
          <p:cNvPr id="43" name="Shape 41"/>
          <p:cNvSpPr/>
          <p:nvPr/>
        </p:nvSpPr>
        <p:spPr>
          <a:xfrm>
            <a:off x="804672" y="4111142"/>
            <a:ext cx="201168" cy="281635"/>
          </a:xfrm>
          <a:prstGeom prst="rect">
            <a:avLst/>
          </a:prstGeom>
          <a:solidFill>
            <a:srgbClr val="B8902F"/>
          </a:solidFill>
          <a:ln w="9525">
            <a:solidFill>
              <a:srgbClr val="2C1810"/>
            </a:solidFill>
            <a:prstDash val="solid"/>
          </a:ln>
        </p:spPr>
      </p:sp>
      <p:sp>
        <p:nvSpPr>
          <p:cNvPr id="44" name="Shape 42"/>
          <p:cNvSpPr/>
          <p:nvPr/>
        </p:nvSpPr>
        <p:spPr>
          <a:xfrm>
            <a:off x="1005840" y="4111142"/>
            <a:ext cx="201168" cy="281635"/>
          </a:xfrm>
          <a:prstGeom prst="rect">
            <a:avLst/>
          </a:prstGeom>
          <a:solidFill>
            <a:srgbClr val="D4A947"/>
          </a:solidFill>
          <a:ln w="9525">
            <a:solidFill>
              <a:srgbClr val="2C1810"/>
            </a:solidFill>
            <a:prstDash val="solid"/>
          </a:ln>
        </p:spPr>
      </p:sp>
      <p:sp>
        <p:nvSpPr>
          <p:cNvPr id="45" name="Shape 43"/>
          <p:cNvSpPr/>
          <p:nvPr/>
        </p:nvSpPr>
        <p:spPr>
          <a:xfrm>
            <a:off x="1005840" y="4111142"/>
            <a:ext cx="0" cy="281635"/>
          </a:xfrm>
          <a:prstGeom prst="line">
            <a:avLst/>
          </a:prstGeom>
          <a:noFill/>
          <a:ln w="12700">
            <a:solidFill>
              <a:srgbClr val="2C1810"/>
            </a:solidFill>
            <a:prstDash val="solid"/>
          </a:ln>
        </p:spPr>
      </p:sp>
      <p:sp>
        <p:nvSpPr>
          <p:cNvPr id="46" name="Text 44"/>
          <p:cNvSpPr txBox="1"/>
          <p:nvPr/>
        </p:nvSpPr>
        <p:spPr>
          <a:xfrm>
            <a:off x="1463040" y="3931920"/>
            <a:ext cx="3108960" cy="640080"/>
          </a:xfrm>
          <a:prstGeom prst="rect">
            <a:avLst/>
          </a:prstGeom>
          <a:noFill/>
          <a:ln/>
        </p:spPr>
        <p:txBody>
          <a:bodyPr wrap="square" rtlCol="0" anchor="ctr"/>
          <a:lstStyle/>
          <a:p>
            <a:pPr algn="l" indent="0" marL="0">
              <a:buNone/>
            </a:pPr>
            <a:r>
              <a:rPr lang="en-US" sz="1400" b="1" spc="100" kern="0" dirty="0">
                <a:solidFill>
                  <a:srgbClr val="2C1810"/>
                </a:solidFill>
                <a:latin typeface="Fraunces" pitchFamily="34" charset="0"/>
                <a:ea typeface="Fraunces" pitchFamily="34" charset="-122"/>
                <a:cs typeface="Fraunces" pitchFamily="34" charset="-120"/>
              </a:rPr>
              <a:t>HERITAGE RAG</a:t>
            </a:r>
            <a:endParaRPr lang="en-US" sz="1400" dirty="0"/>
          </a:p>
        </p:txBody>
      </p:sp>
      <p:sp>
        <p:nvSpPr>
          <p:cNvPr id="47" name="Shape 45"/>
          <p:cNvSpPr/>
          <p:nvPr/>
        </p:nvSpPr>
        <p:spPr>
          <a:xfrm>
            <a:off x="2697480" y="4572000"/>
            <a:ext cx="0" cy="320040"/>
          </a:xfrm>
          <a:prstGeom prst="line">
            <a:avLst/>
          </a:prstGeom>
          <a:noFill/>
          <a:ln w="25400">
            <a:solidFill>
              <a:srgbClr val="D4A947"/>
            </a:solidFill>
            <a:prstDash val="solid"/>
            <a:headEnd type="none"/>
            <a:tailEnd type="triangle"/>
          </a:ln>
        </p:spPr>
      </p:sp>
      <p:sp>
        <p:nvSpPr>
          <p:cNvPr id="48" name="Shape 46"/>
          <p:cNvSpPr/>
          <p:nvPr/>
        </p:nvSpPr>
        <p:spPr>
          <a:xfrm>
            <a:off x="685800" y="4892040"/>
            <a:ext cx="4023360" cy="640080"/>
          </a:xfrm>
          <a:prstGeom prst="roundRect">
            <a:avLst>
              <a:gd name="adj" fmla="val 11429"/>
            </a:avLst>
          </a:prstGeom>
          <a:solidFill>
            <a:srgbClr val="F4ECD8"/>
          </a:solidFill>
          <a:ln w="19050">
            <a:solidFill>
              <a:srgbClr val="8B1E1E"/>
            </a:solidFill>
            <a:prstDash val="solid"/>
          </a:ln>
        </p:spPr>
      </p:sp>
      <p:sp>
        <p:nvSpPr>
          <p:cNvPr id="49" name="Shape 47"/>
          <p:cNvSpPr/>
          <p:nvPr/>
        </p:nvSpPr>
        <p:spPr>
          <a:xfrm>
            <a:off x="685800" y="4892040"/>
            <a:ext cx="640080" cy="640080"/>
          </a:xfrm>
          <a:prstGeom prst="rect">
            <a:avLst/>
          </a:prstGeom>
          <a:solidFill>
            <a:srgbClr val="8B1E1E"/>
          </a:solidFill>
          <a:ln w="12700">
            <a:solidFill>
              <a:srgbClr val="8B1E1E"/>
            </a:solidFill>
            <a:prstDash val="solid"/>
          </a:ln>
        </p:spPr>
      </p:sp>
      <p:sp>
        <p:nvSpPr>
          <p:cNvPr id="50" name="Shape 48"/>
          <p:cNvSpPr/>
          <p:nvPr/>
        </p:nvSpPr>
        <p:spPr>
          <a:xfrm rot="10800000">
            <a:off x="859536" y="5029200"/>
            <a:ext cx="292608" cy="365760"/>
          </a:xfrm>
          <a:prstGeom prst="pentagon">
            <a:avLst/>
          </a:prstGeom>
          <a:solidFill>
            <a:srgbClr val="8B1E1E"/>
          </a:solidFill>
          <a:ln w="9525">
            <a:solidFill>
              <a:srgbClr val="2C1810"/>
            </a:solidFill>
            <a:prstDash val="solid"/>
          </a:ln>
        </p:spPr>
      </p:sp>
      <p:sp>
        <p:nvSpPr>
          <p:cNvPr id="51" name="Shape 49"/>
          <p:cNvSpPr/>
          <p:nvPr/>
        </p:nvSpPr>
        <p:spPr>
          <a:xfrm>
            <a:off x="941832" y="5221224"/>
            <a:ext cx="54864" cy="64008"/>
          </a:xfrm>
          <a:prstGeom prst="line">
            <a:avLst/>
          </a:prstGeom>
          <a:noFill/>
          <a:ln w="25400">
            <a:solidFill>
              <a:srgbClr val="F4ECD8"/>
            </a:solidFill>
            <a:prstDash val="solid"/>
          </a:ln>
        </p:spPr>
      </p:sp>
      <p:sp>
        <p:nvSpPr>
          <p:cNvPr id="52" name="Shape 50"/>
          <p:cNvSpPr/>
          <p:nvPr/>
        </p:nvSpPr>
        <p:spPr>
          <a:xfrm>
            <a:off x="996696" y="5285232"/>
            <a:ext cx="91440" cy="-100584"/>
          </a:xfrm>
          <a:prstGeom prst="line">
            <a:avLst/>
          </a:prstGeom>
          <a:noFill/>
          <a:ln w="25400">
            <a:solidFill>
              <a:srgbClr val="F4ECD8"/>
            </a:solidFill>
            <a:prstDash val="solid"/>
          </a:ln>
        </p:spPr>
      </p:sp>
      <p:sp>
        <p:nvSpPr>
          <p:cNvPr id="53" name="Text 51"/>
          <p:cNvSpPr txBox="1"/>
          <p:nvPr/>
        </p:nvSpPr>
        <p:spPr>
          <a:xfrm>
            <a:off x="1463040" y="4892040"/>
            <a:ext cx="3108960" cy="640080"/>
          </a:xfrm>
          <a:prstGeom prst="rect">
            <a:avLst/>
          </a:prstGeom>
          <a:noFill/>
          <a:ln/>
        </p:spPr>
        <p:txBody>
          <a:bodyPr wrap="square" rtlCol="0" anchor="ctr"/>
          <a:lstStyle/>
          <a:p>
            <a:pPr algn="l" indent="0" marL="0">
              <a:buNone/>
            </a:pPr>
            <a:r>
              <a:rPr lang="en-US" sz="1400" b="1" spc="100" kern="0" dirty="0">
                <a:solidFill>
                  <a:srgbClr val="2C1810"/>
                </a:solidFill>
                <a:latin typeface="Fraunces" pitchFamily="34" charset="0"/>
                <a:ea typeface="Fraunces" pitchFamily="34" charset="-122"/>
                <a:cs typeface="Fraunces" pitchFamily="34" charset="-120"/>
              </a:rPr>
              <a:t>CRITIC AUDIT</a:t>
            </a:r>
            <a:endParaRPr lang="en-US" sz="1400" dirty="0"/>
          </a:p>
        </p:txBody>
      </p:sp>
      <p:sp>
        <p:nvSpPr>
          <p:cNvPr id="54" name="Text 52"/>
          <p:cNvSpPr txBox="1"/>
          <p:nvPr/>
        </p:nvSpPr>
        <p:spPr>
          <a:xfrm>
            <a:off x="502920" y="5897880"/>
            <a:ext cx="4572000" cy="640080"/>
          </a:xfrm>
          <a:prstGeom prst="rect">
            <a:avLst/>
          </a:prstGeom>
          <a:noFill/>
          <a:ln/>
        </p:spPr>
        <p:txBody>
          <a:bodyPr wrap="square" rtlCol="0" anchor="ctr"/>
          <a:lstStyle/>
          <a:p>
            <a:pPr indent="0" marL="0">
              <a:lnSpc>
                <a:spcPct val="115000"/>
              </a:lnSpc>
              <a:buNone/>
            </a:pPr>
            <a:r>
              <a:rPr lang="en-US" sz="1050" i="1" dirty="0">
                <a:solidFill>
                  <a:srgbClr val="5B4636"/>
                </a:solidFill>
                <a:latin typeface="DM Sans" pitchFamily="34" charset="0"/>
                <a:ea typeface="DM Sans" pitchFamily="34" charset="-122"/>
                <a:cs typeface="DM Sans" pitchFamily="34" charset="-120"/>
              </a:rPr>
              <a:t>Output is a safe, contextual translation — never a literal word swap. A dangerous ingredient is intercepted before the user sees the dish.</a:t>
            </a:r>
            <a:endParaRPr lang="en-US" sz="1050" dirty="0"/>
          </a:p>
        </p:txBody>
      </p:sp>
      <p:sp>
        <p:nvSpPr>
          <p:cNvPr id="55" name="Text 53"/>
          <p:cNvSpPr txBox="1"/>
          <p:nvPr/>
        </p:nvSpPr>
        <p:spPr>
          <a:xfrm>
            <a:off x="6035040" y="1600200"/>
            <a:ext cx="5486400" cy="274320"/>
          </a:xfrm>
          <a:prstGeom prst="rect">
            <a:avLst/>
          </a:prstGeom>
          <a:noFill/>
          <a:ln/>
        </p:spPr>
        <p:txBody>
          <a:bodyPr wrap="square" rtlCol="0" anchor="ctr"/>
          <a:lstStyle/>
          <a:p>
            <a:pPr indent="0" marL="0">
              <a:buNone/>
            </a:pPr>
            <a:r>
              <a:rPr lang="en-US" sz="1400" b="1" spc="200" kern="0" dirty="0">
                <a:solidFill>
                  <a:srgbClr val="2F5D3A"/>
                </a:solidFill>
                <a:latin typeface="Fraunces" pitchFamily="34" charset="0"/>
                <a:ea typeface="Fraunces" pitchFamily="34" charset="-122"/>
                <a:cs typeface="Fraunces" pitchFamily="34" charset="-120"/>
              </a:rPr>
              <a:t>ZERO VENDOR FRICTION</a:t>
            </a:r>
            <a:endParaRPr lang="en-US" sz="1400" dirty="0"/>
          </a:p>
        </p:txBody>
      </p:sp>
      <p:sp>
        <p:nvSpPr>
          <p:cNvPr id="56" name="Shape 54"/>
          <p:cNvSpPr/>
          <p:nvPr/>
        </p:nvSpPr>
        <p:spPr>
          <a:xfrm>
            <a:off x="6309360" y="4937760"/>
            <a:ext cx="4754880" cy="1005840"/>
          </a:xfrm>
          <a:prstGeom prst="rect">
            <a:avLst/>
          </a:prstGeom>
          <a:solidFill>
            <a:srgbClr val="DDD0AE"/>
          </a:solidFill>
          <a:ln w="12700">
            <a:solidFill>
              <a:srgbClr val="2C1810"/>
            </a:solidFill>
            <a:prstDash val="solid"/>
          </a:ln>
        </p:spPr>
      </p:sp>
      <p:sp>
        <p:nvSpPr>
          <p:cNvPr id="57" name="Shape 55"/>
          <p:cNvSpPr/>
          <p:nvPr/>
        </p:nvSpPr>
        <p:spPr>
          <a:xfrm>
            <a:off x="6492240" y="5120640"/>
            <a:ext cx="4389120" cy="0"/>
          </a:xfrm>
          <a:prstGeom prst="line">
            <a:avLst/>
          </a:prstGeom>
          <a:noFill/>
          <a:ln w="9525">
            <a:solidFill>
              <a:srgbClr val="5B4636"/>
            </a:solidFill>
            <a:prstDash val="dash"/>
          </a:ln>
        </p:spPr>
      </p:sp>
      <p:sp>
        <p:nvSpPr>
          <p:cNvPr id="58" name="Shape 56"/>
          <p:cNvSpPr/>
          <p:nvPr/>
        </p:nvSpPr>
        <p:spPr>
          <a:xfrm>
            <a:off x="6492240" y="5303520"/>
            <a:ext cx="4389120" cy="0"/>
          </a:xfrm>
          <a:prstGeom prst="line">
            <a:avLst/>
          </a:prstGeom>
          <a:noFill/>
          <a:ln w="9525">
            <a:solidFill>
              <a:srgbClr val="5B4636"/>
            </a:solidFill>
            <a:prstDash val="dash"/>
          </a:ln>
        </p:spPr>
      </p:sp>
      <p:sp>
        <p:nvSpPr>
          <p:cNvPr id="59" name="Shape 57"/>
          <p:cNvSpPr/>
          <p:nvPr/>
        </p:nvSpPr>
        <p:spPr>
          <a:xfrm>
            <a:off x="6492240" y="5486400"/>
            <a:ext cx="4389120" cy="0"/>
          </a:xfrm>
          <a:prstGeom prst="line">
            <a:avLst/>
          </a:prstGeom>
          <a:noFill/>
          <a:ln w="9525">
            <a:solidFill>
              <a:srgbClr val="5B4636"/>
            </a:solidFill>
            <a:prstDash val="dash"/>
          </a:ln>
        </p:spPr>
      </p:sp>
      <p:sp>
        <p:nvSpPr>
          <p:cNvPr id="60" name="Shape 58"/>
          <p:cNvSpPr/>
          <p:nvPr/>
        </p:nvSpPr>
        <p:spPr>
          <a:xfrm>
            <a:off x="6492240" y="5669280"/>
            <a:ext cx="4389120" cy="0"/>
          </a:xfrm>
          <a:prstGeom prst="line">
            <a:avLst/>
          </a:prstGeom>
          <a:noFill/>
          <a:ln w="9525">
            <a:solidFill>
              <a:srgbClr val="5B4636"/>
            </a:solidFill>
            <a:prstDash val="dash"/>
          </a:ln>
        </p:spPr>
      </p:sp>
      <p:sp>
        <p:nvSpPr>
          <p:cNvPr id="61" name="Text 59"/>
          <p:cNvSpPr txBox="1"/>
          <p:nvPr/>
        </p:nvSpPr>
        <p:spPr>
          <a:xfrm>
            <a:off x="6309360" y="5943600"/>
            <a:ext cx="4754880" cy="182880"/>
          </a:xfrm>
          <a:prstGeom prst="rect">
            <a:avLst/>
          </a:prstGeom>
          <a:noFill/>
          <a:ln/>
        </p:spPr>
        <p:txBody>
          <a:bodyPr wrap="square" rtlCol="0" anchor="ctr"/>
          <a:lstStyle/>
          <a:p>
            <a:pPr algn="ctr" indent="0" marL="0">
              <a:buNone/>
            </a:pPr>
            <a:r>
              <a:rPr lang="en-US" sz="750" b="1" spc="200" kern="0" dirty="0">
                <a:solidFill>
                  <a:srgbClr val="5B4636"/>
                </a:solidFill>
                <a:latin typeface="DM Sans" pitchFamily="34" charset="0"/>
                <a:ea typeface="DM Sans" pitchFamily="34" charset="-122"/>
                <a:cs typeface="DM Sans" pitchFamily="34" charset="-120"/>
              </a:rPr>
              <a:t>HANDWRITTEN BOARD</a:t>
            </a:r>
            <a:endParaRPr lang="en-US" sz="750" dirty="0"/>
          </a:p>
        </p:txBody>
      </p:sp>
      <p:sp>
        <p:nvSpPr>
          <p:cNvPr id="62" name="Shape 60"/>
          <p:cNvSpPr/>
          <p:nvPr/>
        </p:nvSpPr>
        <p:spPr>
          <a:xfrm>
            <a:off x="7205472" y="1993392"/>
            <a:ext cx="2871216" cy="2962656"/>
          </a:xfrm>
          <a:prstGeom prst="roundRect">
            <a:avLst>
              <a:gd name="adj" fmla="val 6369"/>
            </a:avLst>
          </a:prstGeom>
          <a:solidFill>
            <a:srgbClr val="D4A947">
              <a:alpha val="22000"/>
            </a:srgbClr>
          </a:solidFill>
          <a:ln/>
        </p:spPr>
      </p:sp>
      <p:sp>
        <p:nvSpPr>
          <p:cNvPr id="63" name="Shape 61"/>
          <p:cNvSpPr/>
          <p:nvPr/>
        </p:nvSpPr>
        <p:spPr>
          <a:xfrm>
            <a:off x="7315200" y="2103120"/>
            <a:ext cx="2651760" cy="2743200"/>
          </a:xfrm>
          <a:prstGeom prst="roundRect">
            <a:avLst>
              <a:gd name="adj" fmla="val 4828"/>
            </a:avLst>
          </a:prstGeom>
          <a:solidFill>
            <a:srgbClr val="2C1810"/>
          </a:solidFill>
          <a:ln w="12700">
            <a:solidFill>
              <a:srgbClr val="2C1810"/>
            </a:solidFill>
            <a:prstDash val="solid"/>
          </a:ln>
        </p:spPr>
      </p:sp>
      <p:sp>
        <p:nvSpPr>
          <p:cNvPr id="64" name="Shape 62"/>
          <p:cNvSpPr/>
          <p:nvPr/>
        </p:nvSpPr>
        <p:spPr>
          <a:xfrm>
            <a:off x="7379208" y="2167128"/>
            <a:ext cx="2523744" cy="2615184"/>
          </a:xfrm>
          <a:prstGeom prst="roundRect">
            <a:avLst>
              <a:gd name="adj" fmla="val 2899"/>
            </a:avLst>
          </a:prstGeom>
          <a:solidFill>
            <a:srgbClr val="F4ECD8"/>
          </a:solidFill>
          <a:ln w="6350">
            <a:solidFill>
              <a:srgbClr val="C4A882"/>
            </a:solidFill>
            <a:prstDash val="solid"/>
          </a:ln>
        </p:spPr>
      </p:sp>
      <p:sp>
        <p:nvSpPr>
          <p:cNvPr id="65" name="Shape 63"/>
          <p:cNvSpPr/>
          <p:nvPr/>
        </p:nvSpPr>
        <p:spPr>
          <a:xfrm>
            <a:off x="8476488" y="2139696"/>
            <a:ext cx="329184" cy="54864"/>
          </a:xfrm>
          <a:prstGeom prst="roundRect">
            <a:avLst>
              <a:gd name="adj" fmla="val 50000"/>
            </a:avLst>
          </a:prstGeom>
          <a:solidFill>
            <a:srgbClr val="2C1810"/>
          </a:solidFill>
          <a:ln/>
        </p:spPr>
      </p:sp>
      <p:sp>
        <p:nvSpPr>
          <p:cNvPr id="66" name="Shape 64"/>
          <p:cNvSpPr/>
          <p:nvPr/>
        </p:nvSpPr>
        <p:spPr>
          <a:xfrm>
            <a:off x="7744968" y="2487168"/>
            <a:ext cx="237744" cy="237744"/>
          </a:xfrm>
          <a:prstGeom prst="ellipse">
            <a:avLst/>
          </a:prstGeom>
          <a:solidFill>
            <a:srgbClr val="3F7A4A"/>
          </a:solidFill>
          <a:ln w="9525">
            <a:solidFill>
              <a:srgbClr val="2C1810"/>
            </a:solidFill>
            <a:prstDash val="solid"/>
          </a:ln>
        </p:spPr>
      </p:sp>
      <p:sp>
        <p:nvSpPr>
          <p:cNvPr id="67" name="Shape 65"/>
          <p:cNvSpPr/>
          <p:nvPr/>
        </p:nvSpPr>
        <p:spPr>
          <a:xfrm>
            <a:off x="7810348" y="2611984"/>
            <a:ext cx="41605" cy="47549"/>
          </a:xfrm>
          <a:prstGeom prst="line">
            <a:avLst/>
          </a:prstGeom>
          <a:noFill/>
          <a:ln w="25400">
            <a:solidFill>
              <a:srgbClr val="F4ECD8"/>
            </a:solidFill>
            <a:prstDash val="solid"/>
          </a:ln>
        </p:spPr>
      </p:sp>
      <p:sp>
        <p:nvSpPr>
          <p:cNvPr id="68" name="Shape 66"/>
          <p:cNvSpPr/>
          <p:nvPr/>
        </p:nvSpPr>
        <p:spPr>
          <a:xfrm>
            <a:off x="7851953" y="2659532"/>
            <a:ext cx="65380" cy="-71323"/>
          </a:xfrm>
          <a:prstGeom prst="line">
            <a:avLst/>
          </a:prstGeom>
          <a:noFill/>
          <a:ln w="25400">
            <a:solidFill>
              <a:srgbClr val="F4ECD8"/>
            </a:solidFill>
            <a:prstDash val="solid"/>
          </a:ln>
        </p:spPr>
      </p:sp>
      <p:sp>
        <p:nvSpPr>
          <p:cNvPr id="69" name="Shape 67"/>
          <p:cNvSpPr/>
          <p:nvPr/>
        </p:nvSpPr>
        <p:spPr>
          <a:xfrm>
            <a:off x="8092440" y="2468880"/>
            <a:ext cx="1645920" cy="274320"/>
          </a:xfrm>
          <a:prstGeom prst="roundRect">
            <a:avLst>
              <a:gd name="adj" fmla="val 16667"/>
            </a:avLst>
          </a:prstGeom>
          <a:solidFill>
            <a:srgbClr val="3F7A4A"/>
          </a:solidFill>
          <a:ln w="6350">
            <a:solidFill>
              <a:srgbClr val="2C1810"/>
            </a:solidFill>
            <a:prstDash val="solid"/>
          </a:ln>
        </p:spPr>
      </p:sp>
      <p:sp>
        <p:nvSpPr>
          <p:cNvPr id="70" name="Text 68"/>
          <p:cNvSpPr txBox="1"/>
          <p:nvPr/>
        </p:nvSpPr>
        <p:spPr>
          <a:xfrm>
            <a:off x="8092440" y="2468880"/>
            <a:ext cx="1645920" cy="274320"/>
          </a:xfrm>
          <a:prstGeom prst="rect">
            <a:avLst/>
          </a:prstGeom>
          <a:noFill/>
          <a:ln/>
        </p:spPr>
        <p:txBody>
          <a:bodyPr wrap="square" rtlCol="0" anchor="ctr"/>
          <a:lstStyle/>
          <a:p>
            <a:pPr algn="ctr" indent="0" marL="0">
              <a:buNone/>
            </a:pPr>
            <a:r>
              <a:rPr lang="en-US" sz="800" b="1" dirty="0">
                <a:solidFill>
                  <a:srgbClr val="F4ECD8"/>
                </a:solidFill>
                <a:latin typeface="DM Sans" pitchFamily="34" charset="0"/>
                <a:ea typeface="DM Sans" pitchFamily="34" charset="-122"/>
                <a:cs typeface="DM Sans" pitchFamily="34" charset="-120"/>
              </a:rPr>
              <a:t>Ayam Goreng ✓</a:t>
            </a:r>
            <a:endParaRPr lang="en-US" sz="800" dirty="0"/>
          </a:p>
        </p:txBody>
      </p:sp>
      <p:sp>
        <p:nvSpPr>
          <p:cNvPr id="71" name="Shape 69"/>
          <p:cNvSpPr/>
          <p:nvPr/>
        </p:nvSpPr>
        <p:spPr>
          <a:xfrm>
            <a:off x="7744968" y="2962199"/>
            <a:ext cx="237744" cy="202082"/>
          </a:xfrm>
          <a:prstGeom prst="triangle">
            <a:avLst/>
          </a:prstGeom>
          <a:solidFill>
            <a:srgbClr val="B83A3A"/>
          </a:solidFill>
          <a:ln w="9525">
            <a:solidFill>
              <a:srgbClr val="2C1810"/>
            </a:solidFill>
            <a:prstDash val="solid"/>
          </a:ln>
        </p:spPr>
      </p:sp>
      <p:sp>
        <p:nvSpPr>
          <p:cNvPr id="72" name="Text 70"/>
          <p:cNvSpPr txBox="1"/>
          <p:nvPr/>
        </p:nvSpPr>
        <p:spPr>
          <a:xfrm>
            <a:off x="7744968" y="3003804"/>
            <a:ext cx="237744" cy="142646"/>
          </a:xfrm>
          <a:prstGeom prst="rect">
            <a:avLst/>
          </a:prstGeom>
          <a:noFill/>
          <a:ln/>
        </p:spPr>
        <p:txBody>
          <a:bodyPr wrap="square" rtlCol="0" anchor="ctr"/>
          <a:lstStyle/>
          <a:p>
            <a:pPr algn="ctr" indent="0" marL="0">
              <a:buNone/>
            </a:pPr>
            <a:r>
              <a:rPr lang="en-US" sz="1200" b="1" dirty="0">
                <a:solidFill>
                  <a:srgbClr val="F4ECD8"/>
                </a:solidFill>
                <a:latin typeface="Fraunces" pitchFamily="34" charset="0"/>
                <a:ea typeface="Fraunces" pitchFamily="34" charset="-122"/>
                <a:cs typeface="Fraunces" pitchFamily="34" charset="-120"/>
              </a:rPr>
              <a:t>!</a:t>
            </a:r>
            <a:endParaRPr lang="en-US" sz="1200" dirty="0"/>
          </a:p>
        </p:txBody>
      </p:sp>
      <p:sp>
        <p:nvSpPr>
          <p:cNvPr id="73" name="Shape 71"/>
          <p:cNvSpPr/>
          <p:nvPr/>
        </p:nvSpPr>
        <p:spPr>
          <a:xfrm>
            <a:off x="8092440" y="2926080"/>
            <a:ext cx="1645920" cy="274320"/>
          </a:xfrm>
          <a:prstGeom prst="roundRect">
            <a:avLst>
              <a:gd name="adj" fmla="val 16667"/>
            </a:avLst>
          </a:prstGeom>
          <a:solidFill>
            <a:srgbClr val="B83A3A"/>
          </a:solidFill>
          <a:ln w="6350">
            <a:solidFill>
              <a:srgbClr val="2C1810"/>
            </a:solidFill>
            <a:prstDash val="solid"/>
          </a:ln>
        </p:spPr>
      </p:sp>
      <p:sp>
        <p:nvSpPr>
          <p:cNvPr id="74" name="Text 72"/>
          <p:cNvSpPr txBox="1"/>
          <p:nvPr/>
        </p:nvSpPr>
        <p:spPr>
          <a:xfrm>
            <a:off x="8092440" y="2926080"/>
            <a:ext cx="1645920" cy="274320"/>
          </a:xfrm>
          <a:prstGeom prst="rect">
            <a:avLst/>
          </a:prstGeom>
          <a:noFill/>
          <a:ln/>
        </p:spPr>
        <p:txBody>
          <a:bodyPr wrap="square" rtlCol="0" anchor="ctr"/>
          <a:lstStyle/>
          <a:p>
            <a:pPr algn="ctr" indent="0" marL="0">
              <a:buNone/>
            </a:pPr>
            <a:r>
              <a:rPr lang="en-US" sz="800" b="1" dirty="0">
                <a:solidFill>
                  <a:srgbClr val="F4ECD8"/>
                </a:solidFill>
                <a:latin typeface="DM Sans" pitchFamily="34" charset="0"/>
                <a:ea typeface="DM Sans" pitchFamily="34" charset="-122"/>
                <a:cs typeface="DM Sans" pitchFamily="34" charset="-120"/>
              </a:rPr>
              <a:t>CKT · cockles</a:t>
            </a:r>
            <a:endParaRPr lang="en-US" sz="800" dirty="0"/>
          </a:p>
        </p:txBody>
      </p:sp>
      <p:sp>
        <p:nvSpPr>
          <p:cNvPr id="75" name="Shape 73"/>
          <p:cNvSpPr/>
          <p:nvPr/>
        </p:nvSpPr>
        <p:spPr>
          <a:xfrm>
            <a:off x="7589520" y="3383280"/>
            <a:ext cx="2194560" cy="1188720"/>
          </a:xfrm>
          <a:prstGeom prst="roundRect">
            <a:avLst>
              <a:gd name="adj" fmla="val 4615"/>
            </a:avLst>
          </a:prstGeom>
          <a:solidFill>
            <a:srgbClr val="F4ECD8"/>
          </a:solidFill>
          <a:ln w="12700">
            <a:solidFill>
              <a:srgbClr val="8B1E1E"/>
            </a:solidFill>
            <a:prstDash val="solid"/>
          </a:ln>
        </p:spPr>
      </p:sp>
      <p:sp>
        <p:nvSpPr>
          <p:cNvPr id="76" name="Text 74"/>
          <p:cNvSpPr txBox="1"/>
          <p:nvPr/>
        </p:nvSpPr>
        <p:spPr>
          <a:xfrm>
            <a:off x="7680960" y="3456432"/>
            <a:ext cx="2011680" cy="1051560"/>
          </a:xfrm>
          <a:prstGeom prst="rect">
            <a:avLst/>
          </a:prstGeom>
          <a:noFill/>
          <a:ln/>
        </p:spPr>
        <p:txBody>
          <a:bodyPr wrap="square" rtlCol="0" anchor="t"/>
          <a:lstStyle/>
          <a:p>
            <a:pPr algn="l" indent="0" marL="0">
              <a:lnSpc>
                <a:spcPct val="105000"/>
              </a:lnSpc>
              <a:buNone/>
            </a:pPr>
            <a:r>
              <a:rPr lang="en-US" sz="900" b="1" dirty="0">
                <a:solidFill>
                  <a:srgbClr val="8B1E1E"/>
                </a:solidFill>
                <a:latin typeface="DM Sans" pitchFamily="34" charset="0"/>
                <a:ea typeface="DM Sans" pitchFamily="34" charset="-122"/>
                <a:cs typeface="DM Sans" pitchFamily="34" charset="-120"/>
              </a:rPr>
              <a:t>Char Kuey Teow
</a:t>
            </a:r>
            <a:pPr algn="l" indent="0" marL="0">
              <a:lnSpc>
                <a:spcPct val="105000"/>
              </a:lnSpc>
              <a:buNone/>
            </a:pPr>
            <a:r>
              <a:rPr lang="en-US" sz="750" dirty="0">
                <a:solidFill>
                  <a:srgbClr val="2C1810"/>
                </a:solidFill>
                <a:latin typeface="DM Sans" pitchFamily="34" charset="0"/>
                <a:ea typeface="DM Sans" pitchFamily="34" charset="-122"/>
                <a:cs typeface="DM Sans" pitchFamily="34" charset="-120"/>
              </a:rPr>
              <a:t>Stir-fried flat noodles with prawns, cockles &amp; pork lard.</a:t>
            </a:r>
            <a:endParaRPr lang="en-US" sz="900" dirty="0"/>
          </a:p>
        </p:txBody>
      </p:sp>
      <p:sp>
        <p:nvSpPr>
          <p:cNvPr id="77" name="Text 75"/>
          <p:cNvSpPr txBox="1"/>
          <p:nvPr/>
        </p:nvSpPr>
        <p:spPr>
          <a:xfrm>
            <a:off x="6035040" y="6172200"/>
            <a:ext cx="5486400" cy="365760"/>
          </a:xfrm>
          <a:prstGeom prst="rect">
            <a:avLst/>
          </a:prstGeom>
          <a:noFill/>
          <a:ln/>
        </p:spPr>
        <p:txBody>
          <a:bodyPr wrap="square" rtlCol="0" anchor="ctr"/>
          <a:lstStyle/>
          <a:p>
            <a:pPr indent="0" marL="0">
              <a:lnSpc>
                <a:spcPct val="110000"/>
              </a:lnSpc>
              <a:buNone/>
            </a:pPr>
            <a:r>
              <a:rPr lang="en-US" sz="1000" i="1" dirty="0">
                <a:solidFill>
                  <a:srgbClr val="5B4636"/>
                </a:solidFill>
                <a:latin typeface="DM Sans" pitchFamily="34" charset="0"/>
                <a:ea typeface="DM Sans" pitchFamily="34" charset="-122"/>
                <a:cs typeface="DM Sans" pitchFamily="34" charset="-120"/>
              </a:rPr>
              <a:t>No new hardware. No reprinted menus. No vendor onboarding. The intelligence lives entirely between the tourist's phone and the existing handwritten board.</a:t>
            </a:r>
            <a:endParaRPr lang="en-US" sz="1000" dirty="0"/>
          </a:p>
        </p:txBody>
      </p:sp>
      <p:sp>
        <p:nvSpPr>
          <p:cNvPr id="78" name="Text 76"/>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79" name="Text 77"/>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( 02 )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AI ARCHITECTURE</a:t>
            </a:r>
            <a:endParaRPr lang="en-US" sz="40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AI ARCHITECTURE</a:t>
            </a:r>
            <a:endParaRPr lang="en-US" sz="40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TWO PILLARS · MULTIMODAL INGESTION + GROUNDED KNOWLEDGE</a:t>
            </a:r>
            <a:endParaRPr lang="en-US" sz="1100" dirty="0"/>
          </a:p>
        </p:txBody>
      </p:sp>
      <p:sp>
        <p:nvSpPr>
          <p:cNvPr id="28" name="Shape 26"/>
          <p:cNvSpPr/>
          <p:nvPr/>
        </p:nvSpPr>
        <p:spPr>
          <a:xfrm>
            <a:off x="6095848" y="1691640"/>
            <a:ext cx="0" cy="4389120"/>
          </a:xfrm>
          <a:prstGeom prst="line">
            <a:avLst/>
          </a:prstGeom>
          <a:noFill/>
          <a:ln w="12700">
            <a:solidFill>
              <a:srgbClr val="C4A882"/>
            </a:solidFill>
            <a:prstDash val="dash"/>
          </a:ln>
        </p:spPr>
      </p:sp>
      <p:sp>
        <p:nvSpPr>
          <p:cNvPr id="29" name="Text 27"/>
          <p:cNvSpPr txBox="1"/>
          <p:nvPr/>
        </p:nvSpPr>
        <p:spPr>
          <a:xfrm>
            <a:off x="502920" y="1691640"/>
            <a:ext cx="640080" cy="457200"/>
          </a:xfrm>
          <a:prstGeom prst="rect">
            <a:avLst/>
          </a:prstGeom>
          <a:noFill/>
          <a:ln/>
        </p:spPr>
        <p:txBody>
          <a:bodyPr wrap="square" rtlCol="0" anchor="ctr"/>
          <a:lstStyle/>
          <a:p>
            <a:pPr indent="0" marL="0">
              <a:buNone/>
            </a:pPr>
            <a:r>
              <a:rPr lang="en-US" sz="2800" b="1" dirty="0">
                <a:solidFill>
                  <a:srgbClr val="8B1E1E"/>
                </a:solidFill>
                <a:latin typeface="Fraunces" pitchFamily="34" charset="0"/>
                <a:ea typeface="Fraunces" pitchFamily="34" charset="-122"/>
                <a:cs typeface="Fraunces" pitchFamily="34" charset="-120"/>
              </a:rPr>
              <a:t>01</a:t>
            </a:r>
            <a:endParaRPr lang="en-US" sz="2800" dirty="0"/>
          </a:p>
        </p:txBody>
      </p:sp>
      <p:sp>
        <p:nvSpPr>
          <p:cNvPr id="30" name="Text 28"/>
          <p:cNvSpPr txBox="1"/>
          <p:nvPr/>
        </p:nvSpPr>
        <p:spPr>
          <a:xfrm>
            <a:off x="1143000" y="1783080"/>
            <a:ext cx="4572000" cy="365760"/>
          </a:xfrm>
          <a:prstGeom prst="rect">
            <a:avLst/>
          </a:prstGeom>
          <a:noFill/>
          <a:ln/>
        </p:spPr>
        <p:txBody>
          <a:bodyPr wrap="square" rtlCol="0" anchor="ctr"/>
          <a:lstStyle/>
          <a:p>
            <a:pPr indent="0" marL="0">
              <a:buNone/>
            </a:pPr>
            <a:r>
              <a:rPr lang="en-US" sz="1600" b="1" spc="100" kern="0" dirty="0">
                <a:solidFill>
                  <a:srgbClr val="2C1810"/>
                </a:solidFill>
                <a:latin typeface="Fraunces" pitchFamily="34" charset="0"/>
                <a:ea typeface="Fraunces" pitchFamily="34" charset="-122"/>
                <a:cs typeface="Fraunces" pitchFamily="34" charset="-120"/>
              </a:rPr>
              <a:t>MULTIMODAL INGESTION</a:t>
            </a:r>
            <a:endParaRPr lang="en-US" sz="1600" dirty="0"/>
          </a:p>
        </p:txBody>
      </p:sp>
      <p:sp>
        <p:nvSpPr>
          <p:cNvPr id="31" name="Shape 29"/>
          <p:cNvSpPr/>
          <p:nvPr/>
        </p:nvSpPr>
        <p:spPr>
          <a:xfrm>
            <a:off x="1417320" y="2491740"/>
            <a:ext cx="914400" cy="502920"/>
          </a:xfrm>
          <a:prstGeom prst="ellipse">
            <a:avLst/>
          </a:prstGeom>
          <a:solidFill>
            <a:srgbClr val="F4ECD8"/>
          </a:solidFill>
          <a:ln w="19050">
            <a:solidFill>
              <a:srgbClr val="8B1E1E"/>
            </a:solidFill>
            <a:prstDash val="solid"/>
          </a:ln>
        </p:spPr>
      </p:sp>
      <p:sp>
        <p:nvSpPr>
          <p:cNvPr id="32" name="Shape 30"/>
          <p:cNvSpPr/>
          <p:nvPr/>
        </p:nvSpPr>
        <p:spPr>
          <a:xfrm>
            <a:off x="1728216" y="2596896"/>
            <a:ext cx="292608" cy="292608"/>
          </a:xfrm>
          <a:prstGeom prst="ellipse">
            <a:avLst/>
          </a:prstGeom>
          <a:solidFill>
            <a:srgbClr val="8B1E1E"/>
          </a:solidFill>
          <a:ln w="9525">
            <a:solidFill>
              <a:srgbClr val="2C1810"/>
            </a:solidFill>
            <a:prstDash val="solid"/>
          </a:ln>
        </p:spPr>
      </p:sp>
      <p:sp>
        <p:nvSpPr>
          <p:cNvPr id="33" name="Shape 31"/>
          <p:cNvSpPr/>
          <p:nvPr/>
        </p:nvSpPr>
        <p:spPr>
          <a:xfrm>
            <a:off x="777240" y="3383280"/>
            <a:ext cx="4937760" cy="1554480"/>
          </a:xfrm>
          <a:prstGeom prst="rect">
            <a:avLst/>
          </a:prstGeom>
          <a:solidFill>
            <a:srgbClr val="F4ECD8"/>
          </a:solidFill>
          <a:ln w="12700">
            <a:solidFill>
              <a:srgbClr val="2C1810"/>
            </a:solidFill>
            <a:prstDash val="solid"/>
          </a:ln>
        </p:spPr>
      </p:sp>
      <p:sp>
        <p:nvSpPr>
          <p:cNvPr id="34" name="Shape 32"/>
          <p:cNvSpPr/>
          <p:nvPr/>
        </p:nvSpPr>
        <p:spPr>
          <a:xfrm>
            <a:off x="1051560" y="3685032"/>
            <a:ext cx="2743200" cy="0"/>
          </a:xfrm>
          <a:prstGeom prst="line">
            <a:avLst/>
          </a:prstGeom>
          <a:noFill/>
          <a:ln w="9525">
            <a:solidFill>
              <a:srgbClr val="5B4636"/>
            </a:solidFill>
            <a:prstDash val="solid"/>
          </a:ln>
        </p:spPr>
      </p:sp>
      <p:sp>
        <p:nvSpPr>
          <p:cNvPr id="35" name="Shape 33"/>
          <p:cNvSpPr/>
          <p:nvPr/>
        </p:nvSpPr>
        <p:spPr>
          <a:xfrm>
            <a:off x="914400" y="3520440"/>
            <a:ext cx="4114800" cy="256032"/>
          </a:xfrm>
          <a:prstGeom prst="rect">
            <a:avLst/>
          </a:prstGeom>
          <a:ln w="15875">
            <a:solidFill>
              <a:srgbClr val="3F7A4A"/>
            </a:solidFill>
            <a:prstDash val="dash"/>
          </a:ln>
        </p:spPr>
      </p:sp>
      <p:sp>
        <p:nvSpPr>
          <p:cNvPr id="36" name="Text 34"/>
          <p:cNvSpPr txBox="1"/>
          <p:nvPr/>
        </p:nvSpPr>
        <p:spPr>
          <a:xfrm>
            <a:off x="3886200" y="3520440"/>
            <a:ext cx="1554480" cy="256032"/>
          </a:xfrm>
          <a:prstGeom prst="rect">
            <a:avLst/>
          </a:prstGeom>
          <a:noFill/>
          <a:ln/>
        </p:spPr>
        <p:txBody>
          <a:bodyPr wrap="square" rtlCol="0" anchor="ctr"/>
          <a:lstStyle/>
          <a:p>
            <a:pPr algn="r" indent="0" marL="0">
              <a:buNone/>
            </a:pPr>
            <a:r>
              <a:rPr lang="en-US" sz="750" b="1" dirty="0">
                <a:solidFill>
                  <a:srgbClr val="3F7A4A"/>
                </a:solidFill>
                <a:latin typeface="DM Sans" pitchFamily="34" charset="0"/>
                <a:ea typeface="DM Sans" pitchFamily="34" charset="-122"/>
                <a:cs typeface="DM Sans" pitchFamily="34" charset="-120"/>
              </a:rPr>
              <a:t>Ayam Goreng</a:t>
            </a:r>
            <a:endParaRPr lang="en-US" sz="750" dirty="0"/>
          </a:p>
        </p:txBody>
      </p:sp>
      <p:sp>
        <p:nvSpPr>
          <p:cNvPr id="37" name="Shape 35"/>
          <p:cNvSpPr/>
          <p:nvPr/>
        </p:nvSpPr>
        <p:spPr>
          <a:xfrm>
            <a:off x="1051560" y="3959352"/>
            <a:ext cx="2743200" cy="0"/>
          </a:xfrm>
          <a:prstGeom prst="line">
            <a:avLst/>
          </a:prstGeom>
          <a:noFill/>
          <a:ln w="9525">
            <a:solidFill>
              <a:srgbClr val="5B4636"/>
            </a:solidFill>
            <a:prstDash val="solid"/>
          </a:ln>
        </p:spPr>
      </p:sp>
      <p:sp>
        <p:nvSpPr>
          <p:cNvPr id="38" name="Shape 36"/>
          <p:cNvSpPr/>
          <p:nvPr/>
        </p:nvSpPr>
        <p:spPr>
          <a:xfrm>
            <a:off x="914400" y="3794760"/>
            <a:ext cx="4114800" cy="256032"/>
          </a:xfrm>
          <a:prstGeom prst="rect">
            <a:avLst/>
          </a:prstGeom>
          <a:ln w="15875">
            <a:solidFill>
              <a:srgbClr val="B83A3A"/>
            </a:solidFill>
            <a:prstDash val="dash"/>
          </a:ln>
        </p:spPr>
      </p:sp>
      <p:sp>
        <p:nvSpPr>
          <p:cNvPr id="39" name="Text 37"/>
          <p:cNvSpPr txBox="1"/>
          <p:nvPr/>
        </p:nvSpPr>
        <p:spPr>
          <a:xfrm>
            <a:off x="3886200" y="3794760"/>
            <a:ext cx="1554480" cy="256032"/>
          </a:xfrm>
          <a:prstGeom prst="rect">
            <a:avLst/>
          </a:prstGeom>
          <a:noFill/>
          <a:ln/>
        </p:spPr>
        <p:txBody>
          <a:bodyPr wrap="square" rtlCol="0" anchor="ctr"/>
          <a:lstStyle/>
          <a:p>
            <a:pPr algn="r" indent="0" marL="0">
              <a:buNone/>
            </a:pPr>
            <a:r>
              <a:rPr lang="en-US" sz="750" b="1" dirty="0">
                <a:solidFill>
                  <a:srgbClr val="B83A3A"/>
                </a:solidFill>
                <a:latin typeface="DM Sans" pitchFamily="34" charset="0"/>
                <a:ea typeface="DM Sans" pitchFamily="34" charset="-122"/>
                <a:cs typeface="DM Sans" pitchFamily="34" charset="-120"/>
              </a:rPr>
              <a:t>Char Kuey Teow</a:t>
            </a:r>
            <a:endParaRPr lang="en-US" sz="750" dirty="0"/>
          </a:p>
        </p:txBody>
      </p:sp>
      <p:sp>
        <p:nvSpPr>
          <p:cNvPr id="40" name="Shape 38"/>
          <p:cNvSpPr/>
          <p:nvPr/>
        </p:nvSpPr>
        <p:spPr>
          <a:xfrm>
            <a:off x="1051560" y="4233672"/>
            <a:ext cx="2743200" cy="0"/>
          </a:xfrm>
          <a:prstGeom prst="line">
            <a:avLst/>
          </a:prstGeom>
          <a:noFill/>
          <a:ln w="9525">
            <a:solidFill>
              <a:srgbClr val="5B4636"/>
            </a:solidFill>
            <a:prstDash val="solid"/>
          </a:ln>
        </p:spPr>
      </p:sp>
      <p:sp>
        <p:nvSpPr>
          <p:cNvPr id="41" name="Shape 39"/>
          <p:cNvSpPr/>
          <p:nvPr/>
        </p:nvSpPr>
        <p:spPr>
          <a:xfrm>
            <a:off x="914400" y="4069080"/>
            <a:ext cx="4114800" cy="256032"/>
          </a:xfrm>
          <a:prstGeom prst="rect">
            <a:avLst/>
          </a:prstGeom>
          <a:ln w="15875">
            <a:solidFill>
              <a:srgbClr val="3F7A4A"/>
            </a:solidFill>
            <a:prstDash val="dash"/>
          </a:ln>
        </p:spPr>
      </p:sp>
      <p:sp>
        <p:nvSpPr>
          <p:cNvPr id="42" name="Text 40"/>
          <p:cNvSpPr txBox="1"/>
          <p:nvPr/>
        </p:nvSpPr>
        <p:spPr>
          <a:xfrm>
            <a:off x="3886200" y="4069080"/>
            <a:ext cx="1554480" cy="256032"/>
          </a:xfrm>
          <a:prstGeom prst="rect">
            <a:avLst/>
          </a:prstGeom>
          <a:noFill/>
          <a:ln/>
        </p:spPr>
        <p:txBody>
          <a:bodyPr wrap="square" rtlCol="0" anchor="ctr"/>
          <a:lstStyle/>
          <a:p>
            <a:pPr algn="r" indent="0" marL="0">
              <a:buNone/>
            </a:pPr>
            <a:r>
              <a:rPr lang="en-US" sz="750" b="1" dirty="0">
                <a:solidFill>
                  <a:srgbClr val="3F7A4A"/>
                </a:solidFill>
                <a:latin typeface="DM Sans" pitchFamily="34" charset="0"/>
                <a:ea typeface="DM Sans" pitchFamily="34" charset="-122"/>
                <a:cs typeface="DM Sans" pitchFamily="34" charset="-120"/>
              </a:rPr>
              <a:t>Nasi Lemak</a:t>
            </a:r>
            <a:endParaRPr lang="en-US" sz="750" dirty="0"/>
          </a:p>
        </p:txBody>
      </p:sp>
      <p:sp>
        <p:nvSpPr>
          <p:cNvPr id="43" name="Shape 41"/>
          <p:cNvSpPr/>
          <p:nvPr/>
        </p:nvSpPr>
        <p:spPr>
          <a:xfrm>
            <a:off x="1051560" y="4507992"/>
            <a:ext cx="2743200" cy="0"/>
          </a:xfrm>
          <a:prstGeom prst="line">
            <a:avLst/>
          </a:prstGeom>
          <a:noFill/>
          <a:ln w="9525">
            <a:solidFill>
              <a:srgbClr val="5B4636"/>
            </a:solidFill>
            <a:prstDash val="solid"/>
          </a:ln>
        </p:spPr>
      </p:sp>
      <p:sp>
        <p:nvSpPr>
          <p:cNvPr id="44" name="Shape 42"/>
          <p:cNvSpPr/>
          <p:nvPr/>
        </p:nvSpPr>
        <p:spPr>
          <a:xfrm>
            <a:off x="914400" y="4343400"/>
            <a:ext cx="4114800" cy="256032"/>
          </a:xfrm>
          <a:prstGeom prst="rect">
            <a:avLst/>
          </a:prstGeom>
          <a:ln w="15875">
            <a:solidFill>
              <a:srgbClr val="B83A3A"/>
            </a:solidFill>
            <a:prstDash val="dash"/>
          </a:ln>
        </p:spPr>
      </p:sp>
      <p:sp>
        <p:nvSpPr>
          <p:cNvPr id="45" name="Text 43"/>
          <p:cNvSpPr txBox="1"/>
          <p:nvPr/>
        </p:nvSpPr>
        <p:spPr>
          <a:xfrm>
            <a:off x="3886200" y="4343400"/>
            <a:ext cx="1554480" cy="256032"/>
          </a:xfrm>
          <a:prstGeom prst="rect">
            <a:avLst/>
          </a:prstGeom>
          <a:noFill/>
          <a:ln/>
        </p:spPr>
        <p:txBody>
          <a:bodyPr wrap="square" rtlCol="0" anchor="ctr"/>
          <a:lstStyle/>
          <a:p>
            <a:pPr algn="r" indent="0" marL="0">
              <a:buNone/>
            </a:pPr>
            <a:r>
              <a:rPr lang="en-US" sz="750" b="1" dirty="0">
                <a:solidFill>
                  <a:srgbClr val="B83A3A"/>
                </a:solidFill>
                <a:latin typeface="DM Sans" pitchFamily="34" charset="0"/>
                <a:ea typeface="DM Sans" pitchFamily="34" charset="-122"/>
                <a:cs typeface="DM Sans" pitchFamily="34" charset="-120"/>
              </a:rPr>
              <a:t>Oh Chien</a:t>
            </a:r>
            <a:endParaRPr lang="en-US" sz="750" dirty="0"/>
          </a:p>
        </p:txBody>
      </p:sp>
      <p:sp>
        <p:nvSpPr>
          <p:cNvPr id="46" name="Shape 44"/>
          <p:cNvSpPr/>
          <p:nvPr/>
        </p:nvSpPr>
        <p:spPr>
          <a:xfrm>
            <a:off x="1051560" y="4782312"/>
            <a:ext cx="2743200" cy="0"/>
          </a:xfrm>
          <a:prstGeom prst="line">
            <a:avLst/>
          </a:prstGeom>
          <a:noFill/>
          <a:ln w="9525">
            <a:solidFill>
              <a:srgbClr val="5B4636"/>
            </a:solidFill>
            <a:prstDash val="solid"/>
          </a:ln>
        </p:spPr>
      </p:sp>
      <p:sp>
        <p:nvSpPr>
          <p:cNvPr id="47" name="Shape 45"/>
          <p:cNvSpPr/>
          <p:nvPr/>
        </p:nvSpPr>
        <p:spPr>
          <a:xfrm>
            <a:off x="914400" y="4617720"/>
            <a:ext cx="4114800" cy="256032"/>
          </a:xfrm>
          <a:prstGeom prst="rect">
            <a:avLst/>
          </a:prstGeom>
          <a:ln w="15875">
            <a:solidFill>
              <a:srgbClr val="3F7A4A"/>
            </a:solidFill>
            <a:prstDash val="dash"/>
          </a:ln>
        </p:spPr>
      </p:sp>
      <p:sp>
        <p:nvSpPr>
          <p:cNvPr id="48" name="Text 46"/>
          <p:cNvSpPr txBox="1"/>
          <p:nvPr/>
        </p:nvSpPr>
        <p:spPr>
          <a:xfrm>
            <a:off x="3886200" y="4617720"/>
            <a:ext cx="1554480" cy="256032"/>
          </a:xfrm>
          <a:prstGeom prst="rect">
            <a:avLst/>
          </a:prstGeom>
          <a:noFill/>
          <a:ln/>
        </p:spPr>
        <p:txBody>
          <a:bodyPr wrap="square" rtlCol="0" anchor="ctr"/>
          <a:lstStyle/>
          <a:p>
            <a:pPr algn="r" indent="0" marL="0">
              <a:buNone/>
            </a:pPr>
            <a:r>
              <a:rPr lang="en-US" sz="750" b="1" dirty="0">
                <a:solidFill>
                  <a:srgbClr val="3F7A4A"/>
                </a:solidFill>
                <a:latin typeface="DM Sans" pitchFamily="34" charset="0"/>
                <a:ea typeface="DM Sans" pitchFamily="34" charset="-122"/>
                <a:cs typeface="DM Sans" pitchFamily="34" charset="-120"/>
              </a:rPr>
              <a:t>Roti Canai</a:t>
            </a:r>
            <a:endParaRPr lang="en-US" sz="750" dirty="0"/>
          </a:p>
        </p:txBody>
      </p:sp>
      <p:sp>
        <p:nvSpPr>
          <p:cNvPr id="49" name="Text 47"/>
          <p:cNvSpPr txBox="1"/>
          <p:nvPr/>
        </p:nvSpPr>
        <p:spPr>
          <a:xfrm>
            <a:off x="502920" y="5074920"/>
            <a:ext cx="5212080" cy="1005840"/>
          </a:xfrm>
          <a:prstGeom prst="rect">
            <a:avLst/>
          </a:prstGeom>
          <a:noFill/>
          <a:ln/>
        </p:spPr>
        <p:txBody>
          <a:bodyPr wrap="square" rtlCol="0" anchor="ctr"/>
          <a:lstStyle/>
          <a:p>
            <a:pPr indent="0" marL="0">
              <a:lnSpc>
                <a:spcPct val="120000"/>
              </a:lnSpc>
              <a:buNone/>
            </a:pPr>
            <a:r>
              <a:rPr lang="en-US" sz="1050" dirty="0">
                <a:solidFill>
                  <a:srgbClr val="2C1810"/>
                </a:solidFill>
                <a:latin typeface="DM Sans" pitchFamily="34" charset="0"/>
                <a:ea typeface="DM Sans" pitchFamily="34" charset="-122"/>
                <a:cs typeface="DM Sans" pitchFamily="34" charset="-120"/>
              </a:rPr>
              <a:t>Vision mode reads photos &amp; decodes Malaysian shorthand (CKT → Char Kuey Teow, NL → Nasi Lemak, BKT → Bak Kut Teh). Magic Lens returns bounding boxes for live AR overlays.</a:t>
            </a:r>
            <a:endParaRPr lang="en-US" sz="1050" dirty="0"/>
          </a:p>
        </p:txBody>
      </p:sp>
      <p:sp>
        <p:nvSpPr>
          <p:cNvPr id="50" name="Text 48"/>
          <p:cNvSpPr txBox="1"/>
          <p:nvPr/>
        </p:nvSpPr>
        <p:spPr>
          <a:xfrm>
            <a:off x="6553048" y="1691640"/>
            <a:ext cx="640080" cy="457200"/>
          </a:xfrm>
          <a:prstGeom prst="rect">
            <a:avLst/>
          </a:prstGeom>
          <a:noFill/>
          <a:ln/>
        </p:spPr>
        <p:txBody>
          <a:bodyPr wrap="square" rtlCol="0" anchor="ctr"/>
          <a:lstStyle/>
          <a:p>
            <a:pPr indent="0" marL="0">
              <a:buNone/>
            </a:pPr>
            <a:r>
              <a:rPr lang="en-US" sz="2800" b="1" dirty="0">
                <a:solidFill>
                  <a:srgbClr val="2F5D3A"/>
                </a:solidFill>
                <a:latin typeface="Fraunces" pitchFamily="34" charset="0"/>
                <a:ea typeface="Fraunces" pitchFamily="34" charset="-122"/>
                <a:cs typeface="Fraunces" pitchFamily="34" charset="-120"/>
              </a:rPr>
              <a:t>02</a:t>
            </a:r>
            <a:endParaRPr lang="en-US" sz="2800" dirty="0"/>
          </a:p>
        </p:txBody>
      </p:sp>
      <p:sp>
        <p:nvSpPr>
          <p:cNvPr id="51" name="Text 49"/>
          <p:cNvSpPr txBox="1"/>
          <p:nvPr/>
        </p:nvSpPr>
        <p:spPr>
          <a:xfrm>
            <a:off x="7193128" y="1783080"/>
            <a:ext cx="4572000" cy="365760"/>
          </a:xfrm>
          <a:prstGeom prst="rect">
            <a:avLst/>
          </a:prstGeom>
          <a:noFill/>
          <a:ln/>
        </p:spPr>
        <p:txBody>
          <a:bodyPr wrap="square" rtlCol="0" anchor="ctr"/>
          <a:lstStyle/>
          <a:p>
            <a:pPr indent="0" marL="0">
              <a:buNone/>
            </a:pPr>
            <a:r>
              <a:rPr lang="en-US" sz="1600" b="1" spc="100" kern="0" dirty="0">
                <a:solidFill>
                  <a:srgbClr val="2C1810"/>
                </a:solidFill>
                <a:latin typeface="Fraunces" pitchFamily="34" charset="0"/>
                <a:ea typeface="Fraunces" pitchFamily="34" charset="-122"/>
                <a:cs typeface="Fraunces" pitchFamily="34" charset="-120"/>
              </a:rPr>
              <a:t>GROUNDED KNOWLEDGE</a:t>
            </a:r>
            <a:endParaRPr lang="en-US" sz="1600" dirty="0"/>
          </a:p>
        </p:txBody>
      </p:sp>
      <p:sp>
        <p:nvSpPr>
          <p:cNvPr id="52" name="Shape 50"/>
          <p:cNvSpPr/>
          <p:nvPr/>
        </p:nvSpPr>
        <p:spPr>
          <a:xfrm>
            <a:off x="7193128" y="2404872"/>
            <a:ext cx="548640" cy="768096"/>
          </a:xfrm>
          <a:prstGeom prst="rect">
            <a:avLst/>
          </a:prstGeom>
          <a:solidFill>
            <a:srgbClr val="2F5D3A"/>
          </a:solidFill>
          <a:ln w="9525">
            <a:solidFill>
              <a:srgbClr val="2C1810"/>
            </a:solidFill>
            <a:prstDash val="solid"/>
          </a:ln>
        </p:spPr>
      </p:sp>
      <p:sp>
        <p:nvSpPr>
          <p:cNvPr id="53" name="Shape 51"/>
          <p:cNvSpPr/>
          <p:nvPr/>
        </p:nvSpPr>
        <p:spPr>
          <a:xfrm>
            <a:off x="7741768" y="2404872"/>
            <a:ext cx="548640" cy="768096"/>
          </a:xfrm>
          <a:prstGeom prst="rect">
            <a:avLst/>
          </a:prstGeom>
          <a:solidFill>
            <a:srgbClr val="D4A947"/>
          </a:solidFill>
          <a:ln w="9525">
            <a:solidFill>
              <a:srgbClr val="2C1810"/>
            </a:solidFill>
            <a:prstDash val="solid"/>
          </a:ln>
        </p:spPr>
      </p:sp>
      <p:sp>
        <p:nvSpPr>
          <p:cNvPr id="54" name="Shape 52"/>
          <p:cNvSpPr/>
          <p:nvPr/>
        </p:nvSpPr>
        <p:spPr>
          <a:xfrm>
            <a:off x="7741768" y="2404872"/>
            <a:ext cx="0" cy="768096"/>
          </a:xfrm>
          <a:prstGeom prst="line">
            <a:avLst/>
          </a:prstGeom>
          <a:noFill/>
          <a:ln w="12700">
            <a:solidFill>
              <a:srgbClr val="2C1810"/>
            </a:solidFill>
            <a:prstDash val="solid"/>
          </a:ln>
        </p:spPr>
      </p:sp>
      <p:sp>
        <p:nvSpPr>
          <p:cNvPr id="55" name="Shape 53"/>
          <p:cNvSpPr/>
          <p:nvPr/>
        </p:nvSpPr>
        <p:spPr>
          <a:xfrm>
            <a:off x="6735928" y="3611880"/>
            <a:ext cx="1371600" cy="320040"/>
          </a:xfrm>
          <a:prstGeom prst="roundRect">
            <a:avLst>
              <a:gd name="adj" fmla="val 14286"/>
            </a:avLst>
          </a:prstGeom>
          <a:solidFill>
            <a:srgbClr val="F4ECD8"/>
          </a:solidFill>
          <a:ln w="12700">
            <a:solidFill>
              <a:srgbClr val="8B1E1E"/>
            </a:solidFill>
            <a:prstDash val="solid"/>
          </a:ln>
        </p:spPr>
      </p:sp>
      <p:sp>
        <p:nvSpPr>
          <p:cNvPr id="56" name="Text 54"/>
          <p:cNvSpPr txBox="1"/>
          <p:nvPr/>
        </p:nvSpPr>
        <p:spPr>
          <a:xfrm>
            <a:off x="6735928" y="3611880"/>
            <a:ext cx="1371600" cy="320040"/>
          </a:xfrm>
          <a:prstGeom prst="rect">
            <a:avLst/>
          </a:prstGeom>
          <a:noFill/>
          <a:ln/>
        </p:spPr>
        <p:txBody>
          <a:bodyPr wrap="square" rtlCol="0" anchor="ctr"/>
          <a:lstStyle/>
          <a:p>
            <a:pPr algn="ctr" indent="0" marL="0">
              <a:buNone/>
            </a:pPr>
            <a:r>
              <a:rPr lang="en-US" sz="700" b="1" spc="50" kern="0" dirty="0">
                <a:solidFill>
                  <a:srgbClr val="8B1E1E"/>
                </a:solidFill>
                <a:latin typeface="DM Sans" pitchFamily="34" charset="0"/>
                <a:ea typeface="DM Sans" pitchFamily="34" charset="-122"/>
                <a:cs typeface="DM Sans" pitchFamily="34" charset="-120"/>
              </a:rPr>
              <a:t>sambal · cited</a:t>
            </a:r>
            <a:endParaRPr lang="en-US" sz="700" dirty="0"/>
          </a:p>
        </p:txBody>
      </p:sp>
      <p:sp>
        <p:nvSpPr>
          <p:cNvPr id="57" name="Shape 55"/>
          <p:cNvSpPr/>
          <p:nvPr/>
        </p:nvSpPr>
        <p:spPr>
          <a:xfrm>
            <a:off x="7970368" y="3566160"/>
            <a:ext cx="182880" cy="109728"/>
          </a:xfrm>
          <a:prstGeom prst="rect">
            <a:avLst/>
          </a:prstGeom>
          <a:solidFill>
            <a:srgbClr val="8B1E1E"/>
          </a:solidFill>
          <a:ln/>
        </p:spPr>
      </p:sp>
      <p:sp>
        <p:nvSpPr>
          <p:cNvPr id="58" name="Text 56"/>
          <p:cNvSpPr txBox="1"/>
          <p:nvPr/>
        </p:nvSpPr>
        <p:spPr>
          <a:xfrm>
            <a:off x="7970368" y="3566160"/>
            <a:ext cx="182880" cy="109728"/>
          </a:xfrm>
          <a:prstGeom prst="rect">
            <a:avLst/>
          </a:prstGeom>
          <a:noFill/>
          <a:ln/>
        </p:spPr>
        <p:txBody>
          <a:bodyPr wrap="square" rtlCol="0" anchor="ctr"/>
          <a:lstStyle/>
          <a:p>
            <a:pPr algn="ctr" indent="0" marL="0">
              <a:buNone/>
            </a:pPr>
            <a:r>
              <a:rPr lang="en-US" sz="600" dirty="0">
                <a:solidFill>
                  <a:srgbClr val="F4ECD8"/>
                </a:solidFill>
                <a:latin typeface="DM Sans" pitchFamily="34" charset="0"/>
                <a:ea typeface="DM Sans" pitchFamily="34" charset="-122"/>
                <a:cs typeface="DM Sans" pitchFamily="34" charset="-120"/>
              </a:rPr>
              <a:t>©</a:t>
            </a:r>
            <a:endParaRPr lang="en-US" sz="600" dirty="0"/>
          </a:p>
        </p:txBody>
      </p:sp>
      <p:sp>
        <p:nvSpPr>
          <p:cNvPr id="59" name="Shape 57"/>
          <p:cNvSpPr/>
          <p:nvPr/>
        </p:nvSpPr>
        <p:spPr>
          <a:xfrm>
            <a:off x="8747608" y="3703320"/>
            <a:ext cx="1371600" cy="320040"/>
          </a:xfrm>
          <a:prstGeom prst="roundRect">
            <a:avLst>
              <a:gd name="adj" fmla="val 14286"/>
            </a:avLst>
          </a:prstGeom>
          <a:solidFill>
            <a:srgbClr val="F4ECD8"/>
          </a:solidFill>
          <a:ln w="12700">
            <a:solidFill>
              <a:srgbClr val="2F5D3A"/>
            </a:solidFill>
            <a:prstDash val="solid"/>
          </a:ln>
        </p:spPr>
      </p:sp>
      <p:sp>
        <p:nvSpPr>
          <p:cNvPr id="60" name="Text 58"/>
          <p:cNvSpPr txBox="1"/>
          <p:nvPr/>
        </p:nvSpPr>
        <p:spPr>
          <a:xfrm>
            <a:off x="8747608" y="3703320"/>
            <a:ext cx="1371600" cy="320040"/>
          </a:xfrm>
          <a:prstGeom prst="rect">
            <a:avLst/>
          </a:prstGeom>
          <a:noFill/>
          <a:ln/>
        </p:spPr>
        <p:txBody>
          <a:bodyPr wrap="square" rtlCol="0" anchor="ctr"/>
          <a:lstStyle/>
          <a:p>
            <a:pPr algn="ctr" indent="0" marL="0">
              <a:buNone/>
            </a:pPr>
            <a:r>
              <a:rPr lang="en-US" sz="700" b="1" spc="50" kern="0" dirty="0">
                <a:solidFill>
                  <a:srgbClr val="2F5D3A"/>
                </a:solidFill>
                <a:latin typeface="DM Sans" pitchFamily="34" charset="0"/>
                <a:ea typeface="DM Sans" pitchFamily="34" charset="-122"/>
                <a:cs typeface="DM Sans" pitchFamily="34" charset="-120"/>
              </a:rPr>
              <a:t>cockles · cited</a:t>
            </a:r>
            <a:endParaRPr lang="en-US" sz="700" dirty="0"/>
          </a:p>
        </p:txBody>
      </p:sp>
      <p:sp>
        <p:nvSpPr>
          <p:cNvPr id="61" name="Shape 59"/>
          <p:cNvSpPr/>
          <p:nvPr/>
        </p:nvSpPr>
        <p:spPr>
          <a:xfrm>
            <a:off x="9982048" y="3657600"/>
            <a:ext cx="182880" cy="109728"/>
          </a:xfrm>
          <a:prstGeom prst="rect">
            <a:avLst/>
          </a:prstGeom>
          <a:solidFill>
            <a:srgbClr val="2F5D3A"/>
          </a:solidFill>
          <a:ln/>
        </p:spPr>
      </p:sp>
      <p:sp>
        <p:nvSpPr>
          <p:cNvPr id="62" name="Text 60"/>
          <p:cNvSpPr txBox="1"/>
          <p:nvPr/>
        </p:nvSpPr>
        <p:spPr>
          <a:xfrm>
            <a:off x="9982048" y="3657600"/>
            <a:ext cx="182880" cy="109728"/>
          </a:xfrm>
          <a:prstGeom prst="rect">
            <a:avLst/>
          </a:prstGeom>
          <a:noFill/>
          <a:ln/>
        </p:spPr>
        <p:txBody>
          <a:bodyPr wrap="square" rtlCol="0" anchor="ctr"/>
          <a:lstStyle/>
          <a:p>
            <a:pPr algn="ctr" indent="0" marL="0">
              <a:buNone/>
            </a:pPr>
            <a:r>
              <a:rPr lang="en-US" sz="600" dirty="0">
                <a:solidFill>
                  <a:srgbClr val="F4ECD8"/>
                </a:solidFill>
                <a:latin typeface="DM Sans" pitchFamily="34" charset="0"/>
                <a:ea typeface="DM Sans" pitchFamily="34" charset="-122"/>
                <a:cs typeface="DM Sans" pitchFamily="34" charset="-120"/>
              </a:rPr>
              <a:t>©</a:t>
            </a:r>
            <a:endParaRPr lang="en-US" sz="600" dirty="0"/>
          </a:p>
        </p:txBody>
      </p:sp>
      <p:sp>
        <p:nvSpPr>
          <p:cNvPr id="63" name="Shape 61"/>
          <p:cNvSpPr/>
          <p:nvPr/>
        </p:nvSpPr>
        <p:spPr>
          <a:xfrm>
            <a:off x="7741768" y="4069080"/>
            <a:ext cx="1371600" cy="320040"/>
          </a:xfrm>
          <a:prstGeom prst="roundRect">
            <a:avLst>
              <a:gd name="adj" fmla="val 14286"/>
            </a:avLst>
          </a:prstGeom>
          <a:solidFill>
            <a:srgbClr val="F4ECD8"/>
          </a:solidFill>
          <a:ln w="12700">
            <a:solidFill>
              <a:srgbClr val="B8902F"/>
            </a:solidFill>
            <a:prstDash val="solid"/>
          </a:ln>
        </p:spPr>
      </p:sp>
      <p:sp>
        <p:nvSpPr>
          <p:cNvPr id="64" name="Text 62"/>
          <p:cNvSpPr txBox="1"/>
          <p:nvPr/>
        </p:nvSpPr>
        <p:spPr>
          <a:xfrm>
            <a:off x="7741768" y="4069080"/>
            <a:ext cx="1371600" cy="320040"/>
          </a:xfrm>
          <a:prstGeom prst="rect">
            <a:avLst/>
          </a:prstGeom>
          <a:noFill/>
          <a:ln/>
        </p:spPr>
        <p:txBody>
          <a:bodyPr wrap="square" rtlCol="0" anchor="ctr"/>
          <a:lstStyle/>
          <a:p>
            <a:pPr algn="ctr" indent="0" marL="0">
              <a:buNone/>
            </a:pPr>
            <a:r>
              <a:rPr lang="en-US" sz="700" b="1" spc="50" kern="0" dirty="0">
                <a:solidFill>
                  <a:srgbClr val="B8902F"/>
                </a:solidFill>
                <a:latin typeface="DM Sans" pitchFamily="34" charset="0"/>
                <a:ea typeface="DM Sans" pitchFamily="34" charset="-122"/>
                <a:cs typeface="DM Sans" pitchFamily="34" charset="-120"/>
              </a:rPr>
              <a:t>pork lard · cited</a:t>
            </a:r>
            <a:endParaRPr lang="en-US" sz="700" dirty="0"/>
          </a:p>
        </p:txBody>
      </p:sp>
      <p:sp>
        <p:nvSpPr>
          <p:cNvPr id="65" name="Shape 63"/>
          <p:cNvSpPr/>
          <p:nvPr/>
        </p:nvSpPr>
        <p:spPr>
          <a:xfrm>
            <a:off x="8976208" y="4023360"/>
            <a:ext cx="182880" cy="109728"/>
          </a:xfrm>
          <a:prstGeom prst="rect">
            <a:avLst/>
          </a:prstGeom>
          <a:solidFill>
            <a:srgbClr val="B8902F"/>
          </a:solidFill>
          <a:ln/>
        </p:spPr>
      </p:sp>
      <p:sp>
        <p:nvSpPr>
          <p:cNvPr id="66" name="Text 64"/>
          <p:cNvSpPr txBox="1"/>
          <p:nvPr/>
        </p:nvSpPr>
        <p:spPr>
          <a:xfrm>
            <a:off x="8976208" y="4023360"/>
            <a:ext cx="182880" cy="109728"/>
          </a:xfrm>
          <a:prstGeom prst="rect">
            <a:avLst/>
          </a:prstGeom>
          <a:noFill/>
          <a:ln/>
        </p:spPr>
        <p:txBody>
          <a:bodyPr wrap="square" rtlCol="0" anchor="ctr"/>
          <a:lstStyle/>
          <a:p>
            <a:pPr algn="ctr" indent="0" marL="0">
              <a:buNone/>
            </a:pPr>
            <a:r>
              <a:rPr lang="en-US" sz="600" dirty="0">
                <a:solidFill>
                  <a:srgbClr val="F4ECD8"/>
                </a:solidFill>
                <a:latin typeface="DM Sans" pitchFamily="34" charset="0"/>
                <a:ea typeface="DM Sans" pitchFamily="34" charset="-122"/>
                <a:cs typeface="DM Sans" pitchFamily="34" charset="-120"/>
              </a:rPr>
              <a:t>©</a:t>
            </a:r>
            <a:endParaRPr lang="en-US" sz="600" dirty="0"/>
          </a:p>
        </p:txBody>
      </p:sp>
      <p:sp>
        <p:nvSpPr>
          <p:cNvPr id="67" name="Shape 65"/>
          <p:cNvSpPr/>
          <p:nvPr/>
        </p:nvSpPr>
        <p:spPr>
          <a:xfrm>
            <a:off x="7010248" y="4434840"/>
            <a:ext cx="1371600" cy="320040"/>
          </a:xfrm>
          <a:prstGeom prst="roundRect">
            <a:avLst>
              <a:gd name="adj" fmla="val 14286"/>
            </a:avLst>
          </a:prstGeom>
          <a:solidFill>
            <a:srgbClr val="F4ECD8"/>
          </a:solidFill>
          <a:ln w="12700">
            <a:solidFill>
              <a:srgbClr val="B83A3A"/>
            </a:solidFill>
            <a:prstDash val="solid"/>
          </a:ln>
        </p:spPr>
      </p:sp>
      <p:sp>
        <p:nvSpPr>
          <p:cNvPr id="68" name="Text 66"/>
          <p:cNvSpPr txBox="1"/>
          <p:nvPr/>
        </p:nvSpPr>
        <p:spPr>
          <a:xfrm>
            <a:off x="7010248" y="4434840"/>
            <a:ext cx="1371600" cy="320040"/>
          </a:xfrm>
          <a:prstGeom prst="rect">
            <a:avLst/>
          </a:prstGeom>
          <a:noFill/>
          <a:ln/>
        </p:spPr>
        <p:txBody>
          <a:bodyPr wrap="square" rtlCol="0" anchor="ctr"/>
          <a:lstStyle/>
          <a:p>
            <a:pPr algn="ctr" indent="0" marL="0">
              <a:buNone/>
            </a:pPr>
            <a:r>
              <a:rPr lang="en-US" sz="700" b="1" spc="50" kern="0" dirty="0">
                <a:solidFill>
                  <a:srgbClr val="B83A3A"/>
                </a:solidFill>
                <a:latin typeface="DM Sans" pitchFamily="34" charset="0"/>
                <a:ea typeface="DM Sans" pitchFamily="34" charset="-122"/>
                <a:cs typeface="DM Sans" pitchFamily="34" charset="-120"/>
              </a:rPr>
              <a:t>shrimp paste · cited</a:t>
            </a:r>
            <a:endParaRPr lang="en-US" sz="700" dirty="0"/>
          </a:p>
        </p:txBody>
      </p:sp>
      <p:sp>
        <p:nvSpPr>
          <p:cNvPr id="69" name="Shape 67"/>
          <p:cNvSpPr/>
          <p:nvPr/>
        </p:nvSpPr>
        <p:spPr>
          <a:xfrm>
            <a:off x="8244688" y="4389120"/>
            <a:ext cx="182880" cy="109728"/>
          </a:xfrm>
          <a:prstGeom prst="rect">
            <a:avLst/>
          </a:prstGeom>
          <a:solidFill>
            <a:srgbClr val="B83A3A"/>
          </a:solidFill>
          <a:ln/>
        </p:spPr>
      </p:sp>
      <p:sp>
        <p:nvSpPr>
          <p:cNvPr id="70" name="Text 68"/>
          <p:cNvSpPr txBox="1"/>
          <p:nvPr/>
        </p:nvSpPr>
        <p:spPr>
          <a:xfrm>
            <a:off x="8244688" y="4389120"/>
            <a:ext cx="182880" cy="109728"/>
          </a:xfrm>
          <a:prstGeom prst="rect">
            <a:avLst/>
          </a:prstGeom>
          <a:noFill/>
          <a:ln/>
        </p:spPr>
        <p:txBody>
          <a:bodyPr wrap="square" rtlCol="0" anchor="ctr"/>
          <a:lstStyle/>
          <a:p>
            <a:pPr algn="ctr" indent="0" marL="0">
              <a:buNone/>
            </a:pPr>
            <a:r>
              <a:rPr lang="en-US" sz="600" dirty="0">
                <a:solidFill>
                  <a:srgbClr val="F4ECD8"/>
                </a:solidFill>
                <a:latin typeface="DM Sans" pitchFamily="34" charset="0"/>
                <a:ea typeface="DM Sans" pitchFamily="34" charset="-122"/>
                <a:cs typeface="DM Sans" pitchFamily="34" charset="-120"/>
              </a:rPr>
              <a:t>©</a:t>
            </a:r>
            <a:endParaRPr lang="en-US" sz="600" dirty="0"/>
          </a:p>
        </p:txBody>
      </p:sp>
      <p:sp>
        <p:nvSpPr>
          <p:cNvPr id="71" name="Shape 69"/>
          <p:cNvSpPr/>
          <p:nvPr/>
        </p:nvSpPr>
        <p:spPr>
          <a:xfrm>
            <a:off x="8930488" y="4526280"/>
            <a:ext cx="1371600" cy="320040"/>
          </a:xfrm>
          <a:prstGeom prst="roundRect">
            <a:avLst>
              <a:gd name="adj" fmla="val 14286"/>
            </a:avLst>
          </a:prstGeom>
          <a:solidFill>
            <a:srgbClr val="F4ECD8"/>
          </a:solidFill>
          <a:ln w="12700">
            <a:solidFill>
              <a:srgbClr val="4A7C59"/>
            </a:solidFill>
            <a:prstDash val="solid"/>
          </a:ln>
        </p:spPr>
      </p:sp>
      <p:sp>
        <p:nvSpPr>
          <p:cNvPr id="72" name="Text 70"/>
          <p:cNvSpPr txBox="1"/>
          <p:nvPr/>
        </p:nvSpPr>
        <p:spPr>
          <a:xfrm>
            <a:off x="8930488" y="4526280"/>
            <a:ext cx="1371600" cy="320040"/>
          </a:xfrm>
          <a:prstGeom prst="rect">
            <a:avLst/>
          </a:prstGeom>
          <a:noFill/>
          <a:ln/>
        </p:spPr>
        <p:txBody>
          <a:bodyPr wrap="square" rtlCol="0" anchor="ctr"/>
          <a:lstStyle/>
          <a:p>
            <a:pPr algn="ctr" indent="0" marL="0">
              <a:buNone/>
            </a:pPr>
            <a:r>
              <a:rPr lang="en-US" sz="700" b="1" spc="50" kern="0" dirty="0">
                <a:solidFill>
                  <a:srgbClr val="4A7C59"/>
                </a:solidFill>
                <a:latin typeface="DM Sans" pitchFamily="34" charset="0"/>
                <a:ea typeface="DM Sans" pitchFamily="34" charset="-122"/>
                <a:cs typeface="DM Sans" pitchFamily="34" charset="-120"/>
              </a:rPr>
              <a:t>turmeric · cited</a:t>
            </a:r>
            <a:endParaRPr lang="en-US" sz="700" dirty="0"/>
          </a:p>
        </p:txBody>
      </p:sp>
      <p:sp>
        <p:nvSpPr>
          <p:cNvPr id="73" name="Shape 71"/>
          <p:cNvSpPr/>
          <p:nvPr/>
        </p:nvSpPr>
        <p:spPr>
          <a:xfrm>
            <a:off x="10164928" y="4480560"/>
            <a:ext cx="182880" cy="109728"/>
          </a:xfrm>
          <a:prstGeom prst="rect">
            <a:avLst/>
          </a:prstGeom>
          <a:solidFill>
            <a:srgbClr val="4A7C59"/>
          </a:solidFill>
          <a:ln/>
        </p:spPr>
      </p:sp>
      <p:sp>
        <p:nvSpPr>
          <p:cNvPr id="74" name="Text 72"/>
          <p:cNvSpPr txBox="1"/>
          <p:nvPr/>
        </p:nvSpPr>
        <p:spPr>
          <a:xfrm>
            <a:off x="10164928" y="4480560"/>
            <a:ext cx="182880" cy="109728"/>
          </a:xfrm>
          <a:prstGeom prst="rect">
            <a:avLst/>
          </a:prstGeom>
          <a:noFill/>
          <a:ln/>
        </p:spPr>
        <p:txBody>
          <a:bodyPr wrap="square" rtlCol="0" anchor="ctr"/>
          <a:lstStyle/>
          <a:p>
            <a:pPr algn="ctr" indent="0" marL="0">
              <a:buNone/>
            </a:pPr>
            <a:r>
              <a:rPr lang="en-US" sz="600" dirty="0">
                <a:solidFill>
                  <a:srgbClr val="F4ECD8"/>
                </a:solidFill>
                <a:latin typeface="DM Sans" pitchFamily="34" charset="0"/>
                <a:ea typeface="DM Sans" pitchFamily="34" charset="-122"/>
                <a:cs typeface="DM Sans" pitchFamily="34" charset="-120"/>
              </a:rPr>
              <a:t>©</a:t>
            </a:r>
            <a:endParaRPr lang="en-US" sz="600" dirty="0"/>
          </a:p>
        </p:txBody>
      </p:sp>
      <p:sp>
        <p:nvSpPr>
          <p:cNvPr id="75" name="Text 73"/>
          <p:cNvSpPr txBox="1"/>
          <p:nvPr/>
        </p:nvSpPr>
        <p:spPr>
          <a:xfrm>
            <a:off x="6553048" y="5074920"/>
            <a:ext cx="5212080" cy="1005840"/>
          </a:xfrm>
          <a:prstGeom prst="rect">
            <a:avLst/>
          </a:prstGeom>
          <a:noFill/>
          <a:ln/>
        </p:spPr>
        <p:txBody>
          <a:bodyPr wrap="square" rtlCol="0" anchor="ctr"/>
          <a:lstStyle/>
          <a:p>
            <a:pPr indent="0" marL="0">
              <a:lnSpc>
                <a:spcPct val="120000"/>
              </a:lnSpc>
              <a:buNone/>
            </a:pPr>
            <a:r>
              <a:rPr lang="en-US" sz="1050" dirty="0">
                <a:solidFill>
                  <a:srgbClr val="2C1810"/>
                </a:solidFill>
                <a:latin typeface="DM Sans" pitchFamily="34" charset="0"/>
                <a:ea typeface="DM Sans" pitchFamily="34" charset="-122"/>
                <a:cs typeface="DM Sans" pitchFamily="34" charset="-120"/>
              </a:rPr>
              <a:t>Heritage RAG runs Tavily web search for every ingredient, injects real sources into Gemini, and returns cultural backstories with attribution. Migration mode reconstructs how each dish traveled to Malaysia.</a:t>
            </a:r>
            <a:endParaRPr lang="en-US" sz="1050" dirty="0"/>
          </a:p>
        </p:txBody>
      </p:sp>
      <p:sp>
        <p:nvSpPr>
          <p:cNvPr id="76" name="Text 74"/>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77" name="Text 75"/>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( 03 )</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9997135" y="502920"/>
            <a:ext cx="1463040" cy="411480"/>
          </a:xfrm>
          <a:prstGeom prst="roundRect">
            <a:avLst>
              <a:gd name="adj" fmla="val 22222"/>
            </a:avLst>
          </a:prstGeom>
          <a:solidFill>
            <a:srgbClr val="8B1E1E"/>
          </a:solidFill>
          <a:ln w="12700">
            <a:solidFill>
              <a:srgbClr val="2C1810"/>
            </a:solidFill>
            <a:prstDash val="solid"/>
          </a:ln>
        </p:spPr>
      </p:sp>
      <p:sp>
        <p:nvSpPr>
          <p:cNvPr id="26" name="Text 24"/>
          <p:cNvSpPr txBox="1"/>
          <p:nvPr/>
        </p:nvSpPr>
        <p:spPr>
          <a:xfrm>
            <a:off x="9997135" y="502920"/>
            <a:ext cx="1463040" cy="411480"/>
          </a:xfrm>
          <a:prstGeom prst="rect">
            <a:avLst/>
          </a:prstGeom>
          <a:noFill/>
          <a:ln/>
        </p:spPr>
        <p:txBody>
          <a:bodyPr wrap="square" rtlCol="0" anchor="ctr"/>
          <a:lstStyle/>
          <a:p>
            <a:pPr algn="ctr" indent="0" marL="0">
              <a:buNone/>
            </a:pPr>
            <a:r>
              <a:rPr lang="en-US" sz="1400" b="1" spc="200" kern="0" dirty="0">
                <a:solidFill>
                  <a:srgbClr val="F4ECD8"/>
                </a:solidFill>
                <a:latin typeface="Fraunces" pitchFamily="34" charset="0"/>
                <a:ea typeface="Fraunces" pitchFamily="34" charset="-122"/>
                <a:cs typeface="Fraunces" pitchFamily="34" charset="-120"/>
              </a:rPr>
              <a:t>★ DEMO</a:t>
            </a:r>
            <a:endParaRPr lang="en-US" sz="1400" dirty="0"/>
          </a:p>
        </p:txBody>
      </p:sp>
      <p:sp>
        <p:nvSpPr>
          <p:cNvPr id="27" name="Text 25"/>
          <p:cNvSpPr txBox="1"/>
          <p:nvPr/>
        </p:nvSpPr>
        <p:spPr>
          <a:xfrm>
            <a:off x="548640" y="548640"/>
            <a:ext cx="7315200"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MAGIC LENS</a:t>
            </a:r>
            <a:endParaRPr lang="en-US" sz="4000" dirty="0"/>
          </a:p>
        </p:txBody>
      </p:sp>
      <p:sp>
        <p:nvSpPr>
          <p:cNvPr id="28" name="Text 26"/>
          <p:cNvSpPr txBox="1"/>
          <p:nvPr/>
        </p:nvSpPr>
        <p:spPr>
          <a:xfrm>
            <a:off x="502920" y="502920"/>
            <a:ext cx="7315200"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MAGIC LENS</a:t>
            </a:r>
            <a:endParaRPr lang="en-US" sz="4000" dirty="0"/>
          </a:p>
        </p:txBody>
      </p:sp>
      <p:sp>
        <p:nvSpPr>
          <p:cNvPr id="29" name="Text 27"/>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ALLERGEN OVERLAYS · HALAL &amp; SAFETY BADGES</a:t>
            </a:r>
            <a:endParaRPr lang="en-US" sz="1100" dirty="0"/>
          </a:p>
        </p:txBody>
      </p:sp>
      <p:sp>
        <p:nvSpPr>
          <p:cNvPr id="30" name="Shape 28"/>
          <p:cNvSpPr/>
          <p:nvPr/>
        </p:nvSpPr>
        <p:spPr>
          <a:xfrm>
            <a:off x="4297680" y="1783080"/>
            <a:ext cx="3657600" cy="4206240"/>
          </a:xfrm>
          <a:prstGeom prst="roundRect">
            <a:avLst>
              <a:gd name="adj" fmla="val 3500"/>
            </a:avLst>
          </a:prstGeom>
          <a:solidFill>
            <a:srgbClr val="2C1810"/>
          </a:solidFill>
          <a:ln w="12700">
            <a:solidFill>
              <a:srgbClr val="2C1810"/>
            </a:solidFill>
            <a:prstDash val="solid"/>
          </a:ln>
        </p:spPr>
      </p:sp>
      <p:sp>
        <p:nvSpPr>
          <p:cNvPr id="31" name="Shape 29"/>
          <p:cNvSpPr/>
          <p:nvPr/>
        </p:nvSpPr>
        <p:spPr>
          <a:xfrm>
            <a:off x="4361688" y="1847088"/>
            <a:ext cx="3529584" cy="4078224"/>
          </a:xfrm>
          <a:prstGeom prst="roundRect">
            <a:avLst>
              <a:gd name="adj" fmla="val 2073"/>
            </a:avLst>
          </a:prstGeom>
          <a:solidFill>
            <a:srgbClr val="F4ECD8"/>
          </a:solidFill>
          <a:ln w="6350">
            <a:solidFill>
              <a:srgbClr val="C4A882"/>
            </a:solidFill>
            <a:prstDash val="solid"/>
          </a:ln>
        </p:spPr>
      </p:sp>
      <p:sp>
        <p:nvSpPr>
          <p:cNvPr id="32" name="Shape 30"/>
          <p:cNvSpPr/>
          <p:nvPr/>
        </p:nvSpPr>
        <p:spPr>
          <a:xfrm>
            <a:off x="5961888" y="1819656"/>
            <a:ext cx="329184" cy="54864"/>
          </a:xfrm>
          <a:prstGeom prst="roundRect">
            <a:avLst>
              <a:gd name="adj" fmla="val 50000"/>
            </a:avLst>
          </a:prstGeom>
          <a:solidFill>
            <a:srgbClr val="2C1810"/>
          </a:solidFill>
          <a:ln/>
        </p:spPr>
      </p:sp>
      <p:sp>
        <p:nvSpPr>
          <p:cNvPr id="33" name="Shape 31"/>
          <p:cNvSpPr/>
          <p:nvPr/>
        </p:nvSpPr>
        <p:spPr>
          <a:xfrm>
            <a:off x="4462272" y="2148840"/>
            <a:ext cx="3328416" cy="3657600"/>
          </a:xfrm>
          <a:prstGeom prst="rect">
            <a:avLst/>
          </a:prstGeom>
          <a:solidFill>
            <a:srgbClr val="F4ECD8"/>
          </a:solidFill>
          <a:ln w="6350">
            <a:solidFill>
              <a:srgbClr val="C4A882"/>
            </a:solidFill>
            <a:prstDash val="solid"/>
          </a:ln>
        </p:spPr>
      </p:sp>
      <p:sp>
        <p:nvSpPr>
          <p:cNvPr id="34" name="Text 32"/>
          <p:cNvSpPr txBox="1"/>
          <p:nvPr/>
        </p:nvSpPr>
        <p:spPr>
          <a:xfrm>
            <a:off x="4462272" y="2194560"/>
            <a:ext cx="3328416" cy="274320"/>
          </a:xfrm>
          <a:prstGeom prst="rect">
            <a:avLst/>
          </a:prstGeom>
          <a:noFill/>
          <a:ln/>
        </p:spPr>
        <p:txBody>
          <a:bodyPr wrap="square" rtlCol="0" anchor="ctr"/>
          <a:lstStyle/>
          <a:p>
            <a:pPr algn="ctr" indent="0" marL="0">
              <a:buNone/>
            </a:pPr>
            <a:r>
              <a:rPr lang="en-US" sz="1000" b="1" dirty="0">
                <a:solidFill>
                  <a:srgbClr val="8B1E1E"/>
                </a:solidFill>
                <a:latin typeface="Fraunces" pitchFamily="34" charset="0"/>
                <a:ea typeface="Fraunces" pitchFamily="34" charset="-122"/>
                <a:cs typeface="Fraunces" pitchFamily="34" charset="-120"/>
              </a:rPr>
              <a:t>MAKAN MAKAN STALL</a:t>
            </a:r>
            <a:endParaRPr lang="en-US" sz="1000" dirty="0"/>
          </a:p>
        </p:txBody>
      </p:sp>
      <p:sp>
        <p:nvSpPr>
          <p:cNvPr id="35" name="Shape 33"/>
          <p:cNvSpPr/>
          <p:nvPr/>
        </p:nvSpPr>
        <p:spPr>
          <a:xfrm>
            <a:off x="4754880" y="2496312"/>
            <a:ext cx="2743200" cy="0"/>
          </a:xfrm>
          <a:prstGeom prst="line">
            <a:avLst/>
          </a:prstGeom>
          <a:noFill/>
          <a:ln w="9525">
            <a:solidFill>
              <a:srgbClr val="2C1810"/>
            </a:solidFill>
            <a:prstDash val="solid"/>
          </a:ln>
        </p:spPr>
      </p:sp>
      <p:sp>
        <p:nvSpPr>
          <p:cNvPr id="36" name="Shape 34"/>
          <p:cNvSpPr/>
          <p:nvPr/>
        </p:nvSpPr>
        <p:spPr>
          <a:xfrm>
            <a:off x="4590288" y="2651760"/>
            <a:ext cx="3072384" cy="713232"/>
          </a:xfrm>
          <a:prstGeom prst="rect">
            <a:avLst/>
          </a:prstGeom>
          <a:ln w="25400">
            <a:solidFill>
              <a:srgbClr val="B83A3A"/>
            </a:solidFill>
            <a:prstDash val="dash"/>
          </a:ln>
        </p:spPr>
      </p:sp>
      <p:sp>
        <p:nvSpPr>
          <p:cNvPr id="37" name="Shape 35"/>
          <p:cNvSpPr/>
          <p:nvPr/>
        </p:nvSpPr>
        <p:spPr>
          <a:xfrm>
            <a:off x="4754880" y="2926080"/>
            <a:ext cx="1645920" cy="0"/>
          </a:xfrm>
          <a:prstGeom prst="line">
            <a:avLst/>
          </a:prstGeom>
          <a:noFill/>
          <a:ln w="15875">
            <a:solidFill>
              <a:srgbClr val="5B4636"/>
            </a:solidFill>
            <a:prstDash val="solid"/>
          </a:ln>
        </p:spPr>
      </p:sp>
      <p:sp>
        <p:nvSpPr>
          <p:cNvPr id="38" name="Text 36"/>
          <p:cNvSpPr txBox="1"/>
          <p:nvPr/>
        </p:nvSpPr>
        <p:spPr>
          <a:xfrm>
            <a:off x="4754880" y="3035808"/>
            <a:ext cx="1828800" cy="228600"/>
          </a:xfrm>
          <a:prstGeom prst="rect">
            <a:avLst/>
          </a:prstGeom>
          <a:noFill/>
          <a:ln/>
        </p:spPr>
        <p:txBody>
          <a:bodyPr wrap="square" rtlCol="0" anchor="ctr"/>
          <a:lstStyle/>
          <a:p>
            <a:pPr indent="0" marL="0">
              <a:buNone/>
            </a:pPr>
            <a:r>
              <a:rPr lang="en-US" sz="800" b="1" dirty="0">
                <a:solidFill>
                  <a:srgbClr val="2C1810"/>
                </a:solidFill>
                <a:latin typeface="DM Sans" pitchFamily="34" charset="0"/>
                <a:ea typeface="DM Sans" pitchFamily="34" charset="-122"/>
                <a:cs typeface="DM Sans" pitchFamily="34" charset="-120"/>
              </a:rPr>
              <a:t>Char Kuey Teow</a:t>
            </a:r>
            <a:endParaRPr lang="en-US" sz="800" dirty="0"/>
          </a:p>
        </p:txBody>
      </p:sp>
      <p:sp>
        <p:nvSpPr>
          <p:cNvPr id="39" name="Shape 37"/>
          <p:cNvSpPr/>
          <p:nvPr/>
        </p:nvSpPr>
        <p:spPr>
          <a:xfrm>
            <a:off x="7342632" y="2741371"/>
            <a:ext cx="219456" cy="186538"/>
          </a:xfrm>
          <a:prstGeom prst="triangle">
            <a:avLst/>
          </a:prstGeom>
          <a:solidFill>
            <a:srgbClr val="B83A3A"/>
          </a:solidFill>
          <a:ln w="9525">
            <a:solidFill>
              <a:srgbClr val="2C1810"/>
            </a:solidFill>
            <a:prstDash val="solid"/>
          </a:ln>
        </p:spPr>
      </p:sp>
      <p:sp>
        <p:nvSpPr>
          <p:cNvPr id="40" name="Text 38"/>
          <p:cNvSpPr txBox="1"/>
          <p:nvPr/>
        </p:nvSpPr>
        <p:spPr>
          <a:xfrm>
            <a:off x="7342632" y="2779776"/>
            <a:ext cx="219456" cy="131674"/>
          </a:xfrm>
          <a:prstGeom prst="rect">
            <a:avLst/>
          </a:prstGeom>
          <a:noFill/>
          <a:ln/>
        </p:spPr>
        <p:txBody>
          <a:bodyPr wrap="square" rtlCol="0" anchor="ctr"/>
          <a:lstStyle/>
          <a:p>
            <a:pPr algn="ctr" indent="0" marL="0">
              <a:buNone/>
            </a:pPr>
            <a:r>
              <a:rPr lang="en-US" sz="1200" b="1" dirty="0">
                <a:solidFill>
                  <a:srgbClr val="F4ECD8"/>
                </a:solidFill>
                <a:latin typeface="Fraunces" pitchFamily="34" charset="0"/>
                <a:ea typeface="Fraunces" pitchFamily="34" charset="-122"/>
                <a:cs typeface="Fraunces" pitchFamily="34" charset="-120"/>
              </a:rPr>
              <a:t>!</a:t>
            </a:r>
            <a:endParaRPr lang="en-US" sz="1200" dirty="0"/>
          </a:p>
        </p:txBody>
      </p:sp>
      <p:sp>
        <p:nvSpPr>
          <p:cNvPr id="41" name="Shape 39"/>
          <p:cNvSpPr/>
          <p:nvPr/>
        </p:nvSpPr>
        <p:spPr>
          <a:xfrm>
            <a:off x="7068312" y="2779776"/>
            <a:ext cx="219456" cy="109728"/>
          </a:xfrm>
          <a:prstGeom prst="ellipse">
            <a:avLst/>
          </a:prstGeom>
          <a:solidFill>
            <a:srgbClr val="B83A3A"/>
          </a:solidFill>
          <a:ln w="6350">
            <a:solidFill>
              <a:srgbClr val="2C1810"/>
            </a:solidFill>
            <a:prstDash val="solid"/>
          </a:ln>
        </p:spPr>
      </p:sp>
      <p:sp>
        <p:nvSpPr>
          <p:cNvPr id="42" name="Shape 40"/>
          <p:cNvSpPr/>
          <p:nvPr/>
        </p:nvSpPr>
        <p:spPr>
          <a:xfrm>
            <a:off x="7209076" y="2803604"/>
            <a:ext cx="54313" cy="-54313"/>
          </a:xfrm>
          <a:prstGeom prst="line">
            <a:avLst/>
          </a:prstGeom>
          <a:noFill/>
          <a:ln w="12700">
            <a:solidFill>
              <a:srgbClr val="2C1810"/>
            </a:solidFill>
            <a:prstDash val="solid"/>
          </a:ln>
        </p:spPr>
      </p:sp>
      <p:sp>
        <p:nvSpPr>
          <p:cNvPr id="43" name="Shape 41"/>
          <p:cNvSpPr/>
          <p:nvPr/>
        </p:nvSpPr>
        <p:spPr>
          <a:xfrm>
            <a:off x="7209076" y="2865676"/>
            <a:ext cx="54313" cy="54313"/>
          </a:xfrm>
          <a:prstGeom prst="line">
            <a:avLst/>
          </a:prstGeom>
          <a:noFill/>
          <a:ln w="12700">
            <a:solidFill>
              <a:srgbClr val="2C1810"/>
            </a:solidFill>
            <a:prstDash val="solid"/>
          </a:ln>
        </p:spPr>
      </p:sp>
      <p:sp>
        <p:nvSpPr>
          <p:cNvPr id="44" name="Shape 42"/>
          <p:cNvSpPr/>
          <p:nvPr/>
        </p:nvSpPr>
        <p:spPr>
          <a:xfrm>
            <a:off x="7147004" y="2803604"/>
            <a:ext cx="-54313" cy="-54313"/>
          </a:xfrm>
          <a:prstGeom prst="line">
            <a:avLst/>
          </a:prstGeom>
          <a:noFill/>
          <a:ln w="12700">
            <a:solidFill>
              <a:srgbClr val="2C1810"/>
            </a:solidFill>
            <a:prstDash val="solid"/>
          </a:ln>
        </p:spPr>
      </p:sp>
      <p:sp>
        <p:nvSpPr>
          <p:cNvPr id="45" name="Shape 43"/>
          <p:cNvSpPr/>
          <p:nvPr/>
        </p:nvSpPr>
        <p:spPr>
          <a:xfrm>
            <a:off x="7147004" y="2865676"/>
            <a:ext cx="-54313" cy="54313"/>
          </a:xfrm>
          <a:prstGeom prst="line">
            <a:avLst/>
          </a:prstGeom>
          <a:noFill/>
          <a:ln w="12700">
            <a:solidFill>
              <a:srgbClr val="2C1810"/>
            </a:solidFill>
            <a:prstDash val="solid"/>
          </a:ln>
        </p:spPr>
      </p:sp>
      <p:sp>
        <p:nvSpPr>
          <p:cNvPr id="46" name="Shape 44"/>
          <p:cNvSpPr/>
          <p:nvPr/>
        </p:nvSpPr>
        <p:spPr>
          <a:xfrm>
            <a:off x="6583680" y="2697480"/>
            <a:ext cx="457200" cy="182880"/>
          </a:xfrm>
          <a:prstGeom prst="roundRect">
            <a:avLst>
              <a:gd name="adj" fmla="val 20000"/>
            </a:avLst>
          </a:prstGeom>
          <a:solidFill>
            <a:srgbClr val="B83A3A"/>
          </a:solidFill>
          <a:ln w="5080">
            <a:solidFill>
              <a:srgbClr val="2C1810"/>
            </a:solidFill>
            <a:prstDash val="solid"/>
          </a:ln>
        </p:spPr>
      </p:sp>
      <p:sp>
        <p:nvSpPr>
          <p:cNvPr id="47" name="Text 45"/>
          <p:cNvSpPr txBox="1"/>
          <p:nvPr/>
        </p:nvSpPr>
        <p:spPr>
          <a:xfrm>
            <a:off x="6583680" y="2697480"/>
            <a:ext cx="457200" cy="182880"/>
          </a:xfrm>
          <a:prstGeom prst="rect">
            <a:avLst/>
          </a:prstGeom>
          <a:noFill/>
          <a:ln/>
        </p:spPr>
        <p:txBody>
          <a:bodyPr wrap="square" rtlCol="0" anchor="ctr"/>
          <a:lstStyle/>
          <a:p>
            <a:pPr algn="ctr" indent="0" marL="0">
              <a:buNone/>
            </a:pPr>
            <a:r>
              <a:rPr lang="en-US" sz="600" b="1" dirty="0">
                <a:solidFill>
                  <a:srgbClr val="F4ECD8"/>
                </a:solidFill>
                <a:latin typeface="DM Sans" pitchFamily="34" charset="0"/>
                <a:ea typeface="DM Sans" pitchFamily="34" charset="-122"/>
                <a:cs typeface="DM Sans" pitchFamily="34" charset="-120"/>
              </a:rPr>
              <a:t>PORK</a:t>
            </a:r>
            <a:endParaRPr lang="en-US" sz="600" dirty="0"/>
          </a:p>
        </p:txBody>
      </p:sp>
      <p:sp>
        <p:nvSpPr>
          <p:cNvPr id="48" name="Shape 46"/>
          <p:cNvSpPr/>
          <p:nvPr/>
        </p:nvSpPr>
        <p:spPr>
          <a:xfrm>
            <a:off x="4590288" y="3474720"/>
            <a:ext cx="3072384" cy="713232"/>
          </a:xfrm>
          <a:prstGeom prst="rect">
            <a:avLst/>
          </a:prstGeom>
          <a:ln w="25400">
            <a:solidFill>
              <a:srgbClr val="3F7A4A"/>
            </a:solidFill>
            <a:prstDash val="dash"/>
          </a:ln>
        </p:spPr>
      </p:sp>
      <p:sp>
        <p:nvSpPr>
          <p:cNvPr id="49" name="Shape 47"/>
          <p:cNvSpPr/>
          <p:nvPr/>
        </p:nvSpPr>
        <p:spPr>
          <a:xfrm>
            <a:off x="4754880" y="3749040"/>
            <a:ext cx="1645920" cy="0"/>
          </a:xfrm>
          <a:prstGeom prst="line">
            <a:avLst/>
          </a:prstGeom>
          <a:noFill/>
          <a:ln w="15875">
            <a:solidFill>
              <a:srgbClr val="5B4636"/>
            </a:solidFill>
            <a:prstDash val="solid"/>
          </a:ln>
        </p:spPr>
      </p:sp>
      <p:sp>
        <p:nvSpPr>
          <p:cNvPr id="50" name="Text 48"/>
          <p:cNvSpPr txBox="1"/>
          <p:nvPr/>
        </p:nvSpPr>
        <p:spPr>
          <a:xfrm>
            <a:off x="4754880" y="3858768"/>
            <a:ext cx="1828800" cy="228600"/>
          </a:xfrm>
          <a:prstGeom prst="rect">
            <a:avLst/>
          </a:prstGeom>
          <a:noFill/>
          <a:ln/>
        </p:spPr>
        <p:txBody>
          <a:bodyPr wrap="square" rtlCol="0" anchor="ctr"/>
          <a:lstStyle/>
          <a:p>
            <a:pPr indent="0" marL="0">
              <a:buNone/>
            </a:pPr>
            <a:r>
              <a:rPr lang="en-US" sz="800" b="1" dirty="0">
                <a:solidFill>
                  <a:srgbClr val="2C1810"/>
                </a:solidFill>
                <a:latin typeface="DM Sans" pitchFamily="34" charset="0"/>
                <a:ea typeface="DM Sans" pitchFamily="34" charset="-122"/>
                <a:cs typeface="DM Sans" pitchFamily="34" charset="-120"/>
              </a:rPr>
              <a:t>Ayam Goreng</a:t>
            </a:r>
            <a:endParaRPr lang="en-US" sz="800" dirty="0"/>
          </a:p>
        </p:txBody>
      </p:sp>
      <p:sp>
        <p:nvSpPr>
          <p:cNvPr id="51" name="Shape 49"/>
          <p:cNvSpPr/>
          <p:nvPr/>
        </p:nvSpPr>
        <p:spPr>
          <a:xfrm>
            <a:off x="7342632" y="3547872"/>
            <a:ext cx="219456" cy="219456"/>
          </a:xfrm>
          <a:prstGeom prst="ellipse">
            <a:avLst/>
          </a:prstGeom>
          <a:solidFill>
            <a:srgbClr val="3F7A4A"/>
          </a:solidFill>
          <a:ln w="9525">
            <a:solidFill>
              <a:srgbClr val="2C1810"/>
            </a:solidFill>
            <a:prstDash val="solid"/>
          </a:ln>
        </p:spPr>
      </p:sp>
      <p:sp>
        <p:nvSpPr>
          <p:cNvPr id="52" name="Shape 50"/>
          <p:cNvSpPr/>
          <p:nvPr/>
        </p:nvSpPr>
        <p:spPr>
          <a:xfrm>
            <a:off x="7402982" y="3663086"/>
            <a:ext cx="38405" cy="43891"/>
          </a:xfrm>
          <a:prstGeom prst="line">
            <a:avLst/>
          </a:prstGeom>
          <a:noFill/>
          <a:ln w="25400">
            <a:solidFill>
              <a:srgbClr val="F4ECD8"/>
            </a:solidFill>
            <a:prstDash val="solid"/>
          </a:ln>
        </p:spPr>
      </p:sp>
      <p:sp>
        <p:nvSpPr>
          <p:cNvPr id="53" name="Shape 51"/>
          <p:cNvSpPr/>
          <p:nvPr/>
        </p:nvSpPr>
        <p:spPr>
          <a:xfrm>
            <a:off x="7441387" y="3706978"/>
            <a:ext cx="60350" cy="-65837"/>
          </a:xfrm>
          <a:prstGeom prst="line">
            <a:avLst/>
          </a:prstGeom>
          <a:noFill/>
          <a:ln w="25400">
            <a:solidFill>
              <a:srgbClr val="F4ECD8"/>
            </a:solidFill>
            <a:prstDash val="solid"/>
          </a:ln>
        </p:spPr>
      </p:sp>
      <p:sp>
        <p:nvSpPr>
          <p:cNvPr id="54" name="Shape 52"/>
          <p:cNvSpPr/>
          <p:nvPr/>
        </p:nvSpPr>
        <p:spPr>
          <a:xfrm>
            <a:off x="4754880" y="3931920"/>
            <a:ext cx="2377440" cy="201168"/>
          </a:xfrm>
          <a:prstGeom prst="roundRect">
            <a:avLst>
              <a:gd name="adj" fmla="val 18182"/>
            </a:avLst>
          </a:prstGeom>
          <a:solidFill>
            <a:srgbClr val="3F7A4A"/>
          </a:solidFill>
          <a:ln w="5080">
            <a:solidFill>
              <a:srgbClr val="2C1810"/>
            </a:solidFill>
            <a:prstDash val="solid"/>
          </a:ln>
        </p:spPr>
      </p:sp>
      <p:sp>
        <p:nvSpPr>
          <p:cNvPr id="55" name="Text 53"/>
          <p:cNvSpPr txBox="1"/>
          <p:nvPr/>
        </p:nvSpPr>
        <p:spPr>
          <a:xfrm>
            <a:off x="4800600" y="3931920"/>
            <a:ext cx="2286000" cy="201168"/>
          </a:xfrm>
          <a:prstGeom prst="rect">
            <a:avLst/>
          </a:prstGeom>
          <a:noFill/>
          <a:ln/>
        </p:spPr>
        <p:txBody>
          <a:bodyPr wrap="square" rtlCol="0" anchor="ctr"/>
          <a:lstStyle/>
          <a:p>
            <a:pPr algn="ctr" indent="0" marL="0">
              <a:buNone/>
            </a:pPr>
            <a:r>
              <a:rPr lang="en-US" sz="650" b="1" dirty="0">
                <a:solidFill>
                  <a:srgbClr val="F4ECD8"/>
                </a:solidFill>
                <a:latin typeface="DM Sans" pitchFamily="34" charset="0"/>
                <a:ea typeface="DM Sans" pitchFamily="34" charset="-122"/>
                <a:cs typeface="DM Sans" pitchFamily="34" charset="-120"/>
              </a:rPr>
              <a:t>Turmeric-spiced fried chicken</a:t>
            </a:r>
            <a:endParaRPr lang="en-US" sz="650" dirty="0"/>
          </a:p>
        </p:txBody>
      </p:sp>
      <p:sp>
        <p:nvSpPr>
          <p:cNvPr id="56" name="Shape 54"/>
          <p:cNvSpPr/>
          <p:nvPr/>
        </p:nvSpPr>
        <p:spPr>
          <a:xfrm>
            <a:off x="4590288" y="4297680"/>
            <a:ext cx="3072384" cy="713232"/>
          </a:xfrm>
          <a:prstGeom prst="rect">
            <a:avLst/>
          </a:prstGeom>
          <a:ln w="25400">
            <a:solidFill>
              <a:srgbClr val="3F7A4A"/>
            </a:solidFill>
            <a:prstDash val="dash"/>
          </a:ln>
        </p:spPr>
      </p:sp>
      <p:sp>
        <p:nvSpPr>
          <p:cNvPr id="57" name="Shape 55"/>
          <p:cNvSpPr/>
          <p:nvPr/>
        </p:nvSpPr>
        <p:spPr>
          <a:xfrm>
            <a:off x="4754880" y="4572000"/>
            <a:ext cx="1645920" cy="0"/>
          </a:xfrm>
          <a:prstGeom prst="line">
            <a:avLst/>
          </a:prstGeom>
          <a:noFill/>
          <a:ln w="15875">
            <a:solidFill>
              <a:srgbClr val="5B4636"/>
            </a:solidFill>
            <a:prstDash val="solid"/>
          </a:ln>
        </p:spPr>
      </p:sp>
      <p:sp>
        <p:nvSpPr>
          <p:cNvPr id="58" name="Text 56"/>
          <p:cNvSpPr txBox="1"/>
          <p:nvPr/>
        </p:nvSpPr>
        <p:spPr>
          <a:xfrm>
            <a:off x="4754880" y="4681728"/>
            <a:ext cx="1828800" cy="228600"/>
          </a:xfrm>
          <a:prstGeom prst="rect">
            <a:avLst/>
          </a:prstGeom>
          <a:noFill/>
          <a:ln/>
        </p:spPr>
        <p:txBody>
          <a:bodyPr wrap="square" rtlCol="0" anchor="ctr"/>
          <a:lstStyle/>
          <a:p>
            <a:pPr indent="0" marL="0">
              <a:buNone/>
            </a:pPr>
            <a:r>
              <a:rPr lang="en-US" sz="800" b="1" dirty="0">
                <a:solidFill>
                  <a:srgbClr val="2C1810"/>
                </a:solidFill>
                <a:latin typeface="DM Sans" pitchFamily="34" charset="0"/>
                <a:ea typeface="DM Sans" pitchFamily="34" charset="-122"/>
                <a:cs typeface="DM Sans" pitchFamily="34" charset="-120"/>
              </a:rPr>
              <a:t>Nasi Lemak</a:t>
            </a:r>
            <a:endParaRPr lang="en-US" sz="800" dirty="0"/>
          </a:p>
        </p:txBody>
      </p:sp>
      <p:sp>
        <p:nvSpPr>
          <p:cNvPr id="59" name="Shape 57"/>
          <p:cNvSpPr/>
          <p:nvPr/>
        </p:nvSpPr>
        <p:spPr>
          <a:xfrm>
            <a:off x="7342632" y="4370832"/>
            <a:ext cx="219456" cy="219456"/>
          </a:xfrm>
          <a:prstGeom prst="ellipse">
            <a:avLst/>
          </a:prstGeom>
          <a:solidFill>
            <a:srgbClr val="3F7A4A"/>
          </a:solidFill>
          <a:ln w="9525">
            <a:solidFill>
              <a:srgbClr val="2C1810"/>
            </a:solidFill>
            <a:prstDash val="solid"/>
          </a:ln>
        </p:spPr>
      </p:sp>
      <p:sp>
        <p:nvSpPr>
          <p:cNvPr id="60" name="Shape 58"/>
          <p:cNvSpPr/>
          <p:nvPr/>
        </p:nvSpPr>
        <p:spPr>
          <a:xfrm>
            <a:off x="7402982" y="4486046"/>
            <a:ext cx="38405" cy="43891"/>
          </a:xfrm>
          <a:prstGeom prst="line">
            <a:avLst/>
          </a:prstGeom>
          <a:noFill/>
          <a:ln w="25400">
            <a:solidFill>
              <a:srgbClr val="F4ECD8"/>
            </a:solidFill>
            <a:prstDash val="solid"/>
          </a:ln>
        </p:spPr>
      </p:sp>
      <p:sp>
        <p:nvSpPr>
          <p:cNvPr id="61" name="Shape 59"/>
          <p:cNvSpPr/>
          <p:nvPr/>
        </p:nvSpPr>
        <p:spPr>
          <a:xfrm>
            <a:off x="7441387" y="4529938"/>
            <a:ext cx="60350" cy="-65837"/>
          </a:xfrm>
          <a:prstGeom prst="line">
            <a:avLst/>
          </a:prstGeom>
          <a:noFill/>
          <a:ln w="25400">
            <a:solidFill>
              <a:srgbClr val="F4ECD8"/>
            </a:solidFill>
            <a:prstDash val="solid"/>
          </a:ln>
        </p:spPr>
      </p:sp>
      <p:sp>
        <p:nvSpPr>
          <p:cNvPr id="62" name="Shape 60"/>
          <p:cNvSpPr/>
          <p:nvPr/>
        </p:nvSpPr>
        <p:spPr>
          <a:xfrm>
            <a:off x="4590288" y="5120640"/>
            <a:ext cx="3072384" cy="713232"/>
          </a:xfrm>
          <a:prstGeom prst="rect">
            <a:avLst/>
          </a:prstGeom>
          <a:ln w="25400">
            <a:solidFill>
              <a:srgbClr val="B83A3A"/>
            </a:solidFill>
            <a:prstDash val="dash"/>
          </a:ln>
        </p:spPr>
      </p:sp>
      <p:sp>
        <p:nvSpPr>
          <p:cNvPr id="63" name="Shape 61"/>
          <p:cNvSpPr/>
          <p:nvPr/>
        </p:nvSpPr>
        <p:spPr>
          <a:xfrm>
            <a:off x="4754880" y="5394960"/>
            <a:ext cx="1645920" cy="0"/>
          </a:xfrm>
          <a:prstGeom prst="line">
            <a:avLst/>
          </a:prstGeom>
          <a:noFill/>
          <a:ln w="15875">
            <a:solidFill>
              <a:srgbClr val="5B4636"/>
            </a:solidFill>
            <a:prstDash val="solid"/>
          </a:ln>
        </p:spPr>
      </p:sp>
      <p:sp>
        <p:nvSpPr>
          <p:cNvPr id="64" name="Text 62"/>
          <p:cNvSpPr txBox="1"/>
          <p:nvPr/>
        </p:nvSpPr>
        <p:spPr>
          <a:xfrm>
            <a:off x="4754880" y="5504688"/>
            <a:ext cx="1828800" cy="228600"/>
          </a:xfrm>
          <a:prstGeom prst="rect">
            <a:avLst/>
          </a:prstGeom>
          <a:noFill/>
          <a:ln/>
        </p:spPr>
        <p:txBody>
          <a:bodyPr wrap="square" rtlCol="0" anchor="ctr"/>
          <a:lstStyle/>
          <a:p>
            <a:pPr indent="0" marL="0">
              <a:buNone/>
            </a:pPr>
            <a:r>
              <a:rPr lang="en-US" sz="800" b="1" dirty="0">
                <a:solidFill>
                  <a:srgbClr val="2C1810"/>
                </a:solidFill>
                <a:latin typeface="DM Sans" pitchFamily="34" charset="0"/>
                <a:ea typeface="DM Sans" pitchFamily="34" charset="-122"/>
                <a:cs typeface="DM Sans" pitchFamily="34" charset="-120"/>
              </a:rPr>
              <a:t>Oh Chien</a:t>
            </a:r>
            <a:endParaRPr lang="en-US" sz="800" dirty="0"/>
          </a:p>
        </p:txBody>
      </p:sp>
      <p:sp>
        <p:nvSpPr>
          <p:cNvPr id="65" name="Shape 63"/>
          <p:cNvSpPr/>
          <p:nvPr/>
        </p:nvSpPr>
        <p:spPr>
          <a:xfrm>
            <a:off x="7342632" y="5210251"/>
            <a:ext cx="219456" cy="186538"/>
          </a:xfrm>
          <a:prstGeom prst="triangle">
            <a:avLst/>
          </a:prstGeom>
          <a:solidFill>
            <a:srgbClr val="B83A3A"/>
          </a:solidFill>
          <a:ln w="9525">
            <a:solidFill>
              <a:srgbClr val="2C1810"/>
            </a:solidFill>
            <a:prstDash val="solid"/>
          </a:ln>
        </p:spPr>
      </p:sp>
      <p:sp>
        <p:nvSpPr>
          <p:cNvPr id="66" name="Text 64"/>
          <p:cNvSpPr txBox="1"/>
          <p:nvPr/>
        </p:nvSpPr>
        <p:spPr>
          <a:xfrm>
            <a:off x="7342632" y="5248656"/>
            <a:ext cx="219456" cy="131674"/>
          </a:xfrm>
          <a:prstGeom prst="rect">
            <a:avLst/>
          </a:prstGeom>
          <a:noFill/>
          <a:ln/>
        </p:spPr>
        <p:txBody>
          <a:bodyPr wrap="square" rtlCol="0" anchor="ctr"/>
          <a:lstStyle/>
          <a:p>
            <a:pPr algn="ctr" indent="0" marL="0">
              <a:buNone/>
            </a:pPr>
            <a:r>
              <a:rPr lang="en-US" sz="1200" b="1" dirty="0">
                <a:solidFill>
                  <a:srgbClr val="F4ECD8"/>
                </a:solidFill>
                <a:latin typeface="Fraunces" pitchFamily="34" charset="0"/>
                <a:ea typeface="Fraunces" pitchFamily="34" charset="-122"/>
                <a:cs typeface="Fraunces" pitchFamily="34" charset="-120"/>
              </a:rPr>
              <a:t>!</a:t>
            </a:r>
            <a:endParaRPr lang="en-US" sz="1200" dirty="0"/>
          </a:p>
        </p:txBody>
      </p:sp>
      <p:sp>
        <p:nvSpPr>
          <p:cNvPr id="67" name="Shape 65"/>
          <p:cNvSpPr/>
          <p:nvPr/>
        </p:nvSpPr>
        <p:spPr>
          <a:xfrm>
            <a:off x="7068312" y="5248656"/>
            <a:ext cx="219456" cy="109728"/>
          </a:xfrm>
          <a:prstGeom prst="ellipse">
            <a:avLst/>
          </a:prstGeom>
          <a:solidFill>
            <a:srgbClr val="B83A3A"/>
          </a:solidFill>
          <a:ln w="6350">
            <a:solidFill>
              <a:srgbClr val="2C1810"/>
            </a:solidFill>
            <a:prstDash val="solid"/>
          </a:ln>
        </p:spPr>
      </p:sp>
      <p:sp>
        <p:nvSpPr>
          <p:cNvPr id="68" name="Shape 66"/>
          <p:cNvSpPr/>
          <p:nvPr/>
        </p:nvSpPr>
        <p:spPr>
          <a:xfrm>
            <a:off x="7209076" y="5272484"/>
            <a:ext cx="54313" cy="-54313"/>
          </a:xfrm>
          <a:prstGeom prst="line">
            <a:avLst/>
          </a:prstGeom>
          <a:noFill/>
          <a:ln w="12700">
            <a:solidFill>
              <a:srgbClr val="2C1810"/>
            </a:solidFill>
            <a:prstDash val="solid"/>
          </a:ln>
        </p:spPr>
      </p:sp>
      <p:sp>
        <p:nvSpPr>
          <p:cNvPr id="69" name="Shape 67"/>
          <p:cNvSpPr/>
          <p:nvPr/>
        </p:nvSpPr>
        <p:spPr>
          <a:xfrm>
            <a:off x="7209076" y="5334556"/>
            <a:ext cx="54313" cy="54313"/>
          </a:xfrm>
          <a:prstGeom prst="line">
            <a:avLst/>
          </a:prstGeom>
          <a:noFill/>
          <a:ln w="12700">
            <a:solidFill>
              <a:srgbClr val="2C1810"/>
            </a:solidFill>
            <a:prstDash val="solid"/>
          </a:ln>
        </p:spPr>
      </p:sp>
      <p:sp>
        <p:nvSpPr>
          <p:cNvPr id="70" name="Shape 68"/>
          <p:cNvSpPr/>
          <p:nvPr/>
        </p:nvSpPr>
        <p:spPr>
          <a:xfrm>
            <a:off x="7147004" y="5272484"/>
            <a:ext cx="-54313" cy="-54313"/>
          </a:xfrm>
          <a:prstGeom prst="line">
            <a:avLst/>
          </a:prstGeom>
          <a:noFill/>
          <a:ln w="12700">
            <a:solidFill>
              <a:srgbClr val="2C1810"/>
            </a:solidFill>
            <a:prstDash val="solid"/>
          </a:ln>
        </p:spPr>
      </p:sp>
      <p:sp>
        <p:nvSpPr>
          <p:cNvPr id="71" name="Shape 69"/>
          <p:cNvSpPr/>
          <p:nvPr/>
        </p:nvSpPr>
        <p:spPr>
          <a:xfrm>
            <a:off x="7147004" y="5334556"/>
            <a:ext cx="-54313" cy="54313"/>
          </a:xfrm>
          <a:prstGeom prst="line">
            <a:avLst/>
          </a:prstGeom>
          <a:noFill/>
          <a:ln w="12700">
            <a:solidFill>
              <a:srgbClr val="2C1810"/>
            </a:solidFill>
            <a:prstDash val="solid"/>
          </a:ln>
        </p:spPr>
      </p:sp>
      <p:sp>
        <p:nvSpPr>
          <p:cNvPr id="72" name="Text 70"/>
          <p:cNvSpPr txBox="1"/>
          <p:nvPr/>
        </p:nvSpPr>
        <p:spPr>
          <a:xfrm>
            <a:off x="502920" y="1920240"/>
            <a:ext cx="3474720" cy="274320"/>
          </a:xfrm>
          <a:prstGeom prst="rect">
            <a:avLst/>
          </a:prstGeom>
          <a:noFill/>
          <a:ln/>
        </p:spPr>
        <p:txBody>
          <a:bodyPr wrap="square" rtlCol="0" anchor="ctr"/>
          <a:lstStyle/>
          <a:p>
            <a:pPr indent="0" marL="0">
              <a:buNone/>
            </a:pPr>
            <a:r>
              <a:rPr lang="en-US" sz="1300" b="1" spc="100" kern="0" dirty="0">
                <a:solidFill>
                  <a:srgbClr val="8B1E1E"/>
                </a:solidFill>
                <a:latin typeface="Fraunces" pitchFamily="34" charset="0"/>
                <a:ea typeface="Fraunces" pitchFamily="34" charset="-122"/>
                <a:cs typeface="Fraunces" pitchFamily="34" charset="-120"/>
              </a:rPr>
              <a:t>ALLERGEN OVERLAYS</a:t>
            </a:r>
            <a:endParaRPr lang="en-US" sz="1300" dirty="0"/>
          </a:p>
        </p:txBody>
      </p:sp>
      <p:sp>
        <p:nvSpPr>
          <p:cNvPr id="73" name="Text 71"/>
          <p:cNvSpPr txBox="1"/>
          <p:nvPr/>
        </p:nvSpPr>
        <p:spPr>
          <a:xfrm>
            <a:off x="502920" y="2240280"/>
            <a:ext cx="3566160" cy="1691640"/>
          </a:xfrm>
          <a:prstGeom prst="rect">
            <a:avLst/>
          </a:prstGeom>
          <a:noFill/>
          <a:ln/>
        </p:spPr>
        <p:txBody>
          <a:bodyPr wrap="square" rtlCol="0" anchor="ctr"/>
          <a:lstStyle/>
          <a:p>
            <a:pPr indent="0" marL="0">
              <a:lnSpc>
                <a:spcPct val="120000"/>
              </a:lnSpc>
              <a:buNone/>
            </a:pPr>
            <a:r>
              <a:rPr lang="en-US" sz="1050" dirty="0">
                <a:solidFill>
                  <a:srgbClr val="2C1810"/>
                </a:solidFill>
                <a:latin typeface="DM Sans" pitchFamily="34" charset="0"/>
                <a:ea typeface="DM Sans" pitchFamily="34" charset="-122"/>
                <a:cs typeface="DM Sans" pitchFamily="34" charset="-120"/>
              </a:rPr>
              <a:t>Vision Agent extracts text, layout and handwriting boundaries and returns percentage-based bounding boxes. Shellfish, peanut, gluten, dairy, egg and soy icons drop onto the exact dish on the live camera feed.</a:t>
            </a:r>
            <a:endParaRPr lang="en-US" sz="1050" dirty="0"/>
          </a:p>
        </p:txBody>
      </p:sp>
      <p:sp>
        <p:nvSpPr>
          <p:cNvPr id="74" name="Text 72"/>
          <p:cNvSpPr txBox="1"/>
          <p:nvPr/>
        </p:nvSpPr>
        <p:spPr>
          <a:xfrm>
            <a:off x="502920" y="4160520"/>
            <a:ext cx="3474720" cy="274320"/>
          </a:xfrm>
          <a:prstGeom prst="rect">
            <a:avLst/>
          </a:prstGeom>
          <a:noFill/>
          <a:ln/>
        </p:spPr>
        <p:txBody>
          <a:bodyPr wrap="square" rtlCol="0" anchor="ctr"/>
          <a:lstStyle/>
          <a:p>
            <a:pPr indent="0" marL="0">
              <a:buNone/>
            </a:pPr>
            <a:r>
              <a:rPr lang="en-US" sz="1300" b="1" spc="100" kern="0" dirty="0">
                <a:solidFill>
                  <a:srgbClr val="2F5D3A"/>
                </a:solidFill>
                <a:latin typeface="Fraunces" pitchFamily="34" charset="0"/>
                <a:ea typeface="Fraunces" pitchFamily="34" charset="-122"/>
                <a:cs typeface="Fraunces" pitchFamily="34" charset="-120"/>
              </a:rPr>
              <a:t>HALAL &amp; SAFETY BADGES</a:t>
            </a:r>
            <a:endParaRPr lang="en-US" sz="1300" dirty="0"/>
          </a:p>
        </p:txBody>
      </p:sp>
      <p:sp>
        <p:nvSpPr>
          <p:cNvPr id="75" name="Text 73"/>
          <p:cNvSpPr txBox="1"/>
          <p:nvPr/>
        </p:nvSpPr>
        <p:spPr>
          <a:xfrm>
            <a:off x="502920" y="4480560"/>
            <a:ext cx="3566160" cy="1554480"/>
          </a:xfrm>
          <a:prstGeom prst="rect">
            <a:avLst/>
          </a:prstGeom>
          <a:noFill/>
          <a:ln/>
        </p:spPr>
        <p:txBody>
          <a:bodyPr wrap="square" rtlCol="0" anchor="ctr"/>
          <a:lstStyle/>
          <a:p>
            <a:pPr indent="0" marL="0">
              <a:lnSpc>
                <a:spcPct val="120000"/>
              </a:lnSpc>
              <a:buNone/>
            </a:pPr>
            <a:r>
              <a:rPr lang="en-US" sz="1050" dirty="0">
                <a:solidFill>
                  <a:srgbClr val="2C1810"/>
                </a:solidFill>
                <a:latin typeface="DM Sans" pitchFamily="34" charset="0"/>
                <a:ea typeface="DM Sans" pitchFamily="34" charset="-122"/>
                <a:cs typeface="DM Sans" pitchFamily="34" charset="-120"/>
              </a:rPr>
              <a:t>Authentic Char Kuey Teow is flagged for cockles and pork lard. Ayam Goreng is highlighted green with a translated description. Unsafe dishes are intercepted before the user ever sees them.</a:t>
            </a:r>
            <a:endParaRPr lang="en-US" sz="1050" dirty="0"/>
          </a:p>
        </p:txBody>
      </p:sp>
      <p:sp>
        <p:nvSpPr>
          <p:cNvPr id="76" name="Text 74"/>
          <p:cNvSpPr txBox="1"/>
          <p:nvPr/>
        </p:nvSpPr>
        <p:spPr>
          <a:xfrm>
            <a:off x="8412480" y="1920240"/>
            <a:ext cx="3200400" cy="274320"/>
          </a:xfrm>
          <a:prstGeom prst="rect">
            <a:avLst/>
          </a:prstGeom>
          <a:noFill/>
          <a:ln/>
        </p:spPr>
        <p:txBody>
          <a:bodyPr wrap="square" rtlCol="0" anchor="ctr"/>
          <a:lstStyle/>
          <a:p>
            <a:pPr algn="ctr" indent="0" marL="0">
              <a:buNone/>
            </a:pPr>
            <a:r>
              <a:rPr lang="en-US" sz="900" b="1" spc="300" kern="0" dirty="0">
                <a:solidFill>
                  <a:srgbClr val="8B1E1E"/>
                </a:solidFill>
                <a:latin typeface="DM Sans" pitchFamily="34" charset="0"/>
                <a:ea typeface="DM Sans" pitchFamily="34" charset="-122"/>
                <a:cs typeface="DM Sans" pitchFamily="34" charset="-120"/>
              </a:rPr>
              <a:t>LIVE FEED</a:t>
            </a:r>
            <a:endParaRPr lang="en-US" sz="900" dirty="0"/>
          </a:p>
        </p:txBody>
      </p:sp>
      <p:sp>
        <p:nvSpPr>
          <p:cNvPr id="77" name="Text 75"/>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78" name="Text 76"/>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( 04 )</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3400" b="1" dirty="0">
                <a:solidFill>
                  <a:srgbClr val="C4A882"/>
                </a:solidFill>
                <a:latin typeface="Fraunces" pitchFamily="34" charset="0"/>
                <a:ea typeface="Fraunces" pitchFamily="34" charset="-122"/>
                <a:cs typeface="Fraunces" pitchFamily="34" charset="-120"/>
              </a:rPr>
              <a:t>HERITAGE RAG  +  CRITIC LOOP</a:t>
            </a:r>
            <a:endParaRPr lang="en-US" sz="34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3400" b="1" dirty="0">
                <a:solidFill>
                  <a:srgbClr val="8B1E1E"/>
                </a:solidFill>
                <a:latin typeface="Fraunces" pitchFamily="34" charset="0"/>
                <a:ea typeface="Fraunces" pitchFamily="34" charset="-122"/>
                <a:cs typeface="Fraunces" pitchFamily="34" charset="-120"/>
              </a:rPr>
              <a:t>HERITAGE RAG  +  CRITIC LOOP</a:t>
            </a:r>
            <a:endParaRPr lang="en-US" sz="34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GROUNDED RETRIEVAL · SAFETY AUDIT</a:t>
            </a:r>
            <a:endParaRPr lang="en-US" sz="1100" dirty="0"/>
          </a:p>
        </p:txBody>
      </p:sp>
      <p:sp>
        <p:nvSpPr>
          <p:cNvPr id="28" name="Shape 26"/>
          <p:cNvSpPr/>
          <p:nvPr/>
        </p:nvSpPr>
        <p:spPr>
          <a:xfrm>
            <a:off x="640080" y="1828800"/>
            <a:ext cx="1645920" cy="2377440"/>
          </a:xfrm>
          <a:prstGeom prst="roundRect">
            <a:avLst>
              <a:gd name="adj" fmla="val 4444"/>
            </a:avLst>
          </a:prstGeom>
          <a:solidFill>
            <a:srgbClr val="EFE6CC"/>
          </a:solidFill>
          <a:ln w="15875">
            <a:solidFill>
              <a:srgbClr val="8B1E1E"/>
            </a:solidFill>
            <a:prstDash val="solid"/>
          </a:ln>
        </p:spPr>
      </p:sp>
      <p:sp>
        <p:nvSpPr>
          <p:cNvPr id="29" name="Text 27"/>
          <p:cNvSpPr txBox="1"/>
          <p:nvPr/>
        </p:nvSpPr>
        <p:spPr>
          <a:xfrm>
            <a:off x="640080" y="1920240"/>
            <a:ext cx="1645920" cy="228600"/>
          </a:xfrm>
          <a:prstGeom prst="rect">
            <a:avLst/>
          </a:prstGeom>
          <a:noFill/>
          <a:ln/>
        </p:spPr>
        <p:txBody>
          <a:bodyPr wrap="square" rtlCol="0" anchor="ctr"/>
          <a:lstStyle/>
          <a:p>
            <a:pPr algn="ctr" indent="0" marL="0">
              <a:buNone/>
            </a:pPr>
            <a:r>
              <a:rPr lang="en-US" sz="800" b="1" spc="200" kern="0" dirty="0">
                <a:solidFill>
                  <a:srgbClr val="8B1E1E"/>
                </a:solidFill>
                <a:latin typeface="DM Sans" pitchFamily="34" charset="0"/>
                <a:ea typeface="DM Sans" pitchFamily="34" charset="-122"/>
                <a:cs typeface="DM Sans" pitchFamily="34" charset="-120"/>
              </a:rPr>
              <a:t>INPUT</a:t>
            </a:r>
            <a:endParaRPr lang="en-US" sz="800" dirty="0"/>
          </a:p>
        </p:txBody>
      </p:sp>
      <p:sp>
        <p:nvSpPr>
          <p:cNvPr id="30" name="Shape 28"/>
          <p:cNvSpPr/>
          <p:nvPr/>
        </p:nvSpPr>
        <p:spPr>
          <a:xfrm>
            <a:off x="1051560" y="2599182"/>
            <a:ext cx="822960" cy="288036"/>
          </a:xfrm>
          <a:prstGeom prst="ellipse">
            <a:avLst/>
          </a:prstGeom>
          <a:solidFill>
            <a:srgbClr val="F4ECD8"/>
          </a:solidFill>
          <a:ln w="12700">
            <a:solidFill>
              <a:srgbClr val="2C1810"/>
            </a:solidFill>
            <a:prstDash val="solid"/>
          </a:ln>
        </p:spPr>
      </p:sp>
      <p:sp>
        <p:nvSpPr>
          <p:cNvPr id="31" name="Shape 29"/>
          <p:cNvSpPr/>
          <p:nvPr/>
        </p:nvSpPr>
        <p:spPr>
          <a:xfrm>
            <a:off x="1154430" y="2652674"/>
            <a:ext cx="617220" cy="185166"/>
          </a:xfrm>
          <a:prstGeom prst="ellipse">
            <a:avLst/>
          </a:prstGeom>
          <a:solidFill>
            <a:srgbClr val="C4553A"/>
          </a:solidFill>
          <a:ln w="6350">
            <a:solidFill>
              <a:srgbClr val="2C1810"/>
            </a:solidFill>
            <a:prstDash val="solid"/>
          </a:ln>
        </p:spPr>
      </p:sp>
      <p:sp>
        <p:nvSpPr>
          <p:cNvPr id="32" name="Shape 30"/>
          <p:cNvSpPr/>
          <p:nvPr/>
        </p:nvSpPr>
        <p:spPr>
          <a:xfrm>
            <a:off x="1236726" y="2660904"/>
            <a:ext cx="123444" cy="82296"/>
          </a:xfrm>
          <a:prstGeom prst="arc">
            <a:avLst>
              <a:gd name="adj1" fmla="val 0"/>
              <a:gd name="adj2" fmla="val 10800000"/>
            </a:avLst>
          </a:prstGeom>
          <a:ln w="9525">
            <a:solidFill>
              <a:srgbClr val="D4A947"/>
            </a:solidFill>
            <a:prstDash val="solid"/>
          </a:ln>
        </p:spPr>
      </p:sp>
      <p:sp>
        <p:nvSpPr>
          <p:cNvPr id="33" name="Shape 31"/>
          <p:cNvSpPr/>
          <p:nvPr/>
        </p:nvSpPr>
        <p:spPr>
          <a:xfrm>
            <a:off x="1380744" y="2660904"/>
            <a:ext cx="123444" cy="82296"/>
          </a:xfrm>
          <a:prstGeom prst="arc">
            <a:avLst>
              <a:gd name="adj1" fmla="val 0"/>
              <a:gd name="adj2" fmla="val 10800000"/>
            </a:avLst>
          </a:prstGeom>
          <a:ln w="9525">
            <a:solidFill>
              <a:srgbClr val="D4A947"/>
            </a:solidFill>
            <a:prstDash val="solid"/>
          </a:ln>
        </p:spPr>
      </p:sp>
      <p:sp>
        <p:nvSpPr>
          <p:cNvPr id="34" name="Shape 32"/>
          <p:cNvSpPr/>
          <p:nvPr/>
        </p:nvSpPr>
        <p:spPr>
          <a:xfrm>
            <a:off x="1524762" y="2660904"/>
            <a:ext cx="123444" cy="82296"/>
          </a:xfrm>
          <a:prstGeom prst="arc">
            <a:avLst>
              <a:gd name="adj1" fmla="val 0"/>
              <a:gd name="adj2" fmla="val 10800000"/>
            </a:avLst>
          </a:prstGeom>
          <a:ln w="9525">
            <a:solidFill>
              <a:srgbClr val="D4A947"/>
            </a:solidFill>
            <a:prstDash val="solid"/>
          </a:ln>
        </p:spPr>
      </p:sp>
      <p:sp>
        <p:nvSpPr>
          <p:cNvPr id="35" name="Text 33"/>
          <p:cNvSpPr txBox="1"/>
          <p:nvPr/>
        </p:nvSpPr>
        <p:spPr>
          <a:xfrm>
            <a:off x="640080" y="3291840"/>
            <a:ext cx="1645920" cy="640080"/>
          </a:xfrm>
          <a:prstGeom prst="rect">
            <a:avLst/>
          </a:prstGeom>
          <a:noFill/>
          <a:ln/>
        </p:spPr>
        <p:txBody>
          <a:bodyPr wrap="square" rtlCol="0" anchor="t"/>
          <a:lstStyle/>
          <a:p>
            <a:pPr algn="ctr" indent="0" marL="0">
              <a:buNone/>
            </a:pPr>
            <a:r>
              <a:rPr lang="en-US" sz="1200" b="1" dirty="0">
                <a:solidFill>
                  <a:srgbClr val="2C1810"/>
                </a:solidFill>
                <a:latin typeface="Fraunces" pitchFamily="34" charset="0"/>
                <a:ea typeface="Fraunces" pitchFamily="34" charset="-122"/>
                <a:cs typeface="Fraunces" pitchFamily="34" charset="-120"/>
              </a:rPr>
              <a:t>Char Kuey</a:t>
            </a:r>
            <a:endParaRPr lang="en-US" sz="1200" dirty="0"/>
          </a:p>
          <a:p>
            <a:pPr algn="ctr" indent="0" marL="0">
              <a:buNone/>
            </a:pPr>
            <a:r>
              <a:rPr lang="en-US" sz="1200" b="1" dirty="0">
                <a:solidFill>
                  <a:srgbClr val="2C1810"/>
                </a:solidFill>
                <a:latin typeface="Fraunces" pitchFamily="34" charset="0"/>
                <a:ea typeface="Fraunces" pitchFamily="34" charset="-122"/>
                <a:cs typeface="Fraunces" pitchFamily="34" charset="-120"/>
              </a:rPr>
              <a:t>Teow</a:t>
            </a:r>
            <a:endParaRPr lang="en-US" sz="1200" dirty="0"/>
          </a:p>
        </p:txBody>
      </p:sp>
      <p:sp>
        <p:nvSpPr>
          <p:cNvPr id="36" name="Shape 34"/>
          <p:cNvSpPr/>
          <p:nvPr/>
        </p:nvSpPr>
        <p:spPr>
          <a:xfrm>
            <a:off x="2331720" y="3017520"/>
            <a:ext cx="457200" cy="0"/>
          </a:xfrm>
          <a:prstGeom prst="line">
            <a:avLst/>
          </a:prstGeom>
          <a:noFill/>
          <a:ln w="28575">
            <a:solidFill>
              <a:srgbClr val="D4A947"/>
            </a:solidFill>
            <a:prstDash val="solid"/>
            <a:headEnd type="none"/>
            <a:tailEnd type="triangle"/>
          </a:ln>
        </p:spPr>
      </p:sp>
      <p:sp>
        <p:nvSpPr>
          <p:cNvPr id="37" name="Shape 35"/>
          <p:cNvSpPr/>
          <p:nvPr/>
        </p:nvSpPr>
        <p:spPr>
          <a:xfrm>
            <a:off x="2834640" y="1828800"/>
            <a:ext cx="1828800" cy="2377440"/>
          </a:xfrm>
          <a:prstGeom prst="roundRect">
            <a:avLst>
              <a:gd name="adj" fmla="val 4000"/>
            </a:avLst>
          </a:prstGeom>
          <a:solidFill>
            <a:srgbClr val="F4ECD8"/>
          </a:solidFill>
          <a:ln w="15875">
            <a:solidFill>
              <a:srgbClr val="2F5D3A"/>
            </a:solidFill>
            <a:prstDash val="solid"/>
          </a:ln>
        </p:spPr>
      </p:sp>
      <p:sp>
        <p:nvSpPr>
          <p:cNvPr id="38" name="Text 36"/>
          <p:cNvSpPr txBox="1"/>
          <p:nvPr/>
        </p:nvSpPr>
        <p:spPr>
          <a:xfrm>
            <a:off x="2834640" y="1920240"/>
            <a:ext cx="1828800" cy="228600"/>
          </a:xfrm>
          <a:prstGeom prst="rect">
            <a:avLst/>
          </a:prstGeom>
          <a:noFill/>
          <a:ln/>
        </p:spPr>
        <p:txBody>
          <a:bodyPr wrap="square" rtlCol="0" anchor="ctr"/>
          <a:lstStyle/>
          <a:p>
            <a:pPr algn="ctr" indent="0" marL="0">
              <a:buNone/>
            </a:pPr>
            <a:r>
              <a:rPr lang="en-US" sz="800" b="1" spc="150" kern="0" dirty="0">
                <a:solidFill>
                  <a:srgbClr val="2F5D3A"/>
                </a:solidFill>
                <a:latin typeface="DM Sans" pitchFamily="34" charset="0"/>
                <a:ea typeface="DM Sans" pitchFamily="34" charset="-122"/>
                <a:cs typeface="DM Sans" pitchFamily="34" charset="-120"/>
              </a:rPr>
              <a:t>TAVILY SEARCH</a:t>
            </a:r>
            <a:endParaRPr lang="en-US" sz="800" dirty="0"/>
          </a:p>
        </p:txBody>
      </p:sp>
      <p:sp>
        <p:nvSpPr>
          <p:cNvPr id="39" name="Shape 37"/>
          <p:cNvSpPr/>
          <p:nvPr/>
        </p:nvSpPr>
        <p:spPr>
          <a:xfrm>
            <a:off x="3154680" y="2286000"/>
            <a:ext cx="1188720" cy="292608"/>
          </a:xfrm>
          <a:prstGeom prst="rect">
            <a:avLst/>
          </a:prstGeom>
          <a:solidFill>
            <a:srgbClr val="F4ECD8"/>
          </a:solidFill>
          <a:ln w="9525">
            <a:solidFill>
              <a:srgbClr val="2F5D3A"/>
            </a:solidFill>
            <a:prstDash val="solid"/>
          </a:ln>
        </p:spPr>
      </p:sp>
      <p:sp>
        <p:nvSpPr>
          <p:cNvPr id="40" name="Shape 38"/>
          <p:cNvSpPr/>
          <p:nvPr/>
        </p:nvSpPr>
        <p:spPr>
          <a:xfrm>
            <a:off x="3200400" y="2249424"/>
            <a:ext cx="201168" cy="91440"/>
          </a:xfrm>
          <a:prstGeom prst="rect">
            <a:avLst/>
          </a:prstGeom>
          <a:solidFill>
            <a:srgbClr val="2F5D3A"/>
          </a:solidFill>
          <a:ln/>
        </p:spPr>
      </p:sp>
      <p:sp>
        <p:nvSpPr>
          <p:cNvPr id="41" name="Text 39"/>
          <p:cNvSpPr txBox="1"/>
          <p:nvPr/>
        </p:nvSpPr>
        <p:spPr>
          <a:xfrm>
            <a:off x="4114800" y="2286000"/>
            <a:ext cx="274320" cy="292608"/>
          </a:xfrm>
          <a:prstGeom prst="rect">
            <a:avLst/>
          </a:prstGeom>
          <a:noFill/>
          <a:ln/>
        </p:spPr>
        <p:txBody>
          <a:bodyPr wrap="square" rtlCol="0" anchor="ctr"/>
          <a:lstStyle/>
          <a:p>
            <a:pPr algn="ctr" indent="0" marL="0">
              <a:buNone/>
            </a:pPr>
            <a:r>
              <a:rPr lang="en-US" sz="700" b="1" dirty="0">
                <a:solidFill>
                  <a:srgbClr val="2F5D3A"/>
                </a:solidFill>
                <a:latin typeface="DM Sans" pitchFamily="34" charset="0"/>
                <a:ea typeface="DM Sans" pitchFamily="34" charset="-122"/>
                <a:cs typeface="DM Sans" pitchFamily="34" charset="-120"/>
              </a:rPr>
              <a:t>[ 1 ]</a:t>
            </a:r>
            <a:endParaRPr lang="en-US" sz="700" dirty="0"/>
          </a:p>
        </p:txBody>
      </p:sp>
      <p:sp>
        <p:nvSpPr>
          <p:cNvPr id="42" name="Shape 40"/>
          <p:cNvSpPr/>
          <p:nvPr/>
        </p:nvSpPr>
        <p:spPr>
          <a:xfrm>
            <a:off x="3246120" y="2670048"/>
            <a:ext cx="1188720" cy="292608"/>
          </a:xfrm>
          <a:prstGeom prst="rect">
            <a:avLst/>
          </a:prstGeom>
          <a:solidFill>
            <a:srgbClr val="D6E2D4"/>
          </a:solidFill>
          <a:ln w="9525">
            <a:solidFill>
              <a:srgbClr val="2F5D3A"/>
            </a:solidFill>
            <a:prstDash val="solid"/>
          </a:ln>
        </p:spPr>
      </p:sp>
      <p:sp>
        <p:nvSpPr>
          <p:cNvPr id="43" name="Shape 41"/>
          <p:cNvSpPr/>
          <p:nvPr/>
        </p:nvSpPr>
        <p:spPr>
          <a:xfrm>
            <a:off x="3291840" y="2633472"/>
            <a:ext cx="201168" cy="91440"/>
          </a:xfrm>
          <a:prstGeom prst="rect">
            <a:avLst/>
          </a:prstGeom>
          <a:solidFill>
            <a:srgbClr val="2F5D3A"/>
          </a:solidFill>
          <a:ln/>
        </p:spPr>
      </p:sp>
      <p:sp>
        <p:nvSpPr>
          <p:cNvPr id="44" name="Text 42"/>
          <p:cNvSpPr txBox="1"/>
          <p:nvPr/>
        </p:nvSpPr>
        <p:spPr>
          <a:xfrm>
            <a:off x="4206240" y="2670048"/>
            <a:ext cx="274320" cy="292608"/>
          </a:xfrm>
          <a:prstGeom prst="rect">
            <a:avLst/>
          </a:prstGeom>
          <a:noFill/>
          <a:ln/>
        </p:spPr>
        <p:txBody>
          <a:bodyPr wrap="square" rtlCol="0" anchor="ctr"/>
          <a:lstStyle/>
          <a:p>
            <a:pPr algn="ctr" indent="0" marL="0">
              <a:buNone/>
            </a:pPr>
            <a:r>
              <a:rPr lang="en-US" sz="700" b="1" dirty="0">
                <a:solidFill>
                  <a:srgbClr val="2F5D3A"/>
                </a:solidFill>
                <a:latin typeface="DM Sans" pitchFamily="34" charset="0"/>
                <a:ea typeface="DM Sans" pitchFamily="34" charset="-122"/>
                <a:cs typeface="DM Sans" pitchFamily="34" charset="-120"/>
              </a:rPr>
              <a:t>[ 2 ]</a:t>
            </a:r>
            <a:endParaRPr lang="en-US" sz="700" dirty="0"/>
          </a:p>
        </p:txBody>
      </p:sp>
      <p:sp>
        <p:nvSpPr>
          <p:cNvPr id="45" name="Shape 43"/>
          <p:cNvSpPr/>
          <p:nvPr/>
        </p:nvSpPr>
        <p:spPr>
          <a:xfrm>
            <a:off x="3337560" y="3054096"/>
            <a:ext cx="1188720" cy="292608"/>
          </a:xfrm>
          <a:prstGeom prst="rect">
            <a:avLst/>
          </a:prstGeom>
          <a:solidFill>
            <a:srgbClr val="F4ECD8"/>
          </a:solidFill>
          <a:ln w="9525">
            <a:solidFill>
              <a:srgbClr val="2F5D3A"/>
            </a:solidFill>
            <a:prstDash val="solid"/>
          </a:ln>
        </p:spPr>
      </p:sp>
      <p:sp>
        <p:nvSpPr>
          <p:cNvPr id="46" name="Shape 44"/>
          <p:cNvSpPr/>
          <p:nvPr/>
        </p:nvSpPr>
        <p:spPr>
          <a:xfrm>
            <a:off x="3383280" y="3017520"/>
            <a:ext cx="201168" cy="91440"/>
          </a:xfrm>
          <a:prstGeom prst="rect">
            <a:avLst/>
          </a:prstGeom>
          <a:solidFill>
            <a:srgbClr val="2F5D3A"/>
          </a:solidFill>
          <a:ln/>
        </p:spPr>
      </p:sp>
      <p:sp>
        <p:nvSpPr>
          <p:cNvPr id="47" name="Text 45"/>
          <p:cNvSpPr txBox="1"/>
          <p:nvPr/>
        </p:nvSpPr>
        <p:spPr>
          <a:xfrm>
            <a:off x="4297680" y="3054096"/>
            <a:ext cx="274320" cy="292608"/>
          </a:xfrm>
          <a:prstGeom prst="rect">
            <a:avLst/>
          </a:prstGeom>
          <a:noFill/>
          <a:ln/>
        </p:spPr>
        <p:txBody>
          <a:bodyPr wrap="square" rtlCol="0" anchor="ctr"/>
          <a:lstStyle/>
          <a:p>
            <a:pPr algn="ctr" indent="0" marL="0">
              <a:buNone/>
            </a:pPr>
            <a:r>
              <a:rPr lang="en-US" sz="700" b="1" dirty="0">
                <a:solidFill>
                  <a:srgbClr val="2F5D3A"/>
                </a:solidFill>
                <a:latin typeface="DM Sans" pitchFamily="34" charset="0"/>
                <a:ea typeface="DM Sans" pitchFamily="34" charset="-122"/>
                <a:cs typeface="DM Sans" pitchFamily="34" charset="-120"/>
              </a:rPr>
              <a:t>[ 3 ]</a:t>
            </a:r>
            <a:endParaRPr lang="en-US" sz="700" dirty="0"/>
          </a:p>
        </p:txBody>
      </p:sp>
      <p:sp>
        <p:nvSpPr>
          <p:cNvPr id="48" name="Shape 46"/>
          <p:cNvSpPr/>
          <p:nvPr/>
        </p:nvSpPr>
        <p:spPr>
          <a:xfrm>
            <a:off x="3429000" y="3438144"/>
            <a:ext cx="1188720" cy="292608"/>
          </a:xfrm>
          <a:prstGeom prst="rect">
            <a:avLst/>
          </a:prstGeom>
          <a:solidFill>
            <a:srgbClr val="D6E2D4"/>
          </a:solidFill>
          <a:ln w="9525">
            <a:solidFill>
              <a:srgbClr val="2F5D3A"/>
            </a:solidFill>
            <a:prstDash val="solid"/>
          </a:ln>
        </p:spPr>
      </p:sp>
      <p:sp>
        <p:nvSpPr>
          <p:cNvPr id="49" name="Shape 47"/>
          <p:cNvSpPr/>
          <p:nvPr/>
        </p:nvSpPr>
        <p:spPr>
          <a:xfrm>
            <a:off x="3474720" y="3401568"/>
            <a:ext cx="201168" cy="91440"/>
          </a:xfrm>
          <a:prstGeom prst="rect">
            <a:avLst/>
          </a:prstGeom>
          <a:solidFill>
            <a:srgbClr val="2F5D3A"/>
          </a:solidFill>
          <a:ln/>
        </p:spPr>
      </p:sp>
      <p:sp>
        <p:nvSpPr>
          <p:cNvPr id="50" name="Text 48"/>
          <p:cNvSpPr txBox="1"/>
          <p:nvPr/>
        </p:nvSpPr>
        <p:spPr>
          <a:xfrm>
            <a:off x="4389120" y="3438144"/>
            <a:ext cx="274320" cy="292608"/>
          </a:xfrm>
          <a:prstGeom prst="rect">
            <a:avLst/>
          </a:prstGeom>
          <a:noFill/>
          <a:ln/>
        </p:spPr>
        <p:txBody>
          <a:bodyPr wrap="square" rtlCol="0" anchor="ctr"/>
          <a:lstStyle/>
          <a:p>
            <a:pPr algn="ctr" indent="0" marL="0">
              <a:buNone/>
            </a:pPr>
            <a:r>
              <a:rPr lang="en-US" sz="700" b="1" dirty="0">
                <a:solidFill>
                  <a:srgbClr val="2F5D3A"/>
                </a:solidFill>
                <a:latin typeface="DM Sans" pitchFamily="34" charset="0"/>
                <a:ea typeface="DM Sans" pitchFamily="34" charset="-122"/>
                <a:cs typeface="DM Sans" pitchFamily="34" charset="-120"/>
              </a:rPr>
              <a:t>[ 4 ]</a:t>
            </a:r>
            <a:endParaRPr lang="en-US" sz="700" dirty="0"/>
          </a:p>
        </p:txBody>
      </p:sp>
      <p:sp>
        <p:nvSpPr>
          <p:cNvPr id="51" name="Shape 49"/>
          <p:cNvSpPr/>
          <p:nvPr/>
        </p:nvSpPr>
        <p:spPr>
          <a:xfrm>
            <a:off x="4709160" y="3017520"/>
            <a:ext cx="457200" cy="0"/>
          </a:xfrm>
          <a:prstGeom prst="line">
            <a:avLst/>
          </a:prstGeom>
          <a:noFill/>
          <a:ln w="28575">
            <a:solidFill>
              <a:srgbClr val="D4A947"/>
            </a:solidFill>
            <a:prstDash val="solid"/>
            <a:headEnd type="none"/>
            <a:tailEnd type="triangle"/>
          </a:ln>
        </p:spPr>
      </p:sp>
      <p:sp>
        <p:nvSpPr>
          <p:cNvPr id="52" name="Shape 50"/>
          <p:cNvSpPr/>
          <p:nvPr/>
        </p:nvSpPr>
        <p:spPr>
          <a:xfrm>
            <a:off x="5212080" y="1828800"/>
            <a:ext cx="1737360" cy="2377440"/>
          </a:xfrm>
          <a:prstGeom prst="roundRect">
            <a:avLst>
              <a:gd name="adj" fmla="val 4211"/>
            </a:avLst>
          </a:prstGeom>
          <a:solidFill>
            <a:srgbClr val="F2D4CA"/>
          </a:solidFill>
          <a:ln w="15875">
            <a:solidFill>
              <a:srgbClr val="8B1E1E"/>
            </a:solidFill>
            <a:prstDash val="solid"/>
          </a:ln>
        </p:spPr>
      </p:sp>
      <p:sp>
        <p:nvSpPr>
          <p:cNvPr id="53" name="Text 51"/>
          <p:cNvSpPr txBox="1"/>
          <p:nvPr/>
        </p:nvSpPr>
        <p:spPr>
          <a:xfrm>
            <a:off x="5212080" y="1920240"/>
            <a:ext cx="1737360" cy="228600"/>
          </a:xfrm>
          <a:prstGeom prst="rect">
            <a:avLst/>
          </a:prstGeom>
          <a:noFill/>
          <a:ln/>
        </p:spPr>
        <p:txBody>
          <a:bodyPr wrap="square" rtlCol="0" anchor="ctr"/>
          <a:lstStyle/>
          <a:p>
            <a:pPr algn="ctr" indent="0" marL="0">
              <a:buNone/>
            </a:pPr>
            <a:r>
              <a:rPr lang="en-US" sz="800" b="1" spc="150" kern="0" dirty="0">
                <a:solidFill>
                  <a:srgbClr val="8B1E1E"/>
                </a:solidFill>
                <a:latin typeface="DM Sans" pitchFamily="34" charset="0"/>
                <a:ea typeface="DM Sans" pitchFamily="34" charset="-122"/>
                <a:cs typeface="DM Sans" pitchFamily="34" charset="-120"/>
              </a:rPr>
              <a:t>GEMINI SYNTH</a:t>
            </a:r>
            <a:endParaRPr lang="en-US" sz="800" dirty="0"/>
          </a:p>
        </p:txBody>
      </p:sp>
      <p:sp>
        <p:nvSpPr>
          <p:cNvPr id="54" name="Shape 52"/>
          <p:cNvSpPr/>
          <p:nvPr/>
        </p:nvSpPr>
        <p:spPr>
          <a:xfrm>
            <a:off x="5806440" y="2606040"/>
            <a:ext cx="822960" cy="822960"/>
          </a:xfrm>
          <a:prstGeom prst="ellipse">
            <a:avLst/>
          </a:prstGeom>
          <a:solidFill>
            <a:srgbClr val="D4A947">
              <a:alpha val="70000"/>
            </a:srgbClr>
          </a:solidFill>
          <a:ln w="19050">
            <a:solidFill>
              <a:srgbClr val="8B1E1E"/>
            </a:solidFill>
            <a:prstDash val="solid"/>
          </a:ln>
        </p:spPr>
      </p:sp>
      <p:sp>
        <p:nvSpPr>
          <p:cNvPr id="55" name="Shape 53"/>
          <p:cNvSpPr/>
          <p:nvPr/>
        </p:nvSpPr>
        <p:spPr>
          <a:xfrm>
            <a:off x="5989320" y="2788920"/>
            <a:ext cx="457200" cy="457200"/>
          </a:xfrm>
          <a:prstGeom prst="ellipse">
            <a:avLst/>
          </a:prstGeom>
          <a:solidFill>
            <a:srgbClr val="8B1E1E"/>
          </a:solidFill>
          <a:ln w="6350">
            <a:solidFill>
              <a:srgbClr val="2C1810"/>
            </a:solidFill>
            <a:prstDash val="solid"/>
          </a:ln>
        </p:spPr>
      </p:sp>
      <p:sp>
        <p:nvSpPr>
          <p:cNvPr id="56" name="Shape 54"/>
          <p:cNvSpPr/>
          <p:nvPr/>
        </p:nvSpPr>
        <p:spPr>
          <a:xfrm>
            <a:off x="6903720" y="2971800"/>
            <a:ext cx="91440" cy="91440"/>
          </a:xfrm>
          <a:prstGeom prst="ellipse">
            <a:avLst/>
          </a:prstGeom>
          <a:solidFill>
            <a:srgbClr val="2F5D3A"/>
          </a:solidFill>
          <a:ln/>
        </p:spPr>
      </p:sp>
      <p:sp>
        <p:nvSpPr>
          <p:cNvPr id="57" name="Shape 55"/>
          <p:cNvSpPr/>
          <p:nvPr/>
        </p:nvSpPr>
        <p:spPr>
          <a:xfrm>
            <a:off x="6537960" y="3605315"/>
            <a:ext cx="91440" cy="91440"/>
          </a:xfrm>
          <a:prstGeom prst="ellipse">
            <a:avLst/>
          </a:prstGeom>
          <a:solidFill>
            <a:srgbClr val="2F5D3A"/>
          </a:solidFill>
          <a:ln/>
        </p:spPr>
      </p:sp>
      <p:sp>
        <p:nvSpPr>
          <p:cNvPr id="58" name="Shape 56"/>
          <p:cNvSpPr/>
          <p:nvPr/>
        </p:nvSpPr>
        <p:spPr>
          <a:xfrm>
            <a:off x="5806440" y="3605315"/>
            <a:ext cx="91440" cy="91440"/>
          </a:xfrm>
          <a:prstGeom prst="ellipse">
            <a:avLst/>
          </a:prstGeom>
          <a:solidFill>
            <a:srgbClr val="2F5D3A"/>
          </a:solidFill>
          <a:ln/>
        </p:spPr>
      </p:sp>
      <p:sp>
        <p:nvSpPr>
          <p:cNvPr id="59" name="Shape 57"/>
          <p:cNvSpPr/>
          <p:nvPr/>
        </p:nvSpPr>
        <p:spPr>
          <a:xfrm>
            <a:off x="5440680" y="2971800"/>
            <a:ext cx="91440" cy="91440"/>
          </a:xfrm>
          <a:prstGeom prst="ellipse">
            <a:avLst/>
          </a:prstGeom>
          <a:solidFill>
            <a:srgbClr val="2F5D3A"/>
          </a:solidFill>
          <a:ln/>
        </p:spPr>
      </p:sp>
      <p:sp>
        <p:nvSpPr>
          <p:cNvPr id="60" name="Shape 58"/>
          <p:cNvSpPr/>
          <p:nvPr/>
        </p:nvSpPr>
        <p:spPr>
          <a:xfrm>
            <a:off x="5806440" y="2338285"/>
            <a:ext cx="91440" cy="91440"/>
          </a:xfrm>
          <a:prstGeom prst="ellipse">
            <a:avLst/>
          </a:prstGeom>
          <a:solidFill>
            <a:srgbClr val="2F5D3A"/>
          </a:solidFill>
          <a:ln/>
        </p:spPr>
      </p:sp>
      <p:sp>
        <p:nvSpPr>
          <p:cNvPr id="61" name="Shape 59"/>
          <p:cNvSpPr/>
          <p:nvPr/>
        </p:nvSpPr>
        <p:spPr>
          <a:xfrm>
            <a:off x="6537960" y="2338285"/>
            <a:ext cx="91440" cy="91440"/>
          </a:xfrm>
          <a:prstGeom prst="ellipse">
            <a:avLst/>
          </a:prstGeom>
          <a:solidFill>
            <a:srgbClr val="2F5D3A"/>
          </a:solidFill>
          <a:ln/>
        </p:spPr>
      </p:sp>
      <p:sp>
        <p:nvSpPr>
          <p:cNvPr id="62" name="Shape 60"/>
          <p:cNvSpPr/>
          <p:nvPr/>
        </p:nvSpPr>
        <p:spPr>
          <a:xfrm>
            <a:off x="6995160" y="3017520"/>
            <a:ext cx="457200" cy="0"/>
          </a:xfrm>
          <a:prstGeom prst="line">
            <a:avLst/>
          </a:prstGeom>
          <a:noFill/>
          <a:ln w="28575">
            <a:solidFill>
              <a:srgbClr val="D4A947"/>
            </a:solidFill>
            <a:prstDash val="solid"/>
            <a:headEnd type="none"/>
            <a:tailEnd type="triangle"/>
          </a:ln>
        </p:spPr>
      </p:sp>
      <p:sp>
        <p:nvSpPr>
          <p:cNvPr id="63" name="Shape 61"/>
          <p:cNvSpPr/>
          <p:nvPr/>
        </p:nvSpPr>
        <p:spPr>
          <a:xfrm>
            <a:off x="7498080" y="1828800"/>
            <a:ext cx="1920240" cy="2377440"/>
          </a:xfrm>
          <a:prstGeom prst="roundRect">
            <a:avLst>
              <a:gd name="adj" fmla="val 3810"/>
            </a:avLst>
          </a:prstGeom>
          <a:solidFill>
            <a:srgbClr val="F4ECD8"/>
          </a:solidFill>
          <a:ln w="15875">
            <a:solidFill>
              <a:srgbClr val="8B1E1E"/>
            </a:solidFill>
            <a:prstDash val="solid"/>
          </a:ln>
        </p:spPr>
      </p:sp>
      <p:sp>
        <p:nvSpPr>
          <p:cNvPr id="64" name="Text 62"/>
          <p:cNvSpPr txBox="1"/>
          <p:nvPr/>
        </p:nvSpPr>
        <p:spPr>
          <a:xfrm>
            <a:off x="7498080" y="1920240"/>
            <a:ext cx="1920240" cy="228600"/>
          </a:xfrm>
          <a:prstGeom prst="rect">
            <a:avLst/>
          </a:prstGeom>
          <a:noFill/>
          <a:ln/>
        </p:spPr>
        <p:txBody>
          <a:bodyPr wrap="square" rtlCol="0" anchor="ctr"/>
          <a:lstStyle/>
          <a:p>
            <a:pPr algn="ctr" indent="0" marL="0">
              <a:buNone/>
            </a:pPr>
            <a:r>
              <a:rPr lang="en-US" sz="800" b="1" spc="150" kern="0" dirty="0">
                <a:solidFill>
                  <a:srgbClr val="8B1E1E"/>
                </a:solidFill>
                <a:latin typeface="DM Sans" pitchFamily="34" charset="0"/>
                <a:ea typeface="DM Sans" pitchFamily="34" charset="-122"/>
                <a:cs typeface="DM Sans" pitchFamily="34" charset="-120"/>
              </a:rPr>
              <a:t>CRITIC AUDIT</a:t>
            </a:r>
            <a:endParaRPr lang="en-US" sz="800" dirty="0"/>
          </a:p>
        </p:txBody>
      </p:sp>
      <p:sp>
        <p:nvSpPr>
          <p:cNvPr id="65" name="Shape 63"/>
          <p:cNvSpPr/>
          <p:nvPr/>
        </p:nvSpPr>
        <p:spPr>
          <a:xfrm rot="10800000">
            <a:off x="8202168" y="2423160"/>
            <a:ext cx="512064" cy="640080"/>
          </a:xfrm>
          <a:prstGeom prst="pentagon">
            <a:avLst/>
          </a:prstGeom>
          <a:solidFill>
            <a:srgbClr val="8B1E1E"/>
          </a:solidFill>
          <a:ln w="9525">
            <a:solidFill>
              <a:srgbClr val="2C1810"/>
            </a:solidFill>
            <a:prstDash val="solid"/>
          </a:ln>
        </p:spPr>
      </p:sp>
      <p:sp>
        <p:nvSpPr>
          <p:cNvPr id="66" name="Shape 64"/>
          <p:cNvSpPr/>
          <p:nvPr/>
        </p:nvSpPr>
        <p:spPr>
          <a:xfrm>
            <a:off x="8346186" y="2759202"/>
            <a:ext cx="96012" cy="112014"/>
          </a:xfrm>
          <a:prstGeom prst="line">
            <a:avLst/>
          </a:prstGeom>
          <a:noFill/>
          <a:ln w="25400">
            <a:solidFill>
              <a:srgbClr val="F4ECD8"/>
            </a:solidFill>
            <a:prstDash val="solid"/>
          </a:ln>
        </p:spPr>
      </p:sp>
      <p:sp>
        <p:nvSpPr>
          <p:cNvPr id="67" name="Shape 65"/>
          <p:cNvSpPr/>
          <p:nvPr/>
        </p:nvSpPr>
        <p:spPr>
          <a:xfrm>
            <a:off x="8442198" y="2871216"/>
            <a:ext cx="160020" cy="-176022"/>
          </a:xfrm>
          <a:prstGeom prst="line">
            <a:avLst/>
          </a:prstGeom>
          <a:noFill/>
          <a:ln w="25400">
            <a:solidFill>
              <a:srgbClr val="F4ECD8"/>
            </a:solidFill>
            <a:prstDash val="solid"/>
          </a:ln>
        </p:spPr>
      </p:sp>
      <p:sp>
        <p:nvSpPr>
          <p:cNvPr id="68" name="Shape 66"/>
          <p:cNvSpPr/>
          <p:nvPr/>
        </p:nvSpPr>
        <p:spPr>
          <a:xfrm>
            <a:off x="7726680" y="3246120"/>
            <a:ext cx="1463040" cy="594360"/>
          </a:xfrm>
          <a:prstGeom prst="roundRect">
            <a:avLst>
              <a:gd name="adj" fmla="val 7692"/>
            </a:avLst>
          </a:prstGeom>
          <a:solidFill>
            <a:srgbClr val="F4ECD8"/>
          </a:solidFill>
          <a:ln w="12700">
            <a:solidFill>
              <a:srgbClr val="2F5D3A"/>
            </a:solidFill>
            <a:prstDash val="solid"/>
          </a:ln>
        </p:spPr>
      </p:sp>
      <p:sp>
        <p:nvSpPr>
          <p:cNvPr id="69" name="Text 67"/>
          <p:cNvSpPr txBox="1"/>
          <p:nvPr/>
        </p:nvSpPr>
        <p:spPr>
          <a:xfrm>
            <a:off x="7726680" y="3273552"/>
            <a:ext cx="1463040" cy="182880"/>
          </a:xfrm>
          <a:prstGeom prst="rect">
            <a:avLst/>
          </a:prstGeom>
          <a:noFill/>
          <a:ln/>
        </p:spPr>
        <p:txBody>
          <a:bodyPr wrap="square" rtlCol="0" anchor="ctr"/>
          <a:lstStyle/>
          <a:p>
            <a:pPr algn="ctr" indent="0" marL="0">
              <a:buNone/>
            </a:pPr>
            <a:r>
              <a:rPr lang="en-US" sz="650" b="1" dirty="0">
                <a:solidFill>
                  <a:srgbClr val="2F5D3A"/>
                </a:solidFill>
                <a:latin typeface="DM Sans" pitchFamily="34" charset="0"/>
                <a:ea typeface="DM Sans" pitchFamily="34" charset="-122"/>
                <a:cs typeface="DM Sans" pitchFamily="34" charset="-120"/>
              </a:rPr>
              <a:t>USER PROFILE</a:t>
            </a:r>
            <a:endParaRPr lang="en-US" sz="650" dirty="0"/>
          </a:p>
        </p:txBody>
      </p:sp>
      <p:sp>
        <p:nvSpPr>
          <p:cNvPr id="70" name="Shape 68"/>
          <p:cNvSpPr/>
          <p:nvPr/>
        </p:nvSpPr>
        <p:spPr>
          <a:xfrm>
            <a:off x="7927848" y="3552444"/>
            <a:ext cx="237744" cy="118872"/>
          </a:xfrm>
          <a:prstGeom prst="ellipse">
            <a:avLst/>
          </a:prstGeom>
          <a:solidFill>
            <a:srgbClr val="B83A3A"/>
          </a:solidFill>
          <a:ln w="6350">
            <a:solidFill>
              <a:srgbClr val="2C1810"/>
            </a:solidFill>
            <a:prstDash val="solid"/>
          </a:ln>
        </p:spPr>
      </p:sp>
      <p:sp>
        <p:nvSpPr>
          <p:cNvPr id="71" name="Shape 69"/>
          <p:cNvSpPr/>
          <p:nvPr/>
        </p:nvSpPr>
        <p:spPr>
          <a:xfrm>
            <a:off x="8080342" y="3578258"/>
            <a:ext cx="58839" cy="-58839"/>
          </a:xfrm>
          <a:prstGeom prst="line">
            <a:avLst/>
          </a:prstGeom>
          <a:noFill/>
          <a:ln w="12700">
            <a:solidFill>
              <a:srgbClr val="2C1810"/>
            </a:solidFill>
            <a:prstDash val="solid"/>
          </a:ln>
        </p:spPr>
      </p:sp>
      <p:sp>
        <p:nvSpPr>
          <p:cNvPr id="72" name="Shape 70"/>
          <p:cNvSpPr/>
          <p:nvPr/>
        </p:nvSpPr>
        <p:spPr>
          <a:xfrm>
            <a:off x="8080342" y="3645502"/>
            <a:ext cx="58839" cy="58839"/>
          </a:xfrm>
          <a:prstGeom prst="line">
            <a:avLst/>
          </a:prstGeom>
          <a:noFill/>
          <a:ln w="12700">
            <a:solidFill>
              <a:srgbClr val="2C1810"/>
            </a:solidFill>
            <a:prstDash val="solid"/>
          </a:ln>
        </p:spPr>
      </p:sp>
      <p:sp>
        <p:nvSpPr>
          <p:cNvPr id="73" name="Shape 71"/>
          <p:cNvSpPr/>
          <p:nvPr/>
        </p:nvSpPr>
        <p:spPr>
          <a:xfrm>
            <a:off x="8013098" y="3578258"/>
            <a:ext cx="-58839" cy="-58839"/>
          </a:xfrm>
          <a:prstGeom prst="line">
            <a:avLst/>
          </a:prstGeom>
          <a:noFill/>
          <a:ln w="12700">
            <a:solidFill>
              <a:srgbClr val="2C1810"/>
            </a:solidFill>
            <a:prstDash val="solid"/>
          </a:ln>
        </p:spPr>
      </p:sp>
      <p:sp>
        <p:nvSpPr>
          <p:cNvPr id="74" name="Shape 72"/>
          <p:cNvSpPr/>
          <p:nvPr/>
        </p:nvSpPr>
        <p:spPr>
          <a:xfrm>
            <a:off x="8013098" y="3645502"/>
            <a:ext cx="-58839" cy="58839"/>
          </a:xfrm>
          <a:prstGeom prst="line">
            <a:avLst/>
          </a:prstGeom>
          <a:noFill/>
          <a:ln w="12700">
            <a:solidFill>
              <a:srgbClr val="2C1810"/>
            </a:solidFill>
            <a:prstDash val="solid"/>
          </a:ln>
        </p:spPr>
      </p:sp>
      <p:sp>
        <p:nvSpPr>
          <p:cNvPr id="75" name="Shape 73"/>
          <p:cNvSpPr/>
          <p:nvPr/>
        </p:nvSpPr>
        <p:spPr>
          <a:xfrm>
            <a:off x="7909560" y="3666744"/>
            <a:ext cx="292608" cy="0"/>
          </a:xfrm>
          <a:prstGeom prst="line">
            <a:avLst/>
          </a:prstGeom>
          <a:noFill/>
          <a:ln w="25400">
            <a:solidFill>
              <a:srgbClr val="B83A3A"/>
            </a:solidFill>
            <a:prstDash val="solid"/>
          </a:ln>
        </p:spPr>
      </p:sp>
      <p:sp>
        <p:nvSpPr>
          <p:cNvPr id="76" name="Text 74"/>
          <p:cNvSpPr txBox="1"/>
          <p:nvPr/>
        </p:nvSpPr>
        <p:spPr>
          <a:xfrm>
            <a:off x="8229600" y="3547872"/>
            <a:ext cx="914400" cy="164592"/>
          </a:xfrm>
          <a:prstGeom prst="rect">
            <a:avLst/>
          </a:prstGeom>
          <a:noFill/>
          <a:ln/>
        </p:spPr>
        <p:txBody>
          <a:bodyPr wrap="square" rtlCol="0" anchor="ctr"/>
          <a:lstStyle/>
          <a:p>
            <a:pPr indent="0" marL="0">
              <a:buNone/>
            </a:pPr>
            <a:r>
              <a:rPr lang="en-US" sz="700" dirty="0">
                <a:solidFill>
                  <a:srgbClr val="2C1810"/>
                </a:solidFill>
                <a:latin typeface="DM Sans" pitchFamily="34" charset="0"/>
                <a:ea typeface="DM Sans" pitchFamily="34" charset="-122"/>
                <a:cs typeface="DM Sans" pitchFamily="34" charset="-120"/>
              </a:rPr>
              <a:t>shellfish</a:t>
            </a:r>
            <a:endParaRPr lang="en-US" sz="700" dirty="0"/>
          </a:p>
        </p:txBody>
      </p:sp>
      <p:sp>
        <p:nvSpPr>
          <p:cNvPr id="77" name="Text 75"/>
          <p:cNvSpPr txBox="1"/>
          <p:nvPr/>
        </p:nvSpPr>
        <p:spPr>
          <a:xfrm>
            <a:off x="7863840" y="3703320"/>
            <a:ext cx="1280160" cy="164592"/>
          </a:xfrm>
          <a:prstGeom prst="rect">
            <a:avLst/>
          </a:prstGeom>
          <a:noFill/>
          <a:ln/>
        </p:spPr>
        <p:txBody>
          <a:bodyPr wrap="square" rtlCol="0" anchor="ctr"/>
          <a:lstStyle/>
          <a:p>
            <a:pPr algn="ctr" indent="0" marL="0">
              <a:buNone/>
            </a:pPr>
            <a:r>
              <a:rPr lang="en-US" sz="700" dirty="0">
                <a:solidFill>
                  <a:srgbClr val="5B4636"/>
                </a:solidFill>
                <a:latin typeface="DM Sans" pitchFamily="34" charset="0"/>
                <a:ea typeface="DM Sans" pitchFamily="34" charset="-122"/>
                <a:cs typeface="DM Sans" pitchFamily="34" charset="-120"/>
              </a:rPr>
              <a:t>halal · mild</a:t>
            </a:r>
            <a:endParaRPr lang="en-US" sz="700" dirty="0"/>
          </a:p>
        </p:txBody>
      </p:sp>
      <p:sp>
        <p:nvSpPr>
          <p:cNvPr id="78" name="Shape 76"/>
          <p:cNvSpPr/>
          <p:nvPr/>
        </p:nvSpPr>
        <p:spPr>
          <a:xfrm>
            <a:off x="9464040" y="2468880"/>
            <a:ext cx="960120" cy="-182880"/>
          </a:xfrm>
          <a:prstGeom prst="line">
            <a:avLst/>
          </a:prstGeom>
          <a:noFill/>
          <a:ln w="28575">
            <a:solidFill>
              <a:srgbClr val="3F7A4A"/>
            </a:solidFill>
            <a:prstDash val="solid"/>
            <a:headEnd type="none"/>
            <a:tailEnd type="triangle"/>
          </a:ln>
        </p:spPr>
      </p:sp>
      <p:sp>
        <p:nvSpPr>
          <p:cNvPr id="79" name="Shape 77"/>
          <p:cNvSpPr/>
          <p:nvPr/>
        </p:nvSpPr>
        <p:spPr>
          <a:xfrm>
            <a:off x="10424160" y="2011680"/>
            <a:ext cx="1280160" cy="640080"/>
          </a:xfrm>
          <a:prstGeom prst="roundRect">
            <a:avLst>
              <a:gd name="adj" fmla="val 11429"/>
            </a:avLst>
          </a:prstGeom>
          <a:solidFill>
            <a:srgbClr val="D6E2D4"/>
          </a:solidFill>
          <a:ln w="15875">
            <a:solidFill>
              <a:srgbClr val="3F7A4A"/>
            </a:solidFill>
            <a:prstDash val="solid"/>
          </a:ln>
        </p:spPr>
      </p:sp>
      <p:sp>
        <p:nvSpPr>
          <p:cNvPr id="80" name="Shape 78"/>
          <p:cNvSpPr/>
          <p:nvPr/>
        </p:nvSpPr>
        <p:spPr>
          <a:xfrm>
            <a:off x="10579608" y="2212848"/>
            <a:ext cx="237744" cy="237744"/>
          </a:xfrm>
          <a:prstGeom prst="ellipse">
            <a:avLst/>
          </a:prstGeom>
          <a:solidFill>
            <a:srgbClr val="3F7A4A"/>
          </a:solidFill>
          <a:ln w="9525">
            <a:solidFill>
              <a:srgbClr val="2C1810"/>
            </a:solidFill>
            <a:prstDash val="solid"/>
          </a:ln>
        </p:spPr>
      </p:sp>
      <p:sp>
        <p:nvSpPr>
          <p:cNvPr id="81" name="Shape 79"/>
          <p:cNvSpPr/>
          <p:nvPr/>
        </p:nvSpPr>
        <p:spPr>
          <a:xfrm>
            <a:off x="10644988" y="2337664"/>
            <a:ext cx="41605" cy="47549"/>
          </a:xfrm>
          <a:prstGeom prst="line">
            <a:avLst/>
          </a:prstGeom>
          <a:noFill/>
          <a:ln w="25400">
            <a:solidFill>
              <a:srgbClr val="F4ECD8"/>
            </a:solidFill>
            <a:prstDash val="solid"/>
          </a:ln>
        </p:spPr>
      </p:sp>
      <p:sp>
        <p:nvSpPr>
          <p:cNvPr id="82" name="Shape 80"/>
          <p:cNvSpPr/>
          <p:nvPr/>
        </p:nvSpPr>
        <p:spPr>
          <a:xfrm>
            <a:off x="10686593" y="2385212"/>
            <a:ext cx="65380" cy="-71323"/>
          </a:xfrm>
          <a:prstGeom prst="line">
            <a:avLst/>
          </a:prstGeom>
          <a:noFill/>
          <a:ln w="25400">
            <a:solidFill>
              <a:srgbClr val="F4ECD8"/>
            </a:solidFill>
            <a:prstDash val="solid"/>
          </a:ln>
        </p:spPr>
      </p:sp>
      <p:sp>
        <p:nvSpPr>
          <p:cNvPr id="83" name="Text 81"/>
          <p:cNvSpPr txBox="1"/>
          <p:nvPr/>
        </p:nvSpPr>
        <p:spPr>
          <a:xfrm>
            <a:off x="10835640" y="2121408"/>
            <a:ext cx="822960" cy="411480"/>
          </a:xfrm>
          <a:prstGeom prst="rect">
            <a:avLst/>
          </a:prstGeom>
          <a:noFill/>
          <a:ln/>
        </p:spPr>
        <p:txBody>
          <a:bodyPr wrap="square" rtlCol="0" anchor="ctr"/>
          <a:lstStyle/>
          <a:p>
            <a:pPr algn="ctr" indent="0" marL="0">
              <a:buNone/>
            </a:pPr>
            <a:r>
              <a:rPr lang="en-US" sz="1200" b="1" dirty="0">
                <a:solidFill>
                  <a:srgbClr val="3F7A4A"/>
                </a:solidFill>
                <a:latin typeface="Fraunces" pitchFamily="34" charset="0"/>
                <a:ea typeface="Fraunces" pitchFamily="34" charset="-122"/>
                <a:cs typeface="Fraunces" pitchFamily="34" charset="-120"/>
              </a:rPr>
              <a:t>SAFE</a:t>
            </a:r>
            <a:endParaRPr lang="en-US" sz="1200" dirty="0"/>
          </a:p>
        </p:txBody>
      </p:sp>
      <p:sp>
        <p:nvSpPr>
          <p:cNvPr id="84" name="Shape 82"/>
          <p:cNvSpPr/>
          <p:nvPr/>
        </p:nvSpPr>
        <p:spPr>
          <a:xfrm>
            <a:off x="9464040" y="3566160"/>
            <a:ext cx="960120" cy="182880"/>
          </a:xfrm>
          <a:prstGeom prst="line">
            <a:avLst/>
          </a:prstGeom>
          <a:noFill/>
          <a:ln w="28575">
            <a:solidFill>
              <a:srgbClr val="B83A3A"/>
            </a:solidFill>
            <a:prstDash val="solid"/>
            <a:headEnd type="none"/>
            <a:tailEnd type="triangle"/>
          </a:ln>
        </p:spPr>
      </p:sp>
      <p:sp>
        <p:nvSpPr>
          <p:cNvPr id="85" name="Shape 83"/>
          <p:cNvSpPr/>
          <p:nvPr/>
        </p:nvSpPr>
        <p:spPr>
          <a:xfrm>
            <a:off x="10424160" y="3383280"/>
            <a:ext cx="1280160" cy="640080"/>
          </a:xfrm>
          <a:prstGeom prst="roundRect">
            <a:avLst>
              <a:gd name="adj" fmla="val 11429"/>
            </a:avLst>
          </a:prstGeom>
          <a:solidFill>
            <a:srgbClr val="F4D6D2"/>
          </a:solidFill>
          <a:ln w="15875">
            <a:solidFill>
              <a:srgbClr val="B83A3A"/>
            </a:solidFill>
            <a:prstDash val="solid"/>
          </a:ln>
        </p:spPr>
      </p:sp>
      <p:sp>
        <p:nvSpPr>
          <p:cNvPr id="86" name="Shape 84"/>
          <p:cNvSpPr/>
          <p:nvPr/>
        </p:nvSpPr>
        <p:spPr>
          <a:xfrm>
            <a:off x="10579608" y="3602279"/>
            <a:ext cx="237744" cy="202082"/>
          </a:xfrm>
          <a:prstGeom prst="triangle">
            <a:avLst/>
          </a:prstGeom>
          <a:solidFill>
            <a:srgbClr val="B83A3A"/>
          </a:solidFill>
          <a:ln w="9525">
            <a:solidFill>
              <a:srgbClr val="2C1810"/>
            </a:solidFill>
            <a:prstDash val="solid"/>
          </a:ln>
        </p:spPr>
      </p:sp>
      <p:sp>
        <p:nvSpPr>
          <p:cNvPr id="87" name="Text 85"/>
          <p:cNvSpPr txBox="1"/>
          <p:nvPr/>
        </p:nvSpPr>
        <p:spPr>
          <a:xfrm>
            <a:off x="10579608" y="3643884"/>
            <a:ext cx="237744" cy="142646"/>
          </a:xfrm>
          <a:prstGeom prst="rect">
            <a:avLst/>
          </a:prstGeom>
          <a:noFill/>
          <a:ln/>
        </p:spPr>
        <p:txBody>
          <a:bodyPr wrap="square" rtlCol="0" anchor="ctr"/>
          <a:lstStyle/>
          <a:p>
            <a:pPr algn="ctr" indent="0" marL="0">
              <a:buNone/>
            </a:pPr>
            <a:r>
              <a:rPr lang="en-US" sz="1200" b="1" dirty="0">
                <a:solidFill>
                  <a:srgbClr val="F4ECD8"/>
                </a:solidFill>
                <a:latin typeface="Fraunces" pitchFamily="34" charset="0"/>
                <a:ea typeface="Fraunces" pitchFamily="34" charset="-122"/>
                <a:cs typeface="Fraunces" pitchFamily="34" charset="-120"/>
              </a:rPr>
              <a:t>!</a:t>
            </a:r>
            <a:endParaRPr lang="en-US" sz="1200" dirty="0"/>
          </a:p>
        </p:txBody>
      </p:sp>
      <p:sp>
        <p:nvSpPr>
          <p:cNvPr id="88" name="Text 86"/>
          <p:cNvSpPr txBox="1"/>
          <p:nvPr/>
        </p:nvSpPr>
        <p:spPr>
          <a:xfrm>
            <a:off x="10835640" y="3493008"/>
            <a:ext cx="822960" cy="411480"/>
          </a:xfrm>
          <a:prstGeom prst="rect">
            <a:avLst/>
          </a:prstGeom>
          <a:noFill/>
          <a:ln/>
        </p:spPr>
        <p:txBody>
          <a:bodyPr wrap="square" rtlCol="0" anchor="ctr"/>
          <a:lstStyle/>
          <a:p>
            <a:pPr algn="ctr" indent="0" marL="0">
              <a:buNone/>
            </a:pPr>
            <a:r>
              <a:rPr lang="en-US" sz="1200" b="1" dirty="0">
                <a:solidFill>
                  <a:srgbClr val="B83A3A"/>
                </a:solidFill>
                <a:latin typeface="Fraunces" pitchFamily="34" charset="0"/>
                <a:ea typeface="Fraunces" pitchFamily="34" charset="-122"/>
                <a:cs typeface="Fraunces" pitchFamily="34" charset="-120"/>
              </a:rPr>
              <a:t>FLAG</a:t>
            </a:r>
            <a:endParaRPr lang="en-US" sz="1200" dirty="0"/>
          </a:p>
        </p:txBody>
      </p:sp>
      <p:sp>
        <p:nvSpPr>
          <p:cNvPr id="89" name="Text 87"/>
          <p:cNvSpPr txBox="1"/>
          <p:nvPr/>
        </p:nvSpPr>
        <p:spPr>
          <a:xfrm>
            <a:off x="502920" y="4572000"/>
            <a:ext cx="5486400" cy="274320"/>
          </a:xfrm>
          <a:prstGeom prst="rect">
            <a:avLst/>
          </a:prstGeom>
          <a:noFill/>
          <a:ln/>
        </p:spPr>
        <p:txBody>
          <a:bodyPr wrap="square" rtlCol="0" anchor="ctr"/>
          <a:lstStyle/>
          <a:p>
            <a:pPr indent="0" marL="0">
              <a:buNone/>
            </a:pPr>
            <a:r>
              <a:rPr lang="en-US" sz="1300" b="1" spc="100" kern="0" dirty="0">
                <a:solidFill>
                  <a:srgbClr val="2F5D3A"/>
                </a:solidFill>
                <a:latin typeface="Fraunces" pitchFamily="34" charset="0"/>
                <a:ea typeface="Fraunces" pitchFamily="34" charset="-122"/>
                <a:cs typeface="Fraunces" pitchFamily="34" charset="-120"/>
              </a:rPr>
              <a:t>01  GROUNDED RETRIEVAL</a:t>
            </a:r>
            <a:endParaRPr lang="en-US" sz="1300" dirty="0"/>
          </a:p>
        </p:txBody>
      </p:sp>
      <p:sp>
        <p:nvSpPr>
          <p:cNvPr id="90" name="Text 88"/>
          <p:cNvSpPr txBox="1"/>
          <p:nvPr/>
        </p:nvSpPr>
        <p:spPr>
          <a:xfrm>
            <a:off x="502920" y="4846320"/>
            <a:ext cx="5577840" cy="1280160"/>
          </a:xfrm>
          <a:prstGeom prst="rect">
            <a:avLst/>
          </a:prstGeom>
          <a:noFill/>
          <a:ln/>
        </p:spPr>
        <p:txBody>
          <a:bodyPr wrap="square" rtlCol="0" anchor="ctr"/>
          <a:lstStyle/>
          <a:p>
            <a:pPr indent="0" marL="0">
              <a:lnSpc>
                <a:spcPct val="115000"/>
              </a:lnSpc>
              <a:buNone/>
            </a:pPr>
            <a:r>
              <a:rPr lang="en-US" sz="1000" dirty="0">
                <a:solidFill>
                  <a:srgbClr val="2C1810"/>
                </a:solidFill>
                <a:latin typeface="DM Sans" pitchFamily="34" charset="0"/>
                <a:ea typeface="DM Sans" pitchFamily="34" charset="-122"/>
                <a:cs typeface="DM Sans" pitchFamily="34" charset="-120"/>
              </a:rPr>
              <a:t>Tavily queries "&lt;ingredient&gt; &lt;dish&gt; Malaysian food culture history origin". Results are formatted and injected into the Gemini context. Every output carries source attribution; graceful fallback is flagged if search fails.</a:t>
            </a:r>
            <a:endParaRPr lang="en-US" sz="1000" dirty="0"/>
          </a:p>
        </p:txBody>
      </p:sp>
      <p:sp>
        <p:nvSpPr>
          <p:cNvPr id="91" name="Text 89"/>
          <p:cNvSpPr txBox="1"/>
          <p:nvPr/>
        </p:nvSpPr>
        <p:spPr>
          <a:xfrm>
            <a:off x="6400800" y="4572000"/>
            <a:ext cx="5029200" cy="274320"/>
          </a:xfrm>
          <a:prstGeom prst="rect">
            <a:avLst/>
          </a:prstGeom>
          <a:noFill/>
          <a:ln/>
        </p:spPr>
        <p:txBody>
          <a:bodyPr wrap="square" rtlCol="0" anchor="ctr"/>
          <a:lstStyle/>
          <a:p>
            <a:pPr indent="0" marL="0">
              <a:buNone/>
            </a:pPr>
            <a:r>
              <a:rPr lang="en-US" sz="1300" b="1" spc="100" kern="0" dirty="0">
                <a:solidFill>
                  <a:srgbClr val="8B1E1E"/>
                </a:solidFill>
                <a:latin typeface="Fraunces" pitchFamily="34" charset="0"/>
                <a:ea typeface="Fraunces" pitchFamily="34" charset="-122"/>
                <a:cs typeface="Fraunces" pitchFamily="34" charset="-120"/>
              </a:rPr>
              <a:t>02  SAFETY AUDIT</a:t>
            </a:r>
            <a:endParaRPr lang="en-US" sz="1300" dirty="0"/>
          </a:p>
        </p:txBody>
      </p:sp>
      <p:sp>
        <p:nvSpPr>
          <p:cNvPr id="92" name="Text 90"/>
          <p:cNvSpPr txBox="1"/>
          <p:nvPr/>
        </p:nvSpPr>
        <p:spPr>
          <a:xfrm>
            <a:off x="6400800" y="4846320"/>
            <a:ext cx="5120640" cy="1280160"/>
          </a:xfrm>
          <a:prstGeom prst="rect">
            <a:avLst/>
          </a:prstGeom>
          <a:noFill/>
          <a:ln/>
        </p:spPr>
        <p:txBody>
          <a:bodyPr wrap="square" rtlCol="0" anchor="ctr"/>
          <a:lstStyle/>
          <a:p>
            <a:pPr indent="0" marL="0">
              <a:lnSpc>
                <a:spcPct val="115000"/>
              </a:lnSpc>
              <a:buNone/>
            </a:pPr>
            <a:r>
              <a:rPr lang="en-US" sz="1000" dirty="0">
                <a:solidFill>
                  <a:srgbClr val="2C1810"/>
                </a:solidFill>
                <a:latin typeface="DM Sans" pitchFamily="34" charset="0"/>
                <a:ea typeface="DM Sans" pitchFamily="34" charset="-122"/>
                <a:cs typeface="DM Sans" pitchFamily="34" charset="-120"/>
              </a:rPr>
              <a:t>Magic Lens cross-references the user's profile (allergies, Halal, spice tolerance) against the retrieved ingredient matrix. Dangerous matches are greyed out with a red warning badge — a human-in-the-loop guardrail, not a guess.</a:t>
            </a:r>
            <a:endParaRPr lang="en-US" sz="1000" dirty="0"/>
          </a:p>
        </p:txBody>
      </p:sp>
      <p:sp>
        <p:nvSpPr>
          <p:cNvPr id="93" name="Text 91"/>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94" name="Text 92"/>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( 04 )</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THE HERO FLOW</a:t>
            </a:r>
            <a:endParaRPr lang="en-US" sz="40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THE HERO FLOW</a:t>
            </a:r>
            <a:endParaRPr lang="en-US" sz="40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FIVE SECONDS · ON-DEVICE FEEL · END TO END</a:t>
            </a:r>
            <a:endParaRPr lang="en-US" sz="1100" dirty="0"/>
          </a:p>
        </p:txBody>
      </p:sp>
      <p:sp>
        <p:nvSpPr>
          <p:cNvPr id="28" name="Shape 26"/>
          <p:cNvSpPr/>
          <p:nvPr/>
        </p:nvSpPr>
        <p:spPr>
          <a:xfrm>
            <a:off x="486004" y="1554480"/>
            <a:ext cx="2148840" cy="4023360"/>
          </a:xfrm>
          <a:prstGeom prst="roundRect">
            <a:avLst>
              <a:gd name="adj" fmla="val 3404"/>
            </a:avLst>
          </a:prstGeom>
          <a:solidFill>
            <a:srgbClr val="EFE6CC"/>
          </a:solidFill>
          <a:ln w="15875">
            <a:solidFill>
              <a:srgbClr val="8B1E1E"/>
            </a:solidFill>
            <a:prstDash val="solid"/>
          </a:ln>
        </p:spPr>
      </p:sp>
      <p:sp>
        <p:nvSpPr>
          <p:cNvPr id="29" name="Shape 27"/>
          <p:cNvSpPr/>
          <p:nvPr/>
        </p:nvSpPr>
        <p:spPr>
          <a:xfrm>
            <a:off x="486004" y="1554480"/>
            <a:ext cx="2148840" cy="411480"/>
          </a:xfrm>
          <a:prstGeom prst="rect">
            <a:avLst/>
          </a:prstGeom>
          <a:solidFill>
            <a:srgbClr val="8B1E1E"/>
          </a:solidFill>
          <a:ln w="9525">
            <a:solidFill>
              <a:srgbClr val="8B1E1E"/>
            </a:solidFill>
            <a:prstDash val="solid"/>
          </a:ln>
        </p:spPr>
      </p:sp>
      <p:sp>
        <p:nvSpPr>
          <p:cNvPr id="30" name="Text 28"/>
          <p:cNvSpPr txBox="1"/>
          <p:nvPr/>
        </p:nvSpPr>
        <p:spPr>
          <a:xfrm>
            <a:off x="486004" y="1554480"/>
            <a:ext cx="2148840" cy="411480"/>
          </a:xfrm>
          <a:prstGeom prst="rect">
            <a:avLst/>
          </a:prstGeom>
          <a:noFill/>
          <a:ln/>
        </p:spPr>
        <p:txBody>
          <a:bodyPr wrap="square" rtlCol="0" anchor="ctr"/>
          <a:lstStyle/>
          <a:p>
            <a:pPr algn="ctr" indent="0" marL="0">
              <a:buNone/>
            </a:pPr>
            <a:r>
              <a:rPr lang="en-US" sz="1400" b="1" dirty="0">
                <a:solidFill>
                  <a:srgbClr val="F4ECD8"/>
                </a:solidFill>
                <a:latin typeface="Fraunces" pitchFamily="34" charset="0"/>
                <a:ea typeface="Fraunces" pitchFamily="34" charset="-122"/>
                <a:cs typeface="Fraunces" pitchFamily="34" charset="-120"/>
              </a:rPr>
              <a:t>01</a:t>
            </a:r>
            <a:endParaRPr lang="en-US" sz="1400" dirty="0"/>
          </a:p>
        </p:txBody>
      </p:sp>
      <p:sp>
        <p:nvSpPr>
          <p:cNvPr id="31" name="Text 29"/>
          <p:cNvSpPr txBox="1"/>
          <p:nvPr/>
        </p:nvSpPr>
        <p:spPr>
          <a:xfrm>
            <a:off x="531724" y="2011680"/>
            <a:ext cx="2057400" cy="274320"/>
          </a:xfrm>
          <a:prstGeom prst="rect">
            <a:avLst/>
          </a:prstGeom>
          <a:noFill/>
          <a:ln/>
        </p:spPr>
        <p:txBody>
          <a:bodyPr wrap="square" rtlCol="0" anchor="ctr"/>
          <a:lstStyle/>
          <a:p>
            <a:pPr algn="ctr" indent="0" marL="0">
              <a:buNone/>
            </a:pPr>
            <a:r>
              <a:rPr lang="en-US" sz="1100" b="1" spc="100" kern="0" dirty="0">
                <a:solidFill>
                  <a:srgbClr val="2C1810"/>
                </a:solidFill>
                <a:latin typeface="Fraunces" pitchFamily="34" charset="0"/>
                <a:ea typeface="Fraunces" pitchFamily="34" charset="-122"/>
                <a:cs typeface="Fraunces" pitchFamily="34" charset="-120"/>
              </a:rPr>
              <a:t>ONBOARDING</a:t>
            </a:r>
            <a:endParaRPr lang="en-US" sz="1100" dirty="0"/>
          </a:p>
        </p:txBody>
      </p:sp>
      <p:sp>
        <p:nvSpPr>
          <p:cNvPr id="32" name="Shape 30"/>
          <p:cNvSpPr/>
          <p:nvPr/>
        </p:nvSpPr>
        <p:spPr>
          <a:xfrm>
            <a:off x="806044" y="2423160"/>
            <a:ext cx="1508760" cy="1783080"/>
          </a:xfrm>
          <a:prstGeom prst="roundRect">
            <a:avLst>
              <a:gd name="adj" fmla="val 8485"/>
            </a:avLst>
          </a:prstGeom>
          <a:solidFill>
            <a:srgbClr val="2C1810"/>
          </a:solidFill>
          <a:ln w="12700">
            <a:solidFill>
              <a:srgbClr val="2C1810"/>
            </a:solidFill>
            <a:prstDash val="solid"/>
          </a:ln>
        </p:spPr>
      </p:sp>
      <p:sp>
        <p:nvSpPr>
          <p:cNvPr id="33" name="Shape 31"/>
          <p:cNvSpPr/>
          <p:nvPr/>
        </p:nvSpPr>
        <p:spPr>
          <a:xfrm>
            <a:off x="870052" y="2487168"/>
            <a:ext cx="1380744" cy="1655064"/>
          </a:xfrm>
          <a:prstGeom prst="roundRect">
            <a:avLst>
              <a:gd name="adj" fmla="val 5298"/>
            </a:avLst>
          </a:prstGeom>
          <a:solidFill>
            <a:srgbClr val="F4ECD8"/>
          </a:solidFill>
          <a:ln w="6350">
            <a:solidFill>
              <a:srgbClr val="C4A882"/>
            </a:solidFill>
            <a:prstDash val="solid"/>
          </a:ln>
        </p:spPr>
      </p:sp>
      <p:sp>
        <p:nvSpPr>
          <p:cNvPr id="34" name="Shape 32"/>
          <p:cNvSpPr/>
          <p:nvPr/>
        </p:nvSpPr>
        <p:spPr>
          <a:xfrm>
            <a:off x="1395832" y="2459736"/>
            <a:ext cx="329184" cy="54864"/>
          </a:xfrm>
          <a:prstGeom prst="roundRect">
            <a:avLst>
              <a:gd name="adj" fmla="val 50000"/>
            </a:avLst>
          </a:prstGeom>
          <a:solidFill>
            <a:srgbClr val="2C1810"/>
          </a:solidFill>
          <a:ln/>
        </p:spPr>
      </p:sp>
      <p:sp>
        <p:nvSpPr>
          <p:cNvPr id="35" name="Shape 33"/>
          <p:cNvSpPr/>
          <p:nvPr/>
        </p:nvSpPr>
        <p:spPr>
          <a:xfrm>
            <a:off x="897484" y="2697480"/>
            <a:ext cx="1325880" cy="1371600"/>
          </a:xfrm>
          <a:prstGeom prst="rect">
            <a:avLst/>
          </a:prstGeom>
          <a:solidFill>
            <a:srgbClr val="F4ECD8"/>
          </a:solidFill>
          <a:ln w="5080">
            <a:solidFill>
              <a:srgbClr val="C4A882"/>
            </a:solidFill>
            <a:prstDash val="solid"/>
          </a:ln>
        </p:spPr>
      </p:sp>
      <p:sp>
        <p:nvSpPr>
          <p:cNvPr id="36" name="Text 34"/>
          <p:cNvSpPr txBox="1"/>
          <p:nvPr/>
        </p:nvSpPr>
        <p:spPr>
          <a:xfrm>
            <a:off x="897484" y="2743200"/>
            <a:ext cx="1325880" cy="164592"/>
          </a:xfrm>
          <a:prstGeom prst="rect">
            <a:avLst/>
          </a:prstGeom>
          <a:noFill/>
          <a:ln/>
        </p:spPr>
        <p:txBody>
          <a:bodyPr wrap="square" rtlCol="0" anchor="ctr"/>
          <a:lstStyle/>
          <a:p>
            <a:pPr algn="ctr" indent="0" marL="0">
              <a:buNone/>
            </a:pPr>
            <a:r>
              <a:rPr lang="en-US" sz="600" b="1" dirty="0">
                <a:solidFill>
                  <a:srgbClr val="8B1E1E"/>
                </a:solidFill>
                <a:latin typeface="DM Sans" pitchFamily="34" charset="0"/>
                <a:ea typeface="DM Sans" pitchFamily="34" charset="-122"/>
                <a:cs typeface="DM Sans" pitchFamily="34" charset="-120"/>
              </a:rPr>
              <a:t>YOUR PROFILE</a:t>
            </a:r>
            <a:endParaRPr lang="en-US" sz="600" dirty="0"/>
          </a:p>
        </p:txBody>
      </p:sp>
      <p:sp>
        <p:nvSpPr>
          <p:cNvPr id="37" name="Shape 35"/>
          <p:cNvSpPr/>
          <p:nvPr/>
        </p:nvSpPr>
        <p:spPr>
          <a:xfrm>
            <a:off x="988924" y="2953512"/>
            <a:ext cx="274320" cy="146304"/>
          </a:xfrm>
          <a:prstGeom prst="roundRect">
            <a:avLst>
              <a:gd name="adj" fmla="val 37500"/>
            </a:avLst>
          </a:prstGeom>
          <a:solidFill>
            <a:srgbClr val="B83A3A"/>
          </a:solidFill>
          <a:ln w="5080">
            <a:solidFill>
              <a:srgbClr val="2C1810"/>
            </a:solidFill>
            <a:prstDash val="solid"/>
          </a:ln>
        </p:spPr>
      </p:sp>
      <p:sp>
        <p:nvSpPr>
          <p:cNvPr id="38" name="Text 36"/>
          <p:cNvSpPr txBox="1"/>
          <p:nvPr/>
        </p:nvSpPr>
        <p:spPr>
          <a:xfrm>
            <a:off x="1308964" y="2935224"/>
            <a:ext cx="868680" cy="182880"/>
          </a:xfrm>
          <a:prstGeom prst="rect">
            <a:avLst/>
          </a:prstGeom>
          <a:noFill/>
          <a:ln/>
        </p:spPr>
        <p:txBody>
          <a:bodyPr wrap="square" rtlCol="0" anchor="ctr"/>
          <a:lstStyle/>
          <a:p>
            <a:pPr indent="0" marL="0">
              <a:buNone/>
            </a:pPr>
            <a:r>
              <a:rPr lang="en-US" sz="600" dirty="0">
                <a:solidFill>
                  <a:srgbClr val="2C1810"/>
                </a:solidFill>
                <a:latin typeface="DM Sans" pitchFamily="34" charset="0"/>
                <a:ea typeface="DM Sans" pitchFamily="34" charset="-122"/>
                <a:cs typeface="DM Sans" pitchFamily="34" charset="-120"/>
              </a:rPr>
              <a:t>seafood</a:t>
            </a:r>
            <a:endParaRPr lang="en-US" sz="600" dirty="0"/>
          </a:p>
        </p:txBody>
      </p:sp>
      <p:sp>
        <p:nvSpPr>
          <p:cNvPr id="39" name="Shape 37"/>
          <p:cNvSpPr/>
          <p:nvPr/>
        </p:nvSpPr>
        <p:spPr>
          <a:xfrm>
            <a:off x="988924" y="3182112"/>
            <a:ext cx="274320" cy="146304"/>
          </a:xfrm>
          <a:prstGeom prst="roundRect">
            <a:avLst>
              <a:gd name="adj" fmla="val 37500"/>
            </a:avLst>
          </a:prstGeom>
          <a:solidFill>
            <a:srgbClr val="B8902F"/>
          </a:solidFill>
          <a:ln w="5080">
            <a:solidFill>
              <a:srgbClr val="2C1810"/>
            </a:solidFill>
            <a:prstDash val="solid"/>
          </a:ln>
        </p:spPr>
      </p:sp>
      <p:sp>
        <p:nvSpPr>
          <p:cNvPr id="40" name="Text 38"/>
          <p:cNvSpPr txBox="1"/>
          <p:nvPr/>
        </p:nvSpPr>
        <p:spPr>
          <a:xfrm>
            <a:off x="1308964" y="3163824"/>
            <a:ext cx="868680" cy="182880"/>
          </a:xfrm>
          <a:prstGeom prst="rect">
            <a:avLst/>
          </a:prstGeom>
          <a:noFill/>
          <a:ln/>
        </p:spPr>
        <p:txBody>
          <a:bodyPr wrap="square" rtlCol="0" anchor="ctr"/>
          <a:lstStyle/>
          <a:p>
            <a:pPr indent="0" marL="0">
              <a:buNone/>
            </a:pPr>
            <a:r>
              <a:rPr lang="en-US" sz="600" dirty="0">
                <a:solidFill>
                  <a:srgbClr val="2C1810"/>
                </a:solidFill>
                <a:latin typeface="DM Sans" pitchFamily="34" charset="0"/>
                <a:ea typeface="DM Sans" pitchFamily="34" charset="-122"/>
                <a:cs typeface="DM Sans" pitchFamily="34" charset="-120"/>
              </a:rPr>
              <a:t>mild spice</a:t>
            </a:r>
            <a:endParaRPr lang="en-US" sz="600" dirty="0"/>
          </a:p>
        </p:txBody>
      </p:sp>
      <p:sp>
        <p:nvSpPr>
          <p:cNvPr id="41" name="Shape 39"/>
          <p:cNvSpPr/>
          <p:nvPr/>
        </p:nvSpPr>
        <p:spPr>
          <a:xfrm>
            <a:off x="988924" y="3410712"/>
            <a:ext cx="274320" cy="146304"/>
          </a:xfrm>
          <a:prstGeom prst="roundRect">
            <a:avLst>
              <a:gd name="adj" fmla="val 37500"/>
            </a:avLst>
          </a:prstGeom>
          <a:solidFill>
            <a:srgbClr val="2F5D3A"/>
          </a:solidFill>
          <a:ln w="5080">
            <a:solidFill>
              <a:srgbClr val="2C1810"/>
            </a:solidFill>
            <a:prstDash val="solid"/>
          </a:ln>
        </p:spPr>
      </p:sp>
      <p:sp>
        <p:nvSpPr>
          <p:cNvPr id="42" name="Text 40"/>
          <p:cNvSpPr txBox="1"/>
          <p:nvPr/>
        </p:nvSpPr>
        <p:spPr>
          <a:xfrm>
            <a:off x="1308964" y="3392424"/>
            <a:ext cx="868680" cy="182880"/>
          </a:xfrm>
          <a:prstGeom prst="rect">
            <a:avLst/>
          </a:prstGeom>
          <a:noFill/>
          <a:ln/>
        </p:spPr>
        <p:txBody>
          <a:bodyPr wrap="square" rtlCol="0" anchor="ctr"/>
          <a:lstStyle/>
          <a:p>
            <a:pPr indent="0" marL="0">
              <a:buNone/>
            </a:pPr>
            <a:r>
              <a:rPr lang="en-US" sz="600" dirty="0">
                <a:solidFill>
                  <a:srgbClr val="2C1810"/>
                </a:solidFill>
                <a:latin typeface="DM Sans" pitchFamily="34" charset="0"/>
                <a:ea typeface="DM Sans" pitchFamily="34" charset="-122"/>
                <a:cs typeface="DM Sans" pitchFamily="34" charset="-120"/>
              </a:rPr>
              <a:t>halal</a:t>
            </a:r>
            <a:endParaRPr lang="en-US" sz="600" dirty="0"/>
          </a:p>
        </p:txBody>
      </p:sp>
      <p:sp>
        <p:nvSpPr>
          <p:cNvPr id="43" name="Text 41"/>
          <p:cNvSpPr txBox="1"/>
          <p:nvPr/>
        </p:nvSpPr>
        <p:spPr>
          <a:xfrm>
            <a:off x="623164" y="4343400"/>
            <a:ext cx="1874520" cy="1097280"/>
          </a:xfrm>
          <a:prstGeom prst="rect">
            <a:avLst/>
          </a:prstGeom>
          <a:noFill/>
          <a:ln/>
        </p:spPr>
        <p:txBody>
          <a:bodyPr wrap="square" rtlCol="0" anchor="t"/>
          <a:lstStyle/>
          <a:p>
            <a:pPr algn="ctr" indent="0" marL="0">
              <a:lnSpc>
                <a:spcPct val="115000"/>
              </a:lnSpc>
              <a:buNone/>
            </a:pPr>
            <a:r>
              <a:rPr lang="en-US" sz="900" dirty="0">
                <a:solidFill>
                  <a:srgbClr val="2C1810"/>
                </a:solidFill>
                <a:latin typeface="DM Sans" pitchFamily="34" charset="0"/>
                <a:ea typeface="DM Sans" pitchFamily="34" charset="-122"/>
                <a:cs typeface="DM Sans" pitchFamily="34" charset="-120"/>
              </a:rPr>
              <a:t>Tourist toggles profile: seafood allergy, mild spice, Halal.</a:t>
            </a:r>
            <a:endParaRPr lang="en-US" sz="900" dirty="0"/>
          </a:p>
        </p:txBody>
      </p:sp>
      <p:sp>
        <p:nvSpPr>
          <p:cNvPr id="44" name="Text 42"/>
          <p:cNvSpPr txBox="1"/>
          <p:nvPr/>
        </p:nvSpPr>
        <p:spPr>
          <a:xfrm>
            <a:off x="2589124" y="3383280"/>
            <a:ext cx="210312" cy="365760"/>
          </a:xfrm>
          <a:prstGeom prst="rect">
            <a:avLst/>
          </a:prstGeom>
          <a:noFill/>
          <a:ln/>
        </p:spPr>
        <p:txBody>
          <a:bodyPr wrap="square" rtlCol="0" anchor="ctr"/>
          <a:lstStyle/>
          <a:p>
            <a:pPr algn="ctr" indent="0" marL="0">
              <a:buNone/>
            </a:pPr>
            <a:r>
              <a:rPr lang="en-US" sz="1400" b="1" dirty="0">
                <a:solidFill>
                  <a:srgbClr val="D4A947"/>
                </a:solidFill>
                <a:latin typeface="Fraunces" pitchFamily="34" charset="0"/>
                <a:ea typeface="Fraunces" pitchFamily="34" charset="-122"/>
                <a:cs typeface="Fraunces" pitchFamily="34" charset="-120"/>
              </a:rPr>
              <a:t>▸</a:t>
            </a:r>
            <a:endParaRPr lang="en-US" sz="1400" dirty="0"/>
          </a:p>
        </p:txBody>
      </p:sp>
      <p:sp>
        <p:nvSpPr>
          <p:cNvPr id="45" name="Shape 43"/>
          <p:cNvSpPr/>
          <p:nvPr/>
        </p:nvSpPr>
        <p:spPr>
          <a:xfrm>
            <a:off x="2753716" y="1554480"/>
            <a:ext cx="2148840" cy="4023360"/>
          </a:xfrm>
          <a:prstGeom prst="roundRect">
            <a:avLst>
              <a:gd name="adj" fmla="val 3404"/>
            </a:avLst>
          </a:prstGeom>
          <a:solidFill>
            <a:srgbClr val="EFE6CC"/>
          </a:solidFill>
          <a:ln w="15875">
            <a:solidFill>
              <a:srgbClr val="2F5D3A"/>
            </a:solidFill>
            <a:prstDash val="solid"/>
          </a:ln>
        </p:spPr>
      </p:sp>
      <p:sp>
        <p:nvSpPr>
          <p:cNvPr id="46" name="Shape 44"/>
          <p:cNvSpPr/>
          <p:nvPr/>
        </p:nvSpPr>
        <p:spPr>
          <a:xfrm>
            <a:off x="2753716" y="1554480"/>
            <a:ext cx="2148840" cy="411480"/>
          </a:xfrm>
          <a:prstGeom prst="rect">
            <a:avLst/>
          </a:prstGeom>
          <a:solidFill>
            <a:srgbClr val="2F5D3A"/>
          </a:solidFill>
          <a:ln w="9525">
            <a:solidFill>
              <a:srgbClr val="2F5D3A"/>
            </a:solidFill>
            <a:prstDash val="solid"/>
          </a:ln>
        </p:spPr>
      </p:sp>
      <p:sp>
        <p:nvSpPr>
          <p:cNvPr id="47" name="Text 45"/>
          <p:cNvSpPr txBox="1"/>
          <p:nvPr/>
        </p:nvSpPr>
        <p:spPr>
          <a:xfrm>
            <a:off x="2753716" y="1554480"/>
            <a:ext cx="2148840" cy="411480"/>
          </a:xfrm>
          <a:prstGeom prst="rect">
            <a:avLst/>
          </a:prstGeom>
          <a:noFill/>
          <a:ln/>
        </p:spPr>
        <p:txBody>
          <a:bodyPr wrap="square" rtlCol="0" anchor="ctr"/>
          <a:lstStyle/>
          <a:p>
            <a:pPr algn="ctr" indent="0" marL="0">
              <a:buNone/>
            </a:pPr>
            <a:r>
              <a:rPr lang="en-US" sz="1400" b="1" dirty="0">
                <a:solidFill>
                  <a:srgbClr val="F4ECD8"/>
                </a:solidFill>
                <a:latin typeface="Fraunces" pitchFamily="34" charset="0"/>
                <a:ea typeface="Fraunces" pitchFamily="34" charset="-122"/>
                <a:cs typeface="Fraunces" pitchFamily="34" charset="-120"/>
              </a:rPr>
              <a:t>02</a:t>
            </a:r>
            <a:endParaRPr lang="en-US" sz="1400" dirty="0"/>
          </a:p>
        </p:txBody>
      </p:sp>
      <p:sp>
        <p:nvSpPr>
          <p:cNvPr id="48" name="Text 46"/>
          <p:cNvSpPr txBox="1"/>
          <p:nvPr/>
        </p:nvSpPr>
        <p:spPr>
          <a:xfrm>
            <a:off x="2799436" y="2011680"/>
            <a:ext cx="2057400" cy="274320"/>
          </a:xfrm>
          <a:prstGeom prst="rect">
            <a:avLst/>
          </a:prstGeom>
          <a:noFill/>
          <a:ln/>
        </p:spPr>
        <p:txBody>
          <a:bodyPr wrap="square" rtlCol="0" anchor="ctr"/>
          <a:lstStyle/>
          <a:p>
            <a:pPr algn="ctr" indent="0" marL="0">
              <a:buNone/>
            </a:pPr>
            <a:r>
              <a:rPr lang="en-US" sz="1100" b="1" spc="100" kern="0" dirty="0">
                <a:solidFill>
                  <a:srgbClr val="2C1810"/>
                </a:solidFill>
                <a:latin typeface="Fraunces" pitchFamily="34" charset="0"/>
                <a:ea typeface="Fraunces" pitchFamily="34" charset="-122"/>
                <a:cs typeface="Fraunces" pitchFamily="34" charset="-120"/>
              </a:rPr>
              <a:t>CAPTURE</a:t>
            </a:r>
            <a:endParaRPr lang="en-US" sz="1100" dirty="0"/>
          </a:p>
        </p:txBody>
      </p:sp>
      <p:sp>
        <p:nvSpPr>
          <p:cNvPr id="49" name="Shape 47"/>
          <p:cNvSpPr/>
          <p:nvPr/>
        </p:nvSpPr>
        <p:spPr>
          <a:xfrm>
            <a:off x="3073756" y="2423160"/>
            <a:ext cx="1508760" cy="1783080"/>
          </a:xfrm>
          <a:prstGeom prst="roundRect">
            <a:avLst>
              <a:gd name="adj" fmla="val 8485"/>
            </a:avLst>
          </a:prstGeom>
          <a:solidFill>
            <a:srgbClr val="2C1810"/>
          </a:solidFill>
          <a:ln w="12700">
            <a:solidFill>
              <a:srgbClr val="2C1810"/>
            </a:solidFill>
            <a:prstDash val="solid"/>
          </a:ln>
        </p:spPr>
      </p:sp>
      <p:sp>
        <p:nvSpPr>
          <p:cNvPr id="50" name="Shape 48"/>
          <p:cNvSpPr/>
          <p:nvPr/>
        </p:nvSpPr>
        <p:spPr>
          <a:xfrm>
            <a:off x="3137764" y="2487168"/>
            <a:ext cx="1380744" cy="1655064"/>
          </a:xfrm>
          <a:prstGeom prst="roundRect">
            <a:avLst>
              <a:gd name="adj" fmla="val 5298"/>
            </a:avLst>
          </a:prstGeom>
          <a:solidFill>
            <a:srgbClr val="F4ECD8"/>
          </a:solidFill>
          <a:ln w="6350">
            <a:solidFill>
              <a:srgbClr val="C4A882"/>
            </a:solidFill>
            <a:prstDash val="solid"/>
          </a:ln>
        </p:spPr>
      </p:sp>
      <p:sp>
        <p:nvSpPr>
          <p:cNvPr id="51" name="Shape 49"/>
          <p:cNvSpPr/>
          <p:nvPr/>
        </p:nvSpPr>
        <p:spPr>
          <a:xfrm>
            <a:off x="3663544" y="2459736"/>
            <a:ext cx="329184" cy="54864"/>
          </a:xfrm>
          <a:prstGeom prst="roundRect">
            <a:avLst>
              <a:gd name="adj" fmla="val 50000"/>
            </a:avLst>
          </a:prstGeom>
          <a:solidFill>
            <a:srgbClr val="2C1810"/>
          </a:solidFill>
          <a:ln/>
        </p:spPr>
      </p:sp>
      <p:sp>
        <p:nvSpPr>
          <p:cNvPr id="52" name="Shape 50"/>
          <p:cNvSpPr/>
          <p:nvPr/>
        </p:nvSpPr>
        <p:spPr>
          <a:xfrm>
            <a:off x="3165196" y="2697480"/>
            <a:ext cx="1325880" cy="1371600"/>
          </a:xfrm>
          <a:prstGeom prst="rect">
            <a:avLst/>
          </a:prstGeom>
          <a:solidFill>
            <a:srgbClr val="F4ECD8"/>
          </a:solidFill>
          <a:ln w="5080">
            <a:solidFill>
              <a:srgbClr val="C4A882"/>
            </a:solidFill>
            <a:prstDash val="solid"/>
          </a:ln>
        </p:spPr>
      </p:sp>
      <p:sp>
        <p:nvSpPr>
          <p:cNvPr id="53" name="Shape 51"/>
          <p:cNvSpPr/>
          <p:nvPr/>
        </p:nvSpPr>
        <p:spPr>
          <a:xfrm>
            <a:off x="3348076" y="2880360"/>
            <a:ext cx="960120" cy="1005840"/>
          </a:xfrm>
          <a:prstGeom prst="rect">
            <a:avLst/>
          </a:prstGeom>
          <a:solidFill>
            <a:srgbClr val="DDD0AE"/>
          </a:solidFill>
          <a:ln w="6350">
            <a:solidFill>
              <a:srgbClr val="2C1810"/>
            </a:solidFill>
            <a:prstDash val="solid"/>
          </a:ln>
        </p:spPr>
      </p:sp>
      <p:sp>
        <p:nvSpPr>
          <p:cNvPr id="54" name="Shape 52"/>
          <p:cNvSpPr/>
          <p:nvPr/>
        </p:nvSpPr>
        <p:spPr>
          <a:xfrm>
            <a:off x="3485236" y="3063240"/>
            <a:ext cx="685800" cy="0"/>
          </a:xfrm>
          <a:prstGeom prst="line">
            <a:avLst/>
          </a:prstGeom>
          <a:noFill/>
          <a:ln w="7620">
            <a:solidFill>
              <a:srgbClr val="5B4636"/>
            </a:solidFill>
            <a:prstDash val="dash"/>
          </a:ln>
        </p:spPr>
      </p:sp>
      <p:sp>
        <p:nvSpPr>
          <p:cNvPr id="55" name="Shape 53"/>
          <p:cNvSpPr/>
          <p:nvPr/>
        </p:nvSpPr>
        <p:spPr>
          <a:xfrm>
            <a:off x="3485236" y="3264408"/>
            <a:ext cx="685800" cy="0"/>
          </a:xfrm>
          <a:prstGeom prst="line">
            <a:avLst/>
          </a:prstGeom>
          <a:noFill/>
          <a:ln w="7620">
            <a:solidFill>
              <a:srgbClr val="5B4636"/>
            </a:solidFill>
            <a:prstDash val="dash"/>
          </a:ln>
        </p:spPr>
      </p:sp>
      <p:sp>
        <p:nvSpPr>
          <p:cNvPr id="56" name="Shape 54"/>
          <p:cNvSpPr/>
          <p:nvPr/>
        </p:nvSpPr>
        <p:spPr>
          <a:xfrm>
            <a:off x="3485236" y="3465576"/>
            <a:ext cx="685800" cy="0"/>
          </a:xfrm>
          <a:prstGeom prst="line">
            <a:avLst/>
          </a:prstGeom>
          <a:noFill/>
          <a:ln w="7620">
            <a:solidFill>
              <a:srgbClr val="5B4636"/>
            </a:solidFill>
            <a:prstDash val="dash"/>
          </a:ln>
        </p:spPr>
      </p:sp>
      <p:sp>
        <p:nvSpPr>
          <p:cNvPr id="57" name="Shape 55"/>
          <p:cNvSpPr/>
          <p:nvPr/>
        </p:nvSpPr>
        <p:spPr>
          <a:xfrm>
            <a:off x="3485236" y="3666744"/>
            <a:ext cx="685800" cy="0"/>
          </a:xfrm>
          <a:prstGeom prst="line">
            <a:avLst/>
          </a:prstGeom>
          <a:noFill/>
          <a:ln w="7620">
            <a:solidFill>
              <a:srgbClr val="5B4636"/>
            </a:solidFill>
            <a:prstDash val="dash"/>
          </a:ln>
        </p:spPr>
      </p:sp>
      <p:sp>
        <p:nvSpPr>
          <p:cNvPr id="58" name="Shape 56"/>
          <p:cNvSpPr/>
          <p:nvPr/>
        </p:nvSpPr>
        <p:spPr>
          <a:xfrm>
            <a:off x="3256636" y="2788920"/>
            <a:ext cx="137160" cy="137160"/>
          </a:xfrm>
          <a:prstGeom prst="rect">
            <a:avLst/>
          </a:prstGeom>
          <a:ln w="19050">
            <a:solidFill>
              <a:srgbClr val="2F5D3A"/>
            </a:solidFill>
            <a:prstDash val="solid"/>
          </a:ln>
        </p:spPr>
      </p:sp>
      <p:sp>
        <p:nvSpPr>
          <p:cNvPr id="59" name="Shape 57"/>
          <p:cNvSpPr/>
          <p:nvPr/>
        </p:nvSpPr>
        <p:spPr>
          <a:xfrm>
            <a:off x="4262476" y="2788920"/>
            <a:ext cx="137160" cy="137160"/>
          </a:xfrm>
          <a:prstGeom prst="rect">
            <a:avLst/>
          </a:prstGeom>
          <a:ln w="19050">
            <a:solidFill>
              <a:srgbClr val="2F5D3A"/>
            </a:solidFill>
            <a:prstDash val="solid"/>
          </a:ln>
        </p:spPr>
      </p:sp>
      <p:sp>
        <p:nvSpPr>
          <p:cNvPr id="60" name="Shape 58"/>
          <p:cNvSpPr/>
          <p:nvPr/>
        </p:nvSpPr>
        <p:spPr>
          <a:xfrm>
            <a:off x="3256636" y="3840480"/>
            <a:ext cx="137160" cy="137160"/>
          </a:xfrm>
          <a:prstGeom prst="rect">
            <a:avLst/>
          </a:prstGeom>
          <a:ln w="19050">
            <a:solidFill>
              <a:srgbClr val="2F5D3A"/>
            </a:solidFill>
            <a:prstDash val="solid"/>
          </a:ln>
        </p:spPr>
      </p:sp>
      <p:sp>
        <p:nvSpPr>
          <p:cNvPr id="61" name="Shape 59"/>
          <p:cNvSpPr/>
          <p:nvPr/>
        </p:nvSpPr>
        <p:spPr>
          <a:xfrm>
            <a:off x="4262476" y="3840480"/>
            <a:ext cx="137160" cy="137160"/>
          </a:xfrm>
          <a:prstGeom prst="rect">
            <a:avLst/>
          </a:prstGeom>
          <a:ln w="19050">
            <a:solidFill>
              <a:srgbClr val="2F5D3A"/>
            </a:solidFill>
            <a:prstDash val="solid"/>
          </a:ln>
        </p:spPr>
      </p:sp>
      <p:sp>
        <p:nvSpPr>
          <p:cNvPr id="62" name="Text 60"/>
          <p:cNvSpPr txBox="1"/>
          <p:nvPr/>
        </p:nvSpPr>
        <p:spPr>
          <a:xfrm>
            <a:off x="2890876" y="4343400"/>
            <a:ext cx="1874520" cy="1097280"/>
          </a:xfrm>
          <a:prstGeom prst="rect">
            <a:avLst/>
          </a:prstGeom>
          <a:noFill/>
          <a:ln/>
        </p:spPr>
        <p:txBody>
          <a:bodyPr wrap="square" rtlCol="0" anchor="t"/>
          <a:lstStyle/>
          <a:p>
            <a:pPr algn="ctr" indent="0" marL="0">
              <a:lnSpc>
                <a:spcPct val="115000"/>
              </a:lnSpc>
              <a:buNone/>
            </a:pPr>
            <a:r>
              <a:rPr lang="en-US" sz="900" dirty="0">
                <a:solidFill>
                  <a:srgbClr val="2C1810"/>
                </a:solidFill>
                <a:latin typeface="DM Sans" pitchFamily="34" charset="0"/>
                <a:ea typeface="DM Sans" pitchFamily="34" charset="-122"/>
                <a:cs typeface="DM Sans" pitchFamily="34" charset="-120"/>
              </a:rPr>
              <a:t>Snap the handwritten Penang hawker board.</a:t>
            </a:r>
            <a:endParaRPr lang="en-US" sz="900" dirty="0"/>
          </a:p>
        </p:txBody>
      </p:sp>
      <p:sp>
        <p:nvSpPr>
          <p:cNvPr id="63" name="Text 61"/>
          <p:cNvSpPr txBox="1"/>
          <p:nvPr/>
        </p:nvSpPr>
        <p:spPr>
          <a:xfrm>
            <a:off x="4856836" y="3383280"/>
            <a:ext cx="210312" cy="365760"/>
          </a:xfrm>
          <a:prstGeom prst="rect">
            <a:avLst/>
          </a:prstGeom>
          <a:noFill/>
          <a:ln/>
        </p:spPr>
        <p:txBody>
          <a:bodyPr wrap="square" rtlCol="0" anchor="ctr"/>
          <a:lstStyle/>
          <a:p>
            <a:pPr algn="ctr" indent="0" marL="0">
              <a:buNone/>
            </a:pPr>
            <a:r>
              <a:rPr lang="en-US" sz="1400" b="1" dirty="0">
                <a:solidFill>
                  <a:srgbClr val="D4A947"/>
                </a:solidFill>
                <a:latin typeface="Fraunces" pitchFamily="34" charset="0"/>
                <a:ea typeface="Fraunces" pitchFamily="34" charset="-122"/>
                <a:cs typeface="Fraunces" pitchFamily="34" charset="-120"/>
              </a:rPr>
              <a:t>▸</a:t>
            </a:r>
            <a:endParaRPr lang="en-US" sz="1400" dirty="0"/>
          </a:p>
        </p:txBody>
      </p:sp>
      <p:sp>
        <p:nvSpPr>
          <p:cNvPr id="64" name="Shape 62"/>
          <p:cNvSpPr/>
          <p:nvPr/>
        </p:nvSpPr>
        <p:spPr>
          <a:xfrm>
            <a:off x="5021428" y="1554480"/>
            <a:ext cx="2148840" cy="4023360"/>
          </a:xfrm>
          <a:prstGeom prst="roundRect">
            <a:avLst>
              <a:gd name="adj" fmla="val 3404"/>
            </a:avLst>
          </a:prstGeom>
          <a:solidFill>
            <a:srgbClr val="EFE6CC"/>
          </a:solidFill>
          <a:ln w="15875">
            <a:solidFill>
              <a:srgbClr val="B8902F"/>
            </a:solidFill>
            <a:prstDash val="solid"/>
          </a:ln>
        </p:spPr>
      </p:sp>
      <p:sp>
        <p:nvSpPr>
          <p:cNvPr id="65" name="Shape 63"/>
          <p:cNvSpPr/>
          <p:nvPr/>
        </p:nvSpPr>
        <p:spPr>
          <a:xfrm>
            <a:off x="5021428" y="1554480"/>
            <a:ext cx="2148840" cy="411480"/>
          </a:xfrm>
          <a:prstGeom prst="rect">
            <a:avLst/>
          </a:prstGeom>
          <a:solidFill>
            <a:srgbClr val="B8902F"/>
          </a:solidFill>
          <a:ln w="9525">
            <a:solidFill>
              <a:srgbClr val="B8902F"/>
            </a:solidFill>
            <a:prstDash val="solid"/>
          </a:ln>
        </p:spPr>
      </p:sp>
      <p:sp>
        <p:nvSpPr>
          <p:cNvPr id="66" name="Text 64"/>
          <p:cNvSpPr txBox="1"/>
          <p:nvPr/>
        </p:nvSpPr>
        <p:spPr>
          <a:xfrm>
            <a:off x="5021428" y="1554480"/>
            <a:ext cx="2148840" cy="411480"/>
          </a:xfrm>
          <a:prstGeom prst="rect">
            <a:avLst/>
          </a:prstGeom>
          <a:noFill/>
          <a:ln/>
        </p:spPr>
        <p:txBody>
          <a:bodyPr wrap="square" rtlCol="0" anchor="ctr"/>
          <a:lstStyle/>
          <a:p>
            <a:pPr algn="ctr" indent="0" marL="0">
              <a:buNone/>
            </a:pPr>
            <a:r>
              <a:rPr lang="en-US" sz="1400" b="1" dirty="0">
                <a:solidFill>
                  <a:srgbClr val="F4ECD8"/>
                </a:solidFill>
                <a:latin typeface="Fraunces" pitchFamily="34" charset="0"/>
                <a:ea typeface="Fraunces" pitchFamily="34" charset="-122"/>
                <a:cs typeface="Fraunces" pitchFamily="34" charset="-120"/>
              </a:rPr>
              <a:t>03</a:t>
            </a:r>
            <a:endParaRPr lang="en-US" sz="1400" dirty="0"/>
          </a:p>
        </p:txBody>
      </p:sp>
      <p:sp>
        <p:nvSpPr>
          <p:cNvPr id="67" name="Text 65"/>
          <p:cNvSpPr txBox="1"/>
          <p:nvPr/>
        </p:nvSpPr>
        <p:spPr>
          <a:xfrm>
            <a:off x="5067148" y="2011680"/>
            <a:ext cx="2057400" cy="274320"/>
          </a:xfrm>
          <a:prstGeom prst="rect">
            <a:avLst/>
          </a:prstGeom>
          <a:noFill/>
          <a:ln/>
        </p:spPr>
        <p:txBody>
          <a:bodyPr wrap="square" rtlCol="0" anchor="ctr"/>
          <a:lstStyle/>
          <a:p>
            <a:pPr algn="ctr" indent="0" marL="0">
              <a:buNone/>
            </a:pPr>
            <a:r>
              <a:rPr lang="en-US" sz="1100" b="1" spc="100" kern="0" dirty="0">
                <a:solidFill>
                  <a:srgbClr val="2C1810"/>
                </a:solidFill>
                <a:latin typeface="Fraunces" pitchFamily="34" charset="0"/>
                <a:ea typeface="Fraunces" pitchFamily="34" charset="-122"/>
                <a:cs typeface="Fraunces" pitchFamily="34" charset="-120"/>
              </a:rPr>
              <a:t>EXTRACTION</a:t>
            </a:r>
            <a:endParaRPr lang="en-US" sz="1100" dirty="0"/>
          </a:p>
        </p:txBody>
      </p:sp>
      <p:sp>
        <p:nvSpPr>
          <p:cNvPr id="68" name="Shape 66"/>
          <p:cNvSpPr/>
          <p:nvPr/>
        </p:nvSpPr>
        <p:spPr>
          <a:xfrm>
            <a:off x="5341468" y="2423160"/>
            <a:ext cx="1508760" cy="1783080"/>
          </a:xfrm>
          <a:prstGeom prst="roundRect">
            <a:avLst>
              <a:gd name="adj" fmla="val 8485"/>
            </a:avLst>
          </a:prstGeom>
          <a:solidFill>
            <a:srgbClr val="2C1810"/>
          </a:solidFill>
          <a:ln w="12700">
            <a:solidFill>
              <a:srgbClr val="2C1810"/>
            </a:solidFill>
            <a:prstDash val="solid"/>
          </a:ln>
        </p:spPr>
      </p:sp>
      <p:sp>
        <p:nvSpPr>
          <p:cNvPr id="69" name="Shape 67"/>
          <p:cNvSpPr/>
          <p:nvPr/>
        </p:nvSpPr>
        <p:spPr>
          <a:xfrm>
            <a:off x="5405476" y="2487168"/>
            <a:ext cx="1380744" cy="1655064"/>
          </a:xfrm>
          <a:prstGeom prst="roundRect">
            <a:avLst>
              <a:gd name="adj" fmla="val 5298"/>
            </a:avLst>
          </a:prstGeom>
          <a:solidFill>
            <a:srgbClr val="F4ECD8"/>
          </a:solidFill>
          <a:ln w="6350">
            <a:solidFill>
              <a:srgbClr val="C4A882"/>
            </a:solidFill>
            <a:prstDash val="solid"/>
          </a:ln>
        </p:spPr>
      </p:sp>
      <p:sp>
        <p:nvSpPr>
          <p:cNvPr id="70" name="Shape 68"/>
          <p:cNvSpPr/>
          <p:nvPr/>
        </p:nvSpPr>
        <p:spPr>
          <a:xfrm>
            <a:off x="5931256" y="2459736"/>
            <a:ext cx="329184" cy="54864"/>
          </a:xfrm>
          <a:prstGeom prst="roundRect">
            <a:avLst>
              <a:gd name="adj" fmla="val 50000"/>
            </a:avLst>
          </a:prstGeom>
          <a:solidFill>
            <a:srgbClr val="2C1810"/>
          </a:solidFill>
          <a:ln/>
        </p:spPr>
      </p:sp>
      <p:sp>
        <p:nvSpPr>
          <p:cNvPr id="71" name="Shape 69"/>
          <p:cNvSpPr/>
          <p:nvPr/>
        </p:nvSpPr>
        <p:spPr>
          <a:xfrm>
            <a:off x="5432908" y="2697480"/>
            <a:ext cx="1325880" cy="1371600"/>
          </a:xfrm>
          <a:prstGeom prst="rect">
            <a:avLst/>
          </a:prstGeom>
          <a:solidFill>
            <a:srgbClr val="F4ECD8"/>
          </a:solidFill>
          <a:ln w="5080">
            <a:solidFill>
              <a:srgbClr val="C4A882"/>
            </a:solidFill>
            <a:prstDash val="solid"/>
          </a:ln>
        </p:spPr>
      </p:sp>
      <p:sp>
        <p:nvSpPr>
          <p:cNvPr id="72" name="Text 70"/>
          <p:cNvSpPr txBox="1"/>
          <p:nvPr/>
        </p:nvSpPr>
        <p:spPr>
          <a:xfrm>
            <a:off x="5432908" y="2743200"/>
            <a:ext cx="1325880" cy="182880"/>
          </a:xfrm>
          <a:prstGeom prst="rect">
            <a:avLst/>
          </a:prstGeom>
          <a:noFill/>
          <a:ln/>
        </p:spPr>
        <p:txBody>
          <a:bodyPr wrap="square" rtlCol="0" anchor="ctr"/>
          <a:lstStyle/>
          <a:p>
            <a:pPr algn="ctr" indent="0" marL="0">
              <a:buNone/>
            </a:pPr>
            <a:r>
              <a:rPr lang="en-US" sz="600" b="1" dirty="0">
                <a:solidFill>
                  <a:srgbClr val="B8902F"/>
                </a:solidFill>
                <a:latin typeface="DM Sans" pitchFamily="34" charset="0"/>
                <a:ea typeface="DM Sans" pitchFamily="34" charset="-122"/>
                <a:cs typeface="DM Sans" pitchFamily="34" charset="-120"/>
              </a:rPr>
              <a:t>PARSING…</a:t>
            </a:r>
            <a:endParaRPr lang="en-US" sz="600" dirty="0"/>
          </a:p>
        </p:txBody>
      </p:sp>
      <p:sp>
        <p:nvSpPr>
          <p:cNvPr id="73" name="Shape 71"/>
          <p:cNvSpPr/>
          <p:nvPr/>
        </p:nvSpPr>
        <p:spPr>
          <a:xfrm>
            <a:off x="5570068" y="2971800"/>
            <a:ext cx="1051560" cy="201168"/>
          </a:xfrm>
          <a:prstGeom prst="roundRect">
            <a:avLst>
              <a:gd name="adj" fmla="val 18182"/>
            </a:avLst>
          </a:prstGeom>
          <a:solidFill>
            <a:srgbClr val="D6E2D4"/>
          </a:solidFill>
          <a:ln w="6350">
            <a:solidFill>
              <a:srgbClr val="2F5D3A"/>
            </a:solidFill>
            <a:prstDash val="solid"/>
          </a:ln>
        </p:spPr>
      </p:sp>
      <p:sp>
        <p:nvSpPr>
          <p:cNvPr id="74" name="Text 72"/>
          <p:cNvSpPr txBox="1"/>
          <p:nvPr/>
        </p:nvSpPr>
        <p:spPr>
          <a:xfrm>
            <a:off x="5615788" y="2971800"/>
            <a:ext cx="960120" cy="201168"/>
          </a:xfrm>
          <a:prstGeom prst="rect">
            <a:avLst/>
          </a:prstGeom>
          <a:noFill/>
          <a:ln/>
        </p:spPr>
        <p:txBody>
          <a:bodyPr wrap="square" rtlCol="0" anchor="ctr"/>
          <a:lstStyle/>
          <a:p>
            <a:pPr algn="l" indent="0" marL="0">
              <a:buNone/>
            </a:pPr>
            <a:r>
              <a:rPr lang="en-US" sz="600" b="1" dirty="0">
                <a:solidFill>
                  <a:srgbClr val="2C1810"/>
                </a:solidFill>
                <a:latin typeface="DM Sans" pitchFamily="34" charset="0"/>
                <a:ea typeface="DM Sans" pitchFamily="34" charset="-122"/>
                <a:cs typeface="DM Sans" pitchFamily="34" charset="-120"/>
              </a:rPr>
              <a:t>Char Kuey Teow</a:t>
            </a:r>
            <a:endParaRPr lang="en-US" sz="600" dirty="0"/>
          </a:p>
        </p:txBody>
      </p:sp>
      <p:sp>
        <p:nvSpPr>
          <p:cNvPr id="75" name="Shape 73"/>
          <p:cNvSpPr/>
          <p:nvPr/>
        </p:nvSpPr>
        <p:spPr>
          <a:xfrm>
            <a:off x="5570068" y="3246120"/>
            <a:ext cx="1051560" cy="201168"/>
          </a:xfrm>
          <a:prstGeom prst="roundRect">
            <a:avLst>
              <a:gd name="adj" fmla="val 18182"/>
            </a:avLst>
          </a:prstGeom>
          <a:solidFill>
            <a:srgbClr val="D6E2D4"/>
          </a:solidFill>
          <a:ln w="6350">
            <a:solidFill>
              <a:srgbClr val="2F5D3A"/>
            </a:solidFill>
            <a:prstDash val="solid"/>
          </a:ln>
        </p:spPr>
      </p:sp>
      <p:sp>
        <p:nvSpPr>
          <p:cNvPr id="76" name="Text 74"/>
          <p:cNvSpPr txBox="1"/>
          <p:nvPr/>
        </p:nvSpPr>
        <p:spPr>
          <a:xfrm>
            <a:off x="5615788" y="3246120"/>
            <a:ext cx="960120" cy="201168"/>
          </a:xfrm>
          <a:prstGeom prst="rect">
            <a:avLst/>
          </a:prstGeom>
          <a:noFill/>
          <a:ln/>
        </p:spPr>
        <p:txBody>
          <a:bodyPr wrap="square" rtlCol="0" anchor="ctr"/>
          <a:lstStyle/>
          <a:p>
            <a:pPr algn="l" indent="0" marL="0">
              <a:buNone/>
            </a:pPr>
            <a:r>
              <a:rPr lang="en-US" sz="600" b="1" dirty="0">
                <a:solidFill>
                  <a:srgbClr val="2C1810"/>
                </a:solidFill>
                <a:latin typeface="DM Sans" pitchFamily="34" charset="0"/>
                <a:ea typeface="DM Sans" pitchFamily="34" charset="-122"/>
                <a:cs typeface="DM Sans" pitchFamily="34" charset="-120"/>
              </a:rPr>
              <a:t>Ayam Goreng</a:t>
            </a:r>
            <a:endParaRPr lang="en-US" sz="600" dirty="0"/>
          </a:p>
        </p:txBody>
      </p:sp>
      <p:sp>
        <p:nvSpPr>
          <p:cNvPr id="77" name="Shape 75"/>
          <p:cNvSpPr/>
          <p:nvPr/>
        </p:nvSpPr>
        <p:spPr>
          <a:xfrm>
            <a:off x="5570068" y="3520440"/>
            <a:ext cx="1051560" cy="201168"/>
          </a:xfrm>
          <a:prstGeom prst="roundRect">
            <a:avLst>
              <a:gd name="adj" fmla="val 18182"/>
            </a:avLst>
          </a:prstGeom>
          <a:solidFill>
            <a:srgbClr val="F4ECD8"/>
          </a:solidFill>
          <a:ln w="6350">
            <a:solidFill>
              <a:srgbClr val="2F5D3A"/>
            </a:solidFill>
            <a:prstDash val="solid"/>
          </a:ln>
        </p:spPr>
      </p:sp>
      <p:sp>
        <p:nvSpPr>
          <p:cNvPr id="78" name="Text 76"/>
          <p:cNvSpPr txBox="1"/>
          <p:nvPr/>
        </p:nvSpPr>
        <p:spPr>
          <a:xfrm>
            <a:off x="5615788" y="3520440"/>
            <a:ext cx="960120" cy="201168"/>
          </a:xfrm>
          <a:prstGeom prst="rect">
            <a:avLst/>
          </a:prstGeom>
          <a:noFill/>
          <a:ln/>
        </p:spPr>
        <p:txBody>
          <a:bodyPr wrap="square" rtlCol="0" anchor="ctr"/>
          <a:lstStyle/>
          <a:p>
            <a:pPr algn="l" indent="0" marL="0">
              <a:buNone/>
            </a:pPr>
            <a:r>
              <a:rPr lang="en-US" sz="600" dirty="0">
                <a:solidFill>
                  <a:srgbClr val="2C1810"/>
                </a:solidFill>
                <a:latin typeface="DM Sans" pitchFamily="34" charset="0"/>
                <a:ea typeface="DM Sans" pitchFamily="34" charset="-122"/>
                <a:cs typeface="DM Sans" pitchFamily="34" charset="-120"/>
              </a:rPr>
              <a:t>Nasi Lemak</a:t>
            </a:r>
            <a:endParaRPr lang="en-US" sz="600" dirty="0"/>
          </a:p>
        </p:txBody>
      </p:sp>
      <p:sp>
        <p:nvSpPr>
          <p:cNvPr id="79" name="Text 77"/>
          <p:cNvSpPr txBox="1"/>
          <p:nvPr/>
        </p:nvSpPr>
        <p:spPr>
          <a:xfrm>
            <a:off x="5158588" y="4343400"/>
            <a:ext cx="1874520" cy="1097280"/>
          </a:xfrm>
          <a:prstGeom prst="rect">
            <a:avLst/>
          </a:prstGeom>
          <a:noFill/>
          <a:ln/>
        </p:spPr>
        <p:txBody>
          <a:bodyPr wrap="square" rtlCol="0" anchor="t"/>
          <a:lstStyle/>
          <a:p>
            <a:pPr algn="ctr" indent="0" marL="0">
              <a:lnSpc>
                <a:spcPct val="115000"/>
              </a:lnSpc>
              <a:buNone/>
            </a:pPr>
            <a:r>
              <a:rPr lang="en-US" sz="900" dirty="0">
                <a:solidFill>
                  <a:srgbClr val="2C1810"/>
                </a:solidFill>
                <a:latin typeface="DM Sans" pitchFamily="34" charset="0"/>
                <a:ea typeface="DM Sans" pitchFamily="34" charset="-122"/>
                <a:cs typeface="DM Sans" pitchFamily="34" charset="-120"/>
              </a:rPr>
              <a:t>Vision Agent reads CKT and Ayam Goreng.</a:t>
            </a:r>
            <a:endParaRPr lang="en-US" sz="900" dirty="0"/>
          </a:p>
        </p:txBody>
      </p:sp>
      <p:sp>
        <p:nvSpPr>
          <p:cNvPr id="80" name="Text 78"/>
          <p:cNvSpPr txBox="1"/>
          <p:nvPr/>
        </p:nvSpPr>
        <p:spPr>
          <a:xfrm>
            <a:off x="7124548" y="3383280"/>
            <a:ext cx="210312" cy="365760"/>
          </a:xfrm>
          <a:prstGeom prst="rect">
            <a:avLst/>
          </a:prstGeom>
          <a:noFill/>
          <a:ln/>
        </p:spPr>
        <p:txBody>
          <a:bodyPr wrap="square" rtlCol="0" anchor="ctr"/>
          <a:lstStyle/>
          <a:p>
            <a:pPr algn="ctr" indent="0" marL="0">
              <a:buNone/>
            </a:pPr>
            <a:r>
              <a:rPr lang="en-US" sz="1400" b="1" dirty="0">
                <a:solidFill>
                  <a:srgbClr val="D4A947"/>
                </a:solidFill>
                <a:latin typeface="Fraunces" pitchFamily="34" charset="0"/>
                <a:ea typeface="Fraunces" pitchFamily="34" charset="-122"/>
                <a:cs typeface="Fraunces" pitchFamily="34" charset="-120"/>
              </a:rPr>
              <a:t>▸</a:t>
            </a:r>
            <a:endParaRPr lang="en-US" sz="1400" dirty="0"/>
          </a:p>
        </p:txBody>
      </p:sp>
      <p:sp>
        <p:nvSpPr>
          <p:cNvPr id="81" name="Shape 79"/>
          <p:cNvSpPr/>
          <p:nvPr/>
        </p:nvSpPr>
        <p:spPr>
          <a:xfrm>
            <a:off x="7289140" y="1554480"/>
            <a:ext cx="2148840" cy="4023360"/>
          </a:xfrm>
          <a:prstGeom prst="roundRect">
            <a:avLst>
              <a:gd name="adj" fmla="val 3404"/>
            </a:avLst>
          </a:prstGeom>
          <a:solidFill>
            <a:srgbClr val="EFE6CC"/>
          </a:solidFill>
          <a:ln w="15875">
            <a:solidFill>
              <a:srgbClr val="8B1E1E"/>
            </a:solidFill>
            <a:prstDash val="solid"/>
          </a:ln>
        </p:spPr>
      </p:sp>
      <p:sp>
        <p:nvSpPr>
          <p:cNvPr id="82" name="Shape 80"/>
          <p:cNvSpPr/>
          <p:nvPr/>
        </p:nvSpPr>
        <p:spPr>
          <a:xfrm>
            <a:off x="7289140" y="1554480"/>
            <a:ext cx="2148840" cy="411480"/>
          </a:xfrm>
          <a:prstGeom prst="rect">
            <a:avLst/>
          </a:prstGeom>
          <a:solidFill>
            <a:srgbClr val="8B1E1E"/>
          </a:solidFill>
          <a:ln w="9525">
            <a:solidFill>
              <a:srgbClr val="8B1E1E"/>
            </a:solidFill>
            <a:prstDash val="solid"/>
          </a:ln>
        </p:spPr>
      </p:sp>
      <p:sp>
        <p:nvSpPr>
          <p:cNvPr id="83" name="Text 81"/>
          <p:cNvSpPr txBox="1"/>
          <p:nvPr/>
        </p:nvSpPr>
        <p:spPr>
          <a:xfrm>
            <a:off x="7289140" y="1554480"/>
            <a:ext cx="2148840" cy="411480"/>
          </a:xfrm>
          <a:prstGeom prst="rect">
            <a:avLst/>
          </a:prstGeom>
          <a:noFill/>
          <a:ln/>
        </p:spPr>
        <p:txBody>
          <a:bodyPr wrap="square" rtlCol="0" anchor="ctr"/>
          <a:lstStyle/>
          <a:p>
            <a:pPr algn="ctr" indent="0" marL="0">
              <a:buNone/>
            </a:pPr>
            <a:r>
              <a:rPr lang="en-US" sz="1400" b="1" dirty="0">
                <a:solidFill>
                  <a:srgbClr val="F4ECD8"/>
                </a:solidFill>
                <a:latin typeface="Fraunces" pitchFamily="34" charset="0"/>
                <a:ea typeface="Fraunces" pitchFamily="34" charset="-122"/>
                <a:cs typeface="Fraunces" pitchFamily="34" charset="-120"/>
              </a:rPr>
              <a:t>04</a:t>
            </a:r>
            <a:endParaRPr lang="en-US" sz="1400" dirty="0"/>
          </a:p>
        </p:txBody>
      </p:sp>
      <p:sp>
        <p:nvSpPr>
          <p:cNvPr id="84" name="Text 82"/>
          <p:cNvSpPr txBox="1"/>
          <p:nvPr/>
        </p:nvSpPr>
        <p:spPr>
          <a:xfrm>
            <a:off x="7334860" y="2011680"/>
            <a:ext cx="2057400" cy="274320"/>
          </a:xfrm>
          <a:prstGeom prst="rect">
            <a:avLst/>
          </a:prstGeom>
          <a:noFill/>
          <a:ln/>
        </p:spPr>
        <p:txBody>
          <a:bodyPr wrap="square" rtlCol="0" anchor="ctr"/>
          <a:lstStyle/>
          <a:p>
            <a:pPr algn="ctr" indent="0" marL="0">
              <a:buNone/>
            </a:pPr>
            <a:r>
              <a:rPr lang="en-US" sz="1100" b="1" spc="100" kern="0" dirty="0">
                <a:solidFill>
                  <a:srgbClr val="2C1810"/>
                </a:solidFill>
                <a:latin typeface="Fraunces" pitchFamily="34" charset="0"/>
                <a:ea typeface="Fraunces" pitchFamily="34" charset="-122"/>
                <a:cs typeface="Fraunces" pitchFamily="34" charset="-120"/>
              </a:rPr>
              <a:t>EVALUATION</a:t>
            </a:r>
            <a:endParaRPr lang="en-US" sz="1100" dirty="0"/>
          </a:p>
        </p:txBody>
      </p:sp>
      <p:sp>
        <p:nvSpPr>
          <p:cNvPr id="85" name="Shape 83"/>
          <p:cNvSpPr/>
          <p:nvPr/>
        </p:nvSpPr>
        <p:spPr>
          <a:xfrm>
            <a:off x="7609180" y="2423160"/>
            <a:ext cx="1508760" cy="1783080"/>
          </a:xfrm>
          <a:prstGeom prst="roundRect">
            <a:avLst>
              <a:gd name="adj" fmla="val 8485"/>
            </a:avLst>
          </a:prstGeom>
          <a:solidFill>
            <a:srgbClr val="2C1810"/>
          </a:solidFill>
          <a:ln w="12700">
            <a:solidFill>
              <a:srgbClr val="2C1810"/>
            </a:solidFill>
            <a:prstDash val="solid"/>
          </a:ln>
        </p:spPr>
      </p:sp>
      <p:sp>
        <p:nvSpPr>
          <p:cNvPr id="86" name="Shape 84"/>
          <p:cNvSpPr/>
          <p:nvPr/>
        </p:nvSpPr>
        <p:spPr>
          <a:xfrm>
            <a:off x="7673188" y="2487168"/>
            <a:ext cx="1380744" cy="1655064"/>
          </a:xfrm>
          <a:prstGeom prst="roundRect">
            <a:avLst>
              <a:gd name="adj" fmla="val 5298"/>
            </a:avLst>
          </a:prstGeom>
          <a:solidFill>
            <a:srgbClr val="F4ECD8"/>
          </a:solidFill>
          <a:ln w="6350">
            <a:solidFill>
              <a:srgbClr val="C4A882"/>
            </a:solidFill>
            <a:prstDash val="solid"/>
          </a:ln>
        </p:spPr>
      </p:sp>
      <p:sp>
        <p:nvSpPr>
          <p:cNvPr id="87" name="Shape 85"/>
          <p:cNvSpPr/>
          <p:nvPr/>
        </p:nvSpPr>
        <p:spPr>
          <a:xfrm>
            <a:off x="8198968" y="2459736"/>
            <a:ext cx="329184" cy="54864"/>
          </a:xfrm>
          <a:prstGeom prst="roundRect">
            <a:avLst>
              <a:gd name="adj" fmla="val 50000"/>
            </a:avLst>
          </a:prstGeom>
          <a:solidFill>
            <a:srgbClr val="2C1810"/>
          </a:solidFill>
          <a:ln/>
        </p:spPr>
      </p:sp>
      <p:sp>
        <p:nvSpPr>
          <p:cNvPr id="88" name="Shape 86"/>
          <p:cNvSpPr/>
          <p:nvPr/>
        </p:nvSpPr>
        <p:spPr>
          <a:xfrm>
            <a:off x="7700620" y="2697480"/>
            <a:ext cx="1325880" cy="1371600"/>
          </a:xfrm>
          <a:prstGeom prst="rect">
            <a:avLst/>
          </a:prstGeom>
          <a:solidFill>
            <a:srgbClr val="F4ECD8"/>
          </a:solidFill>
          <a:ln w="5080">
            <a:solidFill>
              <a:srgbClr val="C4A882"/>
            </a:solidFill>
            <a:prstDash val="solid"/>
          </a:ln>
        </p:spPr>
      </p:sp>
      <p:sp>
        <p:nvSpPr>
          <p:cNvPr id="89" name="Text 87"/>
          <p:cNvSpPr txBox="1"/>
          <p:nvPr/>
        </p:nvSpPr>
        <p:spPr>
          <a:xfrm>
            <a:off x="7700620" y="2743200"/>
            <a:ext cx="1325880" cy="182880"/>
          </a:xfrm>
          <a:prstGeom prst="rect">
            <a:avLst/>
          </a:prstGeom>
          <a:noFill/>
          <a:ln/>
        </p:spPr>
        <p:txBody>
          <a:bodyPr wrap="square" rtlCol="0" anchor="ctr"/>
          <a:lstStyle/>
          <a:p>
            <a:pPr algn="ctr" indent="0" marL="0">
              <a:buNone/>
            </a:pPr>
            <a:r>
              <a:rPr lang="en-US" sz="600" b="1" dirty="0">
                <a:solidFill>
                  <a:srgbClr val="8B1E1E"/>
                </a:solidFill>
                <a:latin typeface="DM Sans" pitchFamily="34" charset="0"/>
                <a:ea typeface="DM Sans" pitchFamily="34" charset="-122"/>
                <a:cs typeface="DM Sans" pitchFamily="34" charset="-120"/>
              </a:rPr>
              <a:t>CRITIC CHECK</a:t>
            </a:r>
            <a:endParaRPr lang="en-US" sz="600" dirty="0"/>
          </a:p>
        </p:txBody>
      </p:sp>
      <p:sp>
        <p:nvSpPr>
          <p:cNvPr id="90" name="Shape 88"/>
          <p:cNvSpPr/>
          <p:nvPr/>
        </p:nvSpPr>
        <p:spPr>
          <a:xfrm rot="10800000">
            <a:off x="8202625" y="3044952"/>
            <a:ext cx="321869" cy="402336"/>
          </a:xfrm>
          <a:prstGeom prst="pentagon">
            <a:avLst/>
          </a:prstGeom>
          <a:solidFill>
            <a:srgbClr val="8B1E1E"/>
          </a:solidFill>
          <a:ln w="9525">
            <a:solidFill>
              <a:srgbClr val="2C1810"/>
            </a:solidFill>
            <a:prstDash val="solid"/>
          </a:ln>
        </p:spPr>
      </p:sp>
      <p:sp>
        <p:nvSpPr>
          <p:cNvPr id="91" name="Shape 89"/>
          <p:cNvSpPr/>
          <p:nvPr/>
        </p:nvSpPr>
        <p:spPr>
          <a:xfrm>
            <a:off x="8293151" y="3256178"/>
            <a:ext cx="60350" cy="70409"/>
          </a:xfrm>
          <a:prstGeom prst="line">
            <a:avLst/>
          </a:prstGeom>
          <a:noFill/>
          <a:ln w="25400">
            <a:solidFill>
              <a:srgbClr val="F4ECD8"/>
            </a:solidFill>
            <a:prstDash val="solid"/>
          </a:ln>
        </p:spPr>
      </p:sp>
      <p:sp>
        <p:nvSpPr>
          <p:cNvPr id="92" name="Shape 90"/>
          <p:cNvSpPr/>
          <p:nvPr/>
        </p:nvSpPr>
        <p:spPr>
          <a:xfrm>
            <a:off x="8353501" y="3326587"/>
            <a:ext cx="100584" cy="-110642"/>
          </a:xfrm>
          <a:prstGeom prst="line">
            <a:avLst/>
          </a:prstGeom>
          <a:noFill/>
          <a:ln w="25400">
            <a:solidFill>
              <a:srgbClr val="F4ECD8"/>
            </a:solidFill>
            <a:prstDash val="solid"/>
          </a:ln>
        </p:spPr>
      </p:sp>
      <p:sp>
        <p:nvSpPr>
          <p:cNvPr id="93" name="Text 91"/>
          <p:cNvSpPr txBox="1"/>
          <p:nvPr/>
        </p:nvSpPr>
        <p:spPr>
          <a:xfrm>
            <a:off x="7700620" y="3566160"/>
            <a:ext cx="1325880" cy="182880"/>
          </a:xfrm>
          <a:prstGeom prst="rect">
            <a:avLst/>
          </a:prstGeom>
          <a:noFill/>
          <a:ln/>
        </p:spPr>
        <p:txBody>
          <a:bodyPr wrap="square" rtlCol="0" anchor="ctr"/>
          <a:lstStyle/>
          <a:p>
            <a:pPr algn="ctr" indent="0" marL="0">
              <a:buNone/>
            </a:pPr>
            <a:r>
              <a:rPr lang="en-US" sz="600" dirty="0">
                <a:solidFill>
                  <a:srgbClr val="2C1810"/>
                </a:solidFill>
                <a:latin typeface="DM Sans" pitchFamily="34" charset="0"/>
                <a:ea typeface="DM Sans" pitchFamily="34" charset="-122"/>
                <a:cs typeface="DM Sans" pitchFamily="34" charset="-120"/>
              </a:rPr>
              <a:t>CKT  vs  profile</a:t>
            </a:r>
            <a:endParaRPr lang="en-US" sz="600" dirty="0"/>
          </a:p>
        </p:txBody>
      </p:sp>
      <p:sp>
        <p:nvSpPr>
          <p:cNvPr id="94" name="Shape 92"/>
          <p:cNvSpPr/>
          <p:nvPr/>
        </p:nvSpPr>
        <p:spPr>
          <a:xfrm>
            <a:off x="8244688" y="3781044"/>
            <a:ext cx="237744" cy="118872"/>
          </a:xfrm>
          <a:prstGeom prst="ellipse">
            <a:avLst/>
          </a:prstGeom>
          <a:solidFill>
            <a:srgbClr val="B83A3A"/>
          </a:solidFill>
          <a:ln w="6350">
            <a:solidFill>
              <a:srgbClr val="2C1810"/>
            </a:solidFill>
            <a:prstDash val="solid"/>
          </a:ln>
        </p:spPr>
      </p:sp>
      <p:sp>
        <p:nvSpPr>
          <p:cNvPr id="95" name="Shape 93"/>
          <p:cNvSpPr/>
          <p:nvPr/>
        </p:nvSpPr>
        <p:spPr>
          <a:xfrm>
            <a:off x="8397182" y="3806858"/>
            <a:ext cx="58839" cy="-58839"/>
          </a:xfrm>
          <a:prstGeom prst="line">
            <a:avLst/>
          </a:prstGeom>
          <a:noFill/>
          <a:ln w="12700">
            <a:solidFill>
              <a:srgbClr val="2C1810"/>
            </a:solidFill>
            <a:prstDash val="solid"/>
          </a:ln>
        </p:spPr>
      </p:sp>
      <p:sp>
        <p:nvSpPr>
          <p:cNvPr id="96" name="Shape 94"/>
          <p:cNvSpPr/>
          <p:nvPr/>
        </p:nvSpPr>
        <p:spPr>
          <a:xfrm>
            <a:off x="8397182" y="3874102"/>
            <a:ext cx="58839" cy="58839"/>
          </a:xfrm>
          <a:prstGeom prst="line">
            <a:avLst/>
          </a:prstGeom>
          <a:noFill/>
          <a:ln w="12700">
            <a:solidFill>
              <a:srgbClr val="2C1810"/>
            </a:solidFill>
            <a:prstDash val="solid"/>
          </a:ln>
        </p:spPr>
      </p:sp>
      <p:sp>
        <p:nvSpPr>
          <p:cNvPr id="97" name="Shape 95"/>
          <p:cNvSpPr/>
          <p:nvPr/>
        </p:nvSpPr>
        <p:spPr>
          <a:xfrm>
            <a:off x="8329938" y="3806858"/>
            <a:ext cx="-58839" cy="-58839"/>
          </a:xfrm>
          <a:prstGeom prst="line">
            <a:avLst/>
          </a:prstGeom>
          <a:noFill/>
          <a:ln w="12700">
            <a:solidFill>
              <a:srgbClr val="2C1810"/>
            </a:solidFill>
            <a:prstDash val="solid"/>
          </a:ln>
        </p:spPr>
      </p:sp>
      <p:sp>
        <p:nvSpPr>
          <p:cNvPr id="98" name="Shape 96"/>
          <p:cNvSpPr/>
          <p:nvPr/>
        </p:nvSpPr>
        <p:spPr>
          <a:xfrm>
            <a:off x="8329938" y="3874102"/>
            <a:ext cx="-58839" cy="58839"/>
          </a:xfrm>
          <a:prstGeom prst="line">
            <a:avLst/>
          </a:prstGeom>
          <a:noFill/>
          <a:ln w="12700">
            <a:solidFill>
              <a:srgbClr val="2C1810"/>
            </a:solidFill>
            <a:prstDash val="solid"/>
          </a:ln>
        </p:spPr>
      </p:sp>
      <p:sp>
        <p:nvSpPr>
          <p:cNvPr id="99" name="Shape 97"/>
          <p:cNvSpPr/>
          <p:nvPr/>
        </p:nvSpPr>
        <p:spPr>
          <a:xfrm>
            <a:off x="8217256" y="3840480"/>
            <a:ext cx="292608" cy="0"/>
          </a:xfrm>
          <a:prstGeom prst="line">
            <a:avLst/>
          </a:prstGeom>
          <a:noFill/>
          <a:ln w="25400">
            <a:solidFill>
              <a:srgbClr val="B83A3A"/>
            </a:solidFill>
            <a:prstDash val="solid"/>
          </a:ln>
        </p:spPr>
      </p:sp>
      <p:sp>
        <p:nvSpPr>
          <p:cNvPr id="100" name="Text 98"/>
          <p:cNvSpPr txBox="1"/>
          <p:nvPr/>
        </p:nvSpPr>
        <p:spPr>
          <a:xfrm>
            <a:off x="7700620" y="3950208"/>
            <a:ext cx="1325880" cy="118872"/>
          </a:xfrm>
          <a:prstGeom prst="rect">
            <a:avLst/>
          </a:prstGeom>
          <a:noFill/>
          <a:ln/>
        </p:spPr>
        <p:txBody>
          <a:bodyPr wrap="square" rtlCol="0" anchor="ctr"/>
          <a:lstStyle/>
          <a:p>
            <a:pPr algn="ctr" indent="0" marL="0">
              <a:buNone/>
            </a:pPr>
            <a:r>
              <a:rPr lang="en-US" sz="550" b="1" dirty="0">
                <a:solidFill>
                  <a:srgbClr val="B83A3A"/>
                </a:solidFill>
                <a:latin typeface="DM Sans" pitchFamily="34" charset="0"/>
                <a:ea typeface="DM Sans" pitchFamily="34" charset="-122"/>
                <a:cs typeface="DM Sans" pitchFamily="34" charset="-120"/>
              </a:rPr>
              <a:t>cockles = seafood</a:t>
            </a:r>
            <a:endParaRPr lang="en-US" sz="550" dirty="0"/>
          </a:p>
        </p:txBody>
      </p:sp>
      <p:sp>
        <p:nvSpPr>
          <p:cNvPr id="101" name="Text 99"/>
          <p:cNvSpPr txBox="1"/>
          <p:nvPr/>
        </p:nvSpPr>
        <p:spPr>
          <a:xfrm>
            <a:off x="7426300" y="4343400"/>
            <a:ext cx="1874520" cy="1097280"/>
          </a:xfrm>
          <a:prstGeom prst="rect">
            <a:avLst/>
          </a:prstGeom>
          <a:noFill/>
          <a:ln/>
        </p:spPr>
        <p:txBody>
          <a:bodyPr wrap="square" rtlCol="0" anchor="t"/>
          <a:lstStyle/>
          <a:p>
            <a:pPr algn="ctr" indent="0" marL="0">
              <a:lnSpc>
                <a:spcPct val="115000"/>
              </a:lnSpc>
              <a:buNone/>
            </a:pPr>
            <a:r>
              <a:rPr lang="en-US" sz="900" dirty="0">
                <a:solidFill>
                  <a:srgbClr val="2C1810"/>
                </a:solidFill>
                <a:latin typeface="DM Sans" pitchFamily="34" charset="0"/>
                <a:ea typeface="DM Sans" pitchFamily="34" charset="-122"/>
                <a:cs typeface="DM Sans" pitchFamily="34" charset="-120"/>
              </a:rPr>
              <a:t>Critic cross-references RAG — CKT contains cockles.</a:t>
            </a:r>
            <a:endParaRPr lang="en-US" sz="900" dirty="0"/>
          </a:p>
        </p:txBody>
      </p:sp>
      <p:sp>
        <p:nvSpPr>
          <p:cNvPr id="102" name="Text 100"/>
          <p:cNvSpPr txBox="1"/>
          <p:nvPr/>
        </p:nvSpPr>
        <p:spPr>
          <a:xfrm>
            <a:off x="9392260" y="3383280"/>
            <a:ext cx="210312" cy="365760"/>
          </a:xfrm>
          <a:prstGeom prst="rect">
            <a:avLst/>
          </a:prstGeom>
          <a:noFill/>
          <a:ln/>
        </p:spPr>
        <p:txBody>
          <a:bodyPr wrap="square" rtlCol="0" anchor="ctr"/>
          <a:lstStyle/>
          <a:p>
            <a:pPr algn="ctr" indent="0" marL="0">
              <a:buNone/>
            </a:pPr>
            <a:r>
              <a:rPr lang="en-US" sz="1400" b="1" dirty="0">
                <a:solidFill>
                  <a:srgbClr val="D4A947"/>
                </a:solidFill>
                <a:latin typeface="Fraunces" pitchFamily="34" charset="0"/>
                <a:ea typeface="Fraunces" pitchFamily="34" charset="-122"/>
                <a:cs typeface="Fraunces" pitchFamily="34" charset="-120"/>
              </a:rPr>
              <a:t>▸</a:t>
            </a:r>
            <a:endParaRPr lang="en-US" sz="1400" dirty="0"/>
          </a:p>
        </p:txBody>
      </p:sp>
      <p:sp>
        <p:nvSpPr>
          <p:cNvPr id="103" name="Shape 101"/>
          <p:cNvSpPr/>
          <p:nvPr/>
        </p:nvSpPr>
        <p:spPr>
          <a:xfrm>
            <a:off x="9556852" y="1554480"/>
            <a:ext cx="2148840" cy="4023360"/>
          </a:xfrm>
          <a:prstGeom prst="roundRect">
            <a:avLst>
              <a:gd name="adj" fmla="val 3404"/>
            </a:avLst>
          </a:prstGeom>
          <a:solidFill>
            <a:srgbClr val="EFE6CC"/>
          </a:solidFill>
          <a:ln w="15875">
            <a:solidFill>
              <a:srgbClr val="2F5D3A"/>
            </a:solidFill>
            <a:prstDash val="solid"/>
          </a:ln>
        </p:spPr>
      </p:sp>
      <p:sp>
        <p:nvSpPr>
          <p:cNvPr id="104" name="Shape 102"/>
          <p:cNvSpPr/>
          <p:nvPr/>
        </p:nvSpPr>
        <p:spPr>
          <a:xfrm>
            <a:off x="9556852" y="1554480"/>
            <a:ext cx="2148840" cy="411480"/>
          </a:xfrm>
          <a:prstGeom prst="rect">
            <a:avLst/>
          </a:prstGeom>
          <a:solidFill>
            <a:srgbClr val="2F5D3A"/>
          </a:solidFill>
          <a:ln w="9525">
            <a:solidFill>
              <a:srgbClr val="2F5D3A"/>
            </a:solidFill>
            <a:prstDash val="solid"/>
          </a:ln>
        </p:spPr>
      </p:sp>
      <p:sp>
        <p:nvSpPr>
          <p:cNvPr id="105" name="Text 103"/>
          <p:cNvSpPr txBox="1"/>
          <p:nvPr/>
        </p:nvSpPr>
        <p:spPr>
          <a:xfrm>
            <a:off x="9556852" y="1554480"/>
            <a:ext cx="2148840" cy="411480"/>
          </a:xfrm>
          <a:prstGeom prst="rect">
            <a:avLst/>
          </a:prstGeom>
          <a:noFill/>
          <a:ln/>
        </p:spPr>
        <p:txBody>
          <a:bodyPr wrap="square" rtlCol="0" anchor="ctr"/>
          <a:lstStyle/>
          <a:p>
            <a:pPr algn="ctr" indent="0" marL="0">
              <a:buNone/>
            </a:pPr>
            <a:r>
              <a:rPr lang="en-US" sz="1400" b="1" dirty="0">
                <a:solidFill>
                  <a:srgbClr val="F4ECD8"/>
                </a:solidFill>
                <a:latin typeface="Fraunces" pitchFamily="34" charset="0"/>
                <a:ea typeface="Fraunces" pitchFamily="34" charset="-122"/>
                <a:cs typeface="Fraunces" pitchFamily="34" charset="-120"/>
              </a:rPr>
              <a:t>05</a:t>
            </a:r>
            <a:endParaRPr lang="en-US" sz="1400" dirty="0"/>
          </a:p>
        </p:txBody>
      </p:sp>
      <p:sp>
        <p:nvSpPr>
          <p:cNvPr id="106" name="Text 104"/>
          <p:cNvSpPr txBox="1"/>
          <p:nvPr/>
        </p:nvSpPr>
        <p:spPr>
          <a:xfrm>
            <a:off x="9602572" y="2011680"/>
            <a:ext cx="2057400" cy="274320"/>
          </a:xfrm>
          <a:prstGeom prst="rect">
            <a:avLst/>
          </a:prstGeom>
          <a:noFill/>
          <a:ln/>
        </p:spPr>
        <p:txBody>
          <a:bodyPr wrap="square" rtlCol="0" anchor="ctr"/>
          <a:lstStyle/>
          <a:p>
            <a:pPr algn="ctr" indent="0" marL="0">
              <a:buNone/>
            </a:pPr>
            <a:r>
              <a:rPr lang="en-US" sz="1100" b="1" spc="100" kern="0" dirty="0">
                <a:solidFill>
                  <a:srgbClr val="2C1810"/>
                </a:solidFill>
                <a:latin typeface="Fraunces" pitchFamily="34" charset="0"/>
                <a:ea typeface="Fraunces" pitchFamily="34" charset="-122"/>
                <a:cs typeface="Fraunces" pitchFamily="34" charset="-120"/>
              </a:rPr>
              <a:t>RENDER</a:t>
            </a:r>
            <a:endParaRPr lang="en-US" sz="1100" dirty="0"/>
          </a:p>
        </p:txBody>
      </p:sp>
      <p:sp>
        <p:nvSpPr>
          <p:cNvPr id="107" name="Shape 105"/>
          <p:cNvSpPr/>
          <p:nvPr/>
        </p:nvSpPr>
        <p:spPr>
          <a:xfrm>
            <a:off x="9876892" y="2423160"/>
            <a:ext cx="1508760" cy="1783080"/>
          </a:xfrm>
          <a:prstGeom prst="roundRect">
            <a:avLst>
              <a:gd name="adj" fmla="val 8485"/>
            </a:avLst>
          </a:prstGeom>
          <a:solidFill>
            <a:srgbClr val="2C1810"/>
          </a:solidFill>
          <a:ln w="12700">
            <a:solidFill>
              <a:srgbClr val="2C1810"/>
            </a:solidFill>
            <a:prstDash val="solid"/>
          </a:ln>
        </p:spPr>
      </p:sp>
      <p:sp>
        <p:nvSpPr>
          <p:cNvPr id="108" name="Shape 106"/>
          <p:cNvSpPr/>
          <p:nvPr/>
        </p:nvSpPr>
        <p:spPr>
          <a:xfrm>
            <a:off x="9940900" y="2487168"/>
            <a:ext cx="1380744" cy="1655064"/>
          </a:xfrm>
          <a:prstGeom prst="roundRect">
            <a:avLst>
              <a:gd name="adj" fmla="val 5298"/>
            </a:avLst>
          </a:prstGeom>
          <a:solidFill>
            <a:srgbClr val="F4ECD8"/>
          </a:solidFill>
          <a:ln w="6350">
            <a:solidFill>
              <a:srgbClr val="C4A882"/>
            </a:solidFill>
            <a:prstDash val="solid"/>
          </a:ln>
        </p:spPr>
      </p:sp>
      <p:sp>
        <p:nvSpPr>
          <p:cNvPr id="109" name="Shape 107"/>
          <p:cNvSpPr/>
          <p:nvPr/>
        </p:nvSpPr>
        <p:spPr>
          <a:xfrm>
            <a:off x="10466680" y="2459736"/>
            <a:ext cx="329184" cy="54864"/>
          </a:xfrm>
          <a:prstGeom prst="roundRect">
            <a:avLst>
              <a:gd name="adj" fmla="val 50000"/>
            </a:avLst>
          </a:prstGeom>
          <a:solidFill>
            <a:srgbClr val="2C1810"/>
          </a:solidFill>
          <a:ln/>
        </p:spPr>
      </p:sp>
      <p:sp>
        <p:nvSpPr>
          <p:cNvPr id="110" name="Shape 108"/>
          <p:cNvSpPr/>
          <p:nvPr/>
        </p:nvSpPr>
        <p:spPr>
          <a:xfrm>
            <a:off x="9968332" y="2697480"/>
            <a:ext cx="1325880" cy="1371600"/>
          </a:xfrm>
          <a:prstGeom prst="rect">
            <a:avLst/>
          </a:prstGeom>
          <a:solidFill>
            <a:srgbClr val="F4ECD8"/>
          </a:solidFill>
          <a:ln w="5080">
            <a:solidFill>
              <a:srgbClr val="C4A882"/>
            </a:solidFill>
            <a:prstDash val="solid"/>
          </a:ln>
        </p:spPr>
      </p:sp>
      <p:sp>
        <p:nvSpPr>
          <p:cNvPr id="111" name="Shape 109"/>
          <p:cNvSpPr/>
          <p:nvPr/>
        </p:nvSpPr>
        <p:spPr>
          <a:xfrm>
            <a:off x="10059772" y="2834640"/>
            <a:ext cx="1143000" cy="365760"/>
          </a:xfrm>
          <a:prstGeom prst="roundRect">
            <a:avLst>
              <a:gd name="adj" fmla="val 10000"/>
            </a:avLst>
          </a:prstGeom>
          <a:solidFill>
            <a:srgbClr val="F4D6D2"/>
          </a:solidFill>
          <a:ln w="12700">
            <a:solidFill>
              <a:srgbClr val="B83A3A"/>
            </a:solidFill>
            <a:prstDash val="dash"/>
          </a:ln>
        </p:spPr>
      </p:sp>
      <p:sp>
        <p:nvSpPr>
          <p:cNvPr id="112" name="Text 110"/>
          <p:cNvSpPr txBox="1"/>
          <p:nvPr/>
        </p:nvSpPr>
        <p:spPr>
          <a:xfrm>
            <a:off x="10105492" y="2862072"/>
            <a:ext cx="1051560" cy="310896"/>
          </a:xfrm>
          <a:prstGeom prst="rect">
            <a:avLst/>
          </a:prstGeom>
          <a:noFill/>
          <a:ln/>
        </p:spPr>
        <p:txBody>
          <a:bodyPr wrap="square" rtlCol="0" anchor="ctr"/>
          <a:lstStyle/>
          <a:p>
            <a:pPr algn="ctr" indent="0" marL="0">
              <a:buNone/>
            </a:pPr>
            <a:r>
              <a:rPr lang="en-US" sz="600" b="1" dirty="0">
                <a:solidFill>
                  <a:srgbClr val="B83A3A"/>
                </a:solidFill>
                <a:latin typeface="DM Sans" pitchFamily="34" charset="0"/>
                <a:ea typeface="DM Sans" pitchFamily="34" charset="-122"/>
                <a:cs typeface="DM Sans" pitchFamily="34" charset="-120"/>
              </a:rPr>
              <a:t>CKT — flagged</a:t>
            </a:r>
            <a:endParaRPr lang="en-US" sz="600" dirty="0"/>
          </a:p>
        </p:txBody>
      </p:sp>
      <p:sp>
        <p:nvSpPr>
          <p:cNvPr id="113" name="Shape 111"/>
          <p:cNvSpPr/>
          <p:nvPr/>
        </p:nvSpPr>
        <p:spPr>
          <a:xfrm>
            <a:off x="10059772" y="3291840"/>
            <a:ext cx="1143000" cy="365760"/>
          </a:xfrm>
          <a:prstGeom prst="roundRect">
            <a:avLst>
              <a:gd name="adj" fmla="val 10000"/>
            </a:avLst>
          </a:prstGeom>
          <a:solidFill>
            <a:srgbClr val="D6E2D4"/>
          </a:solidFill>
          <a:ln w="12700">
            <a:solidFill>
              <a:srgbClr val="3F7A4A"/>
            </a:solidFill>
            <a:prstDash val="dash"/>
          </a:ln>
        </p:spPr>
      </p:sp>
      <p:sp>
        <p:nvSpPr>
          <p:cNvPr id="114" name="Shape 112"/>
          <p:cNvSpPr/>
          <p:nvPr/>
        </p:nvSpPr>
        <p:spPr>
          <a:xfrm>
            <a:off x="10169500" y="3401568"/>
            <a:ext cx="146304" cy="146304"/>
          </a:xfrm>
          <a:prstGeom prst="ellipse">
            <a:avLst/>
          </a:prstGeom>
          <a:solidFill>
            <a:srgbClr val="3F7A4A"/>
          </a:solidFill>
          <a:ln w="9525">
            <a:solidFill>
              <a:srgbClr val="2C1810"/>
            </a:solidFill>
            <a:prstDash val="solid"/>
          </a:ln>
        </p:spPr>
      </p:sp>
      <p:sp>
        <p:nvSpPr>
          <p:cNvPr id="115" name="Shape 113"/>
          <p:cNvSpPr/>
          <p:nvPr/>
        </p:nvSpPr>
        <p:spPr>
          <a:xfrm>
            <a:off x="10209733" y="3478378"/>
            <a:ext cx="25603" cy="29261"/>
          </a:xfrm>
          <a:prstGeom prst="line">
            <a:avLst/>
          </a:prstGeom>
          <a:noFill/>
          <a:ln w="25400">
            <a:solidFill>
              <a:srgbClr val="F4ECD8"/>
            </a:solidFill>
            <a:prstDash val="solid"/>
          </a:ln>
        </p:spPr>
      </p:sp>
      <p:sp>
        <p:nvSpPr>
          <p:cNvPr id="116" name="Shape 114"/>
          <p:cNvSpPr/>
          <p:nvPr/>
        </p:nvSpPr>
        <p:spPr>
          <a:xfrm>
            <a:off x="10235336" y="3507638"/>
            <a:ext cx="40234" cy="-43891"/>
          </a:xfrm>
          <a:prstGeom prst="line">
            <a:avLst/>
          </a:prstGeom>
          <a:noFill/>
          <a:ln w="25400">
            <a:solidFill>
              <a:srgbClr val="F4ECD8"/>
            </a:solidFill>
            <a:prstDash val="solid"/>
          </a:ln>
        </p:spPr>
      </p:sp>
      <p:sp>
        <p:nvSpPr>
          <p:cNvPr id="117" name="Text 115"/>
          <p:cNvSpPr txBox="1"/>
          <p:nvPr/>
        </p:nvSpPr>
        <p:spPr>
          <a:xfrm>
            <a:off x="10379812" y="3319272"/>
            <a:ext cx="868680" cy="310896"/>
          </a:xfrm>
          <a:prstGeom prst="rect">
            <a:avLst/>
          </a:prstGeom>
          <a:noFill/>
          <a:ln/>
        </p:spPr>
        <p:txBody>
          <a:bodyPr wrap="square" rtlCol="0" anchor="ctr"/>
          <a:lstStyle/>
          <a:p>
            <a:pPr algn="l" indent="0" marL="0">
              <a:buNone/>
            </a:pPr>
            <a:r>
              <a:rPr lang="en-US" sz="600" b="1" dirty="0">
                <a:solidFill>
                  <a:srgbClr val="3F7A4A"/>
                </a:solidFill>
                <a:latin typeface="DM Sans" pitchFamily="34" charset="0"/>
                <a:ea typeface="DM Sans" pitchFamily="34" charset="-122"/>
                <a:cs typeface="DM Sans" pitchFamily="34" charset="-120"/>
              </a:rPr>
              <a:t>Ayam Goreng ✓</a:t>
            </a:r>
            <a:endParaRPr lang="en-US" sz="600" dirty="0"/>
          </a:p>
        </p:txBody>
      </p:sp>
      <p:sp>
        <p:nvSpPr>
          <p:cNvPr id="118" name="Text 116"/>
          <p:cNvSpPr txBox="1"/>
          <p:nvPr/>
        </p:nvSpPr>
        <p:spPr>
          <a:xfrm>
            <a:off x="9694012" y="4343400"/>
            <a:ext cx="1874520" cy="1097280"/>
          </a:xfrm>
          <a:prstGeom prst="rect">
            <a:avLst/>
          </a:prstGeom>
          <a:noFill/>
          <a:ln/>
        </p:spPr>
        <p:txBody>
          <a:bodyPr wrap="square" rtlCol="0" anchor="t"/>
          <a:lstStyle/>
          <a:p>
            <a:pPr algn="ctr" indent="0" marL="0">
              <a:lnSpc>
                <a:spcPct val="115000"/>
              </a:lnSpc>
              <a:buNone/>
            </a:pPr>
            <a:r>
              <a:rPr lang="en-US" sz="900" dirty="0">
                <a:solidFill>
                  <a:srgbClr val="2C1810"/>
                </a:solidFill>
                <a:latin typeface="DM Sans" pitchFamily="34" charset="0"/>
                <a:ea typeface="DM Sans" pitchFamily="34" charset="-122"/>
                <a:cs typeface="DM Sans" pitchFamily="34" charset="-120"/>
              </a:rPr>
              <a:t>CKT greyed out, red warning. Ayam Goreng highlighted green.</a:t>
            </a:r>
            <a:endParaRPr lang="en-US" sz="900" dirty="0"/>
          </a:p>
        </p:txBody>
      </p:sp>
      <p:sp>
        <p:nvSpPr>
          <p:cNvPr id="119" name="Text 117"/>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120" name="Text 118"/>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( 05 )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3800" b="1" dirty="0">
                <a:solidFill>
                  <a:srgbClr val="C4A882"/>
                </a:solidFill>
                <a:latin typeface="Fraunces" pitchFamily="34" charset="0"/>
                <a:ea typeface="Fraunces" pitchFamily="34" charset="-122"/>
                <a:cs typeface="Fraunces" pitchFamily="34" charset="-120"/>
              </a:rPr>
              <a:t>THE ALGORITHMIC EDGE</a:t>
            </a:r>
            <a:endParaRPr lang="en-US" sz="38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3800" b="1" dirty="0">
                <a:solidFill>
                  <a:srgbClr val="8B1E1E"/>
                </a:solidFill>
                <a:latin typeface="Fraunces" pitchFamily="34" charset="0"/>
                <a:ea typeface="Fraunces" pitchFamily="34" charset="-122"/>
                <a:cs typeface="Fraunces" pitchFamily="34" charset="-120"/>
              </a:rPr>
              <a:t>THE ALGORITHMIC EDGE</a:t>
            </a:r>
            <a:endParaRPr lang="en-US" sz="38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FEWER REVIEWS = HIGHER RANK · THE INVISIBLE UNCLE BEATS THE VIRAL CAFE</a:t>
            </a:r>
            <a:endParaRPr lang="en-US" sz="1100" dirty="0"/>
          </a:p>
        </p:txBody>
      </p:sp>
      <p:sp>
        <p:nvSpPr>
          <p:cNvPr id="28" name="Shape 26"/>
          <p:cNvSpPr/>
          <p:nvPr/>
        </p:nvSpPr>
        <p:spPr>
          <a:xfrm>
            <a:off x="3383280" y="1371600"/>
            <a:ext cx="5394960" cy="3429000"/>
          </a:xfrm>
          <a:prstGeom prst="roundRect">
            <a:avLst>
              <a:gd name="adj" fmla="val 2133"/>
            </a:avLst>
          </a:prstGeom>
          <a:solidFill>
            <a:srgbClr val="EFE6CC"/>
          </a:solidFill>
          <a:ln w="9525">
            <a:solidFill>
              <a:srgbClr val="C4A882"/>
            </a:solidFill>
            <a:prstDash val="solid"/>
          </a:ln>
        </p:spPr>
      </p:sp>
      <p:sp>
        <p:nvSpPr>
          <p:cNvPr id="29" name="Text 27"/>
          <p:cNvSpPr txBox="1"/>
          <p:nvPr/>
        </p:nvSpPr>
        <p:spPr>
          <a:xfrm>
            <a:off x="3383280" y="1444752"/>
            <a:ext cx="5394960" cy="228600"/>
          </a:xfrm>
          <a:prstGeom prst="rect">
            <a:avLst/>
          </a:prstGeom>
          <a:noFill/>
          <a:ln/>
        </p:spPr>
        <p:txBody>
          <a:bodyPr wrap="square" rtlCol="0" anchor="ctr"/>
          <a:lstStyle/>
          <a:p>
            <a:pPr algn="ctr" indent="0" marL="0">
              <a:buNone/>
            </a:pPr>
            <a:r>
              <a:rPr lang="en-US" sz="800" b="1" spc="200" kern="0" dirty="0">
                <a:solidFill>
                  <a:srgbClr val="8B1E1E"/>
                </a:solidFill>
                <a:latin typeface="DM Sans" pitchFamily="34" charset="0"/>
                <a:ea typeface="DM Sans" pitchFamily="34" charset="-122"/>
                <a:cs typeface="DM Sans" pitchFamily="34" charset="-120"/>
              </a:rPr>
              <a:t>FEWER DOTS  →  TALLER BAR</a:t>
            </a:r>
            <a:endParaRPr lang="en-US" sz="800" dirty="0"/>
          </a:p>
        </p:txBody>
      </p:sp>
      <p:sp>
        <p:nvSpPr>
          <p:cNvPr id="30" name="Shape 28"/>
          <p:cNvSpPr/>
          <p:nvPr/>
        </p:nvSpPr>
        <p:spPr>
          <a:xfrm>
            <a:off x="3566160" y="4480560"/>
            <a:ext cx="5029200" cy="0"/>
          </a:xfrm>
          <a:prstGeom prst="line">
            <a:avLst/>
          </a:prstGeom>
          <a:noFill/>
          <a:ln w="19050">
            <a:solidFill>
              <a:srgbClr val="2C1810"/>
            </a:solidFill>
            <a:prstDash val="solid"/>
          </a:ln>
        </p:spPr>
      </p:sp>
      <p:sp>
        <p:nvSpPr>
          <p:cNvPr id="31" name="Shape 29"/>
          <p:cNvSpPr/>
          <p:nvPr/>
        </p:nvSpPr>
        <p:spPr>
          <a:xfrm>
            <a:off x="4023360" y="4297680"/>
            <a:ext cx="128016" cy="128016"/>
          </a:xfrm>
          <a:prstGeom prst="ellipse">
            <a:avLst/>
          </a:prstGeom>
          <a:solidFill>
            <a:srgbClr val="5B4636"/>
          </a:solidFill>
          <a:ln/>
        </p:spPr>
      </p:sp>
      <p:sp>
        <p:nvSpPr>
          <p:cNvPr id="32" name="Shape 30"/>
          <p:cNvSpPr/>
          <p:nvPr/>
        </p:nvSpPr>
        <p:spPr>
          <a:xfrm>
            <a:off x="4023360" y="1828800"/>
            <a:ext cx="754380" cy="2194560"/>
          </a:xfrm>
          <a:prstGeom prst="rect">
            <a:avLst/>
          </a:prstGeom>
          <a:solidFill>
            <a:srgbClr val="8B1E1E"/>
          </a:solidFill>
          <a:ln w="6350">
            <a:solidFill>
              <a:srgbClr val="2C1810"/>
            </a:solidFill>
            <a:prstDash val="solid"/>
          </a:ln>
        </p:spPr>
      </p:sp>
      <p:sp>
        <p:nvSpPr>
          <p:cNvPr id="33" name="Shape 31"/>
          <p:cNvSpPr/>
          <p:nvPr/>
        </p:nvSpPr>
        <p:spPr>
          <a:xfrm>
            <a:off x="4259732" y="1375258"/>
            <a:ext cx="281635" cy="230429"/>
          </a:xfrm>
          <a:prstGeom prst="roundRect">
            <a:avLst>
              <a:gd name="adj" fmla="val 23810"/>
            </a:avLst>
          </a:prstGeom>
          <a:solidFill>
            <a:srgbClr val="D4A947"/>
          </a:solidFill>
          <a:ln w="9525">
            <a:solidFill>
              <a:srgbClr val="2C1810"/>
            </a:solidFill>
            <a:prstDash val="solid"/>
          </a:ln>
        </p:spPr>
      </p:sp>
      <p:sp>
        <p:nvSpPr>
          <p:cNvPr id="34" name="Shape 32"/>
          <p:cNvSpPr/>
          <p:nvPr/>
        </p:nvSpPr>
        <p:spPr>
          <a:xfrm>
            <a:off x="4349344" y="1605686"/>
            <a:ext cx="102413" cy="89611"/>
          </a:xfrm>
          <a:prstGeom prst="rect">
            <a:avLst/>
          </a:prstGeom>
          <a:solidFill>
            <a:srgbClr val="D4A947"/>
          </a:solidFill>
          <a:ln w="9525">
            <a:solidFill>
              <a:srgbClr val="2C1810"/>
            </a:solidFill>
            <a:prstDash val="solid"/>
          </a:ln>
        </p:spPr>
      </p:sp>
      <p:sp>
        <p:nvSpPr>
          <p:cNvPr id="35" name="Shape 33"/>
          <p:cNvSpPr/>
          <p:nvPr/>
        </p:nvSpPr>
        <p:spPr>
          <a:xfrm>
            <a:off x="4272534" y="1682496"/>
            <a:ext cx="256032" cy="51206"/>
          </a:xfrm>
          <a:prstGeom prst="rect">
            <a:avLst/>
          </a:prstGeom>
          <a:solidFill>
            <a:srgbClr val="D4A947"/>
          </a:solidFill>
          <a:ln w="9525">
            <a:solidFill>
              <a:srgbClr val="2C1810"/>
            </a:solidFill>
            <a:prstDash val="solid"/>
          </a:ln>
        </p:spPr>
      </p:sp>
      <p:sp>
        <p:nvSpPr>
          <p:cNvPr id="36" name="Shape 34"/>
          <p:cNvSpPr/>
          <p:nvPr/>
        </p:nvSpPr>
        <p:spPr>
          <a:xfrm>
            <a:off x="4157320" y="1400861"/>
            <a:ext cx="128016" cy="128016"/>
          </a:xfrm>
          <a:prstGeom prst="arc">
            <a:avLst>
              <a:gd name="adj1" fmla="val 5400000"/>
              <a:gd name="adj2" fmla="val 16200000"/>
            </a:avLst>
          </a:prstGeom>
          <a:ln w="15875">
            <a:solidFill>
              <a:srgbClr val="D4A947"/>
            </a:solidFill>
            <a:prstDash val="solid"/>
          </a:ln>
        </p:spPr>
      </p:sp>
      <p:sp>
        <p:nvSpPr>
          <p:cNvPr id="37" name="Shape 35"/>
          <p:cNvSpPr/>
          <p:nvPr/>
        </p:nvSpPr>
        <p:spPr>
          <a:xfrm>
            <a:off x="4515764" y="1400861"/>
            <a:ext cx="128016" cy="128016"/>
          </a:xfrm>
          <a:prstGeom prst="arc">
            <a:avLst>
              <a:gd name="adj1" fmla="val -5400000"/>
              <a:gd name="adj2" fmla="val 5400000"/>
            </a:avLst>
          </a:prstGeom>
          <a:ln w="15875">
            <a:solidFill>
              <a:srgbClr val="D4A947"/>
            </a:solidFill>
            <a:prstDash val="solid"/>
          </a:ln>
        </p:spPr>
      </p:sp>
      <p:sp>
        <p:nvSpPr>
          <p:cNvPr id="38" name="Text 36"/>
          <p:cNvSpPr txBox="1"/>
          <p:nvPr/>
        </p:nvSpPr>
        <p:spPr>
          <a:xfrm>
            <a:off x="3840480" y="4526280"/>
            <a:ext cx="1120140" cy="182880"/>
          </a:xfrm>
          <a:prstGeom prst="rect">
            <a:avLst/>
          </a:prstGeom>
          <a:noFill/>
          <a:ln/>
        </p:spPr>
        <p:txBody>
          <a:bodyPr wrap="square" rtlCol="0" anchor="ctr"/>
          <a:lstStyle/>
          <a:p>
            <a:pPr algn="ctr" indent="0" marL="0">
              <a:buNone/>
            </a:pPr>
            <a:r>
              <a:rPr lang="en-US" sz="700" dirty="0">
                <a:solidFill>
                  <a:srgbClr val="5B4636"/>
                </a:solidFill>
                <a:latin typeface="DM Sans" pitchFamily="34" charset="0"/>
                <a:ea typeface="DM Sans" pitchFamily="34" charset="-122"/>
                <a:cs typeface="DM Sans" pitchFamily="34" charset="-120"/>
              </a:rPr>
              <a:t>15 reviews</a:t>
            </a:r>
            <a:endParaRPr lang="en-US" sz="700" dirty="0"/>
          </a:p>
        </p:txBody>
      </p:sp>
      <p:sp>
        <p:nvSpPr>
          <p:cNvPr id="39" name="Shape 37"/>
          <p:cNvSpPr/>
          <p:nvPr/>
        </p:nvSpPr>
        <p:spPr>
          <a:xfrm>
            <a:off x="5143500" y="4297680"/>
            <a:ext cx="128016" cy="128016"/>
          </a:xfrm>
          <a:prstGeom prst="ellipse">
            <a:avLst/>
          </a:prstGeom>
          <a:solidFill>
            <a:srgbClr val="5B4636"/>
          </a:solidFill>
          <a:ln/>
        </p:spPr>
      </p:sp>
      <p:sp>
        <p:nvSpPr>
          <p:cNvPr id="40" name="Shape 38"/>
          <p:cNvSpPr/>
          <p:nvPr/>
        </p:nvSpPr>
        <p:spPr>
          <a:xfrm>
            <a:off x="5284318" y="4297680"/>
            <a:ext cx="128016" cy="128016"/>
          </a:xfrm>
          <a:prstGeom prst="ellipse">
            <a:avLst/>
          </a:prstGeom>
          <a:solidFill>
            <a:srgbClr val="5B4636"/>
          </a:solidFill>
          <a:ln/>
        </p:spPr>
      </p:sp>
      <p:sp>
        <p:nvSpPr>
          <p:cNvPr id="41" name="Shape 39"/>
          <p:cNvSpPr/>
          <p:nvPr/>
        </p:nvSpPr>
        <p:spPr>
          <a:xfrm>
            <a:off x="5425135" y="4297680"/>
            <a:ext cx="128016" cy="128016"/>
          </a:xfrm>
          <a:prstGeom prst="ellipse">
            <a:avLst/>
          </a:prstGeom>
          <a:solidFill>
            <a:srgbClr val="5B4636"/>
          </a:solidFill>
          <a:ln/>
        </p:spPr>
      </p:sp>
      <p:sp>
        <p:nvSpPr>
          <p:cNvPr id="42" name="Shape 40"/>
          <p:cNvSpPr/>
          <p:nvPr/>
        </p:nvSpPr>
        <p:spPr>
          <a:xfrm>
            <a:off x="5143500" y="2468880"/>
            <a:ext cx="754380" cy="1554480"/>
          </a:xfrm>
          <a:prstGeom prst="rect">
            <a:avLst/>
          </a:prstGeom>
          <a:solidFill>
            <a:srgbClr val="C4553A"/>
          </a:solidFill>
          <a:ln w="6350">
            <a:solidFill>
              <a:srgbClr val="2C1810"/>
            </a:solidFill>
            <a:prstDash val="solid"/>
          </a:ln>
        </p:spPr>
      </p:sp>
      <p:sp>
        <p:nvSpPr>
          <p:cNvPr id="43" name="Text 41"/>
          <p:cNvSpPr txBox="1"/>
          <p:nvPr/>
        </p:nvSpPr>
        <p:spPr>
          <a:xfrm>
            <a:off x="4960620" y="4526280"/>
            <a:ext cx="1120140" cy="182880"/>
          </a:xfrm>
          <a:prstGeom prst="rect">
            <a:avLst/>
          </a:prstGeom>
          <a:noFill/>
          <a:ln/>
        </p:spPr>
        <p:txBody>
          <a:bodyPr wrap="square" rtlCol="0" anchor="ctr"/>
          <a:lstStyle/>
          <a:p>
            <a:pPr algn="ctr" indent="0" marL="0">
              <a:buNone/>
            </a:pPr>
            <a:r>
              <a:rPr lang="en-US" sz="700" dirty="0">
                <a:solidFill>
                  <a:srgbClr val="5B4636"/>
                </a:solidFill>
                <a:latin typeface="DM Sans" pitchFamily="34" charset="0"/>
                <a:ea typeface="DM Sans" pitchFamily="34" charset="-122"/>
                <a:cs typeface="DM Sans" pitchFamily="34" charset="-120"/>
              </a:rPr>
              <a:t>80 reviews</a:t>
            </a:r>
            <a:endParaRPr lang="en-US" sz="700" dirty="0"/>
          </a:p>
        </p:txBody>
      </p:sp>
      <p:sp>
        <p:nvSpPr>
          <p:cNvPr id="44" name="Shape 42"/>
          <p:cNvSpPr/>
          <p:nvPr/>
        </p:nvSpPr>
        <p:spPr>
          <a:xfrm>
            <a:off x="6263640" y="4297680"/>
            <a:ext cx="128016" cy="128016"/>
          </a:xfrm>
          <a:prstGeom prst="ellipse">
            <a:avLst/>
          </a:prstGeom>
          <a:solidFill>
            <a:srgbClr val="5B4636"/>
          </a:solidFill>
          <a:ln/>
        </p:spPr>
      </p:sp>
      <p:sp>
        <p:nvSpPr>
          <p:cNvPr id="45" name="Shape 43"/>
          <p:cNvSpPr/>
          <p:nvPr/>
        </p:nvSpPr>
        <p:spPr>
          <a:xfrm>
            <a:off x="6404458" y="4297680"/>
            <a:ext cx="128016" cy="128016"/>
          </a:xfrm>
          <a:prstGeom prst="ellipse">
            <a:avLst/>
          </a:prstGeom>
          <a:solidFill>
            <a:srgbClr val="5B4636"/>
          </a:solidFill>
          <a:ln/>
        </p:spPr>
      </p:sp>
      <p:sp>
        <p:nvSpPr>
          <p:cNvPr id="46" name="Shape 44"/>
          <p:cNvSpPr/>
          <p:nvPr/>
        </p:nvSpPr>
        <p:spPr>
          <a:xfrm>
            <a:off x="6545275" y="4297680"/>
            <a:ext cx="128016" cy="128016"/>
          </a:xfrm>
          <a:prstGeom prst="ellipse">
            <a:avLst/>
          </a:prstGeom>
          <a:solidFill>
            <a:srgbClr val="5B4636"/>
          </a:solidFill>
          <a:ln/>
        </p:spPr>
      </p:sp>
      <p:sp>
        <p:nvSpPr>
          <p:cNvPr id="47" name="Shape 45"/>
          <p:cNvSpPr/>
          <p:nvPr/>
        </p:nvSpPr>
        <p:spPr>
          <a:xfrm>
            <a:off x="6686093" y="4297680"/>
            <a:ext cx="128016" cy="128016"/>
          </a:xfrm>
          <a:prstGeom prst="ellipse">
            <a:avLst/>
          </a:prstGeom>
          <a:solidFill>
            <a:srgbClr val="5B4636"/>
          </a:solidFill>
          <a:ln/>
        </p:spPr>
      </p:sp>
      <p:sp>
        <p:nvSpPr>
          <p:cNvPr id="48" name="Shape 46"/>
          <p:cNvSpPr/>
          <p:nvPr/>
        </p:nvSpPr>
        <p:spPr>
          <a:xfrm>
            <a:off x="6826910" y="4297680"/>
            <a:ext cx="128016" cy="128016"/>
          </a:xfrm>
          <a:prstGeom prst="ellipse">
            <a:avLst/>
          </a:prstGeom>
          <a:solidFill>
            <a:srgbClr val="5B4636"/>
          </a:solidFill>
          <a:ln/>
        </p:spPr>
      </p:sp>
      <p:sp>
        <p:nvSpPr>
          <p:cNvPr id="49" name="Shape 47"/>
          <p:cNvSpPr/>
          <p:nvPr/>
        </p:nvSpPr>
        <p:spPr>
          <a:xfrm>
            <a:off x="6217920" y="4156862"/>
            <a:ext cx="128016" cy="128016"/>
          </a:xfrm>
          <a:prstGeom prst="ellipse">
            <a:avLst/>
          </a:prstGeom>
          <a:solidFill>
            <a:srgbClr val="5B4636"/>
          </a:solidFill>
          <a:ln/>
        </p:spPr>
      </p:sp>
      <p:sp>
        <p:nvSpPr>
          <p:cNvPr id="50" name="Shape 48"/>
          <p:cNvSpPr/>
          <p:nvPr/>
        </p:nvSpPr>
        <p:spPr>
          <a:xfrm>
            <a:off x="6358738" y="4156862"/>
            <a:ext cx="128016" cy="128016"/>
          </a:xfrm>
          <a:prstGeom prst="ellipse">
            <a:avLst/>
          </a:prstGeom>
          <a:solidFill>
            <a:srgbClr val="5B4636"/>
          </a:solidFill>
          <a:ln/>
        </p:spPr>
      </p:sp>
      <p:sp>
        <p:nvSpPr>
          <p:cNvPr id="51" name="Shape 49"/>
          <p:cNvSpPr/>
          <p:nvPr/>
        </p:nvSpPr>
        <p:spPr>
          <a:xfrm>
            <a:off x="6499555" y="4156862"/>
            <a:ext cx="128016" cy="128016"/>
          </a:xfrm>
          <a:prstGeom prst="ellipse">
            <a:avLst/>
          </a:prstGeom>
          <a:solidFill>
            <a:srgbClr val="5B4636"/>
          </a:solidFill>
          <a:ln/>
        </p:spPr>
      </p:sp>
      <p:sp>
        <p:nvSpPr>
          <p:cNvPr id="52" name="Shape 50"/>
          <p:cNvSpPr/>
          <p:nvPr/>
        </p:nvSpPr>
        <p:spPr>
          <a:xfrm>
            <a:off x="6263640" y="3200400"/>
            <a:ext cx="754380" cy="822960"/>
          </a:xfrm>
          <a:prstGeom prst="rect">
            <a:avLst/>
          </a:prstGeom>
          <a:solidFill>
            <a:srgbClr val="B8902F"/>
          </a:solidFill>
          <a:ln w="6350">
            <a:solidFill>
              <a:srgbClr val="2C1810"/>
            </a:solidFill>
            <a:prstDash val="solid"/>
          </a:ln>
        </p:spPr>
      </p:sp>
      <p:sp>
        <p:nvSpPr>
          <p:cNvPr id="53" name="Text 51"/>
          <p:cNvSpPr txBox="1"/>
          <p:nvPr/>
        </p:nvSpPr>
        <p:spPr>
          <a:xfrm>
            <a:off x="6080760" y="4526280"/>
            <a:ext cx="1120140" cy="182880"/>
          </a:xfrm>
          <a:prstGeom prst="rect">
            <a:avLst/>
          </a:prstGeom>
          <a:noFill/>
          <a:ln/>
        </p:spPr>
        <p:txBody>
          <a:bodyPr wrap="square" rtlCol="0" anchor="ctr"/>
          <a:lstStyle/>
          <a:p>
            <a:pPr algn="ctr" indent="0" marL="0">
              <a:buNone/>
            </a:pPr>
            <a:r>
              <a:rPr lang="en-US" sz="700" dirty="0">
                <a:solidFill>
                  <a:srgbClr val="5B4636"/>
                </a:solidFill>
                <a:latin typeface="DM Sans" pitchFamily="34" charset="0"/>
                <a:ea typeface="DM Sans" pitchFamily="34" charset="-122"/>
                <a:cs typeface="DM Sans" pitchFamily="34" charset="-120"/>
              </a:rPr>
              <a:t>500 reviews</a:t>
            </a:r>
            <a:endParaRPr lang="en-US" sz="700" dirty="0"/>
          </a:p>
        </p:txBody>
      </p:sp>
      <p:sp>
        <p:nvSpPr>
          <p:cNvPr id="54" name="Shape 52"/>
          <p:cNvSpPr/>
          <p:nvPr/>
        </p:nvSpPr>
        <p:spPr>
          <a:xfrm>
            <a:off x="7383780" y="4297680"/>
            <a:ext cx="128016" cy="128016"/>
          </a:xfrm>
          <a:prstGeom prst="ellipse">
            <a:avLst/>
          </a:prstGeom>
          <a:solidFill>
            <a:srgbClr val="6E6E6E"/>
          </a:solidFill>
          <a:ln/>
        </p:spPr>
      </p:sp>
      <p:sp>
        <p:nvSpPr>
          <p:cNvPr id="55" name="Shape 53"/>
          <p:cNvSpPr/>
          <p:nvPr/>
        </p:nvSpPr>
        <p:spPr>
          <a:xfrm>
            <a:off x="7524598" y="4297680"/>
            <a:ext cx="128016" cy="128016"/>
          </a:xfrm>
          <a:prstGeom prst="ellipse">
            <a:avLst/>
          </a:prstGeom>
          <a:solidFill>
            <a:srgbClr val="6E6E6E"/>
          </a:solidFill>
          <a:ln/>
        </p:spPr>
      </p:sp>
      <p:sp>
        <p:nvSpPr>
          <p:cNvPr id="56" name="Shape 54"/>
          <p:cNvSpPr/>
          <p:nvPr/>
        </p:nvSpPr>
        <p:spPr>
          <a:xfrm>
            <a:off x="7665415" y="4297680"/>
            <a:ext cx="128016" cy="128016"/>
          </a:xfrm>
          <a:prstGeom prst="ellipse">
            <a:avLst/>
          </a:prstGeom>
          <a:solidFill>
            <a:srgbClr val="6E6E6E"/>
          </a:solidFill>
          <a:ln/>
        </p:spPr>
      </p:sp>
      <p:sp>
        <p:nvSpPr>
          <p:cNvPr id="57" name="Shape 55"/>
          <p:cNvSpPr/>
          <p:nvPr/>
        </p:nvSpPr>
        <p:spPr>
          <a:xfrm>
            <a:off x="7806233" y="4297680"/>
            <a:ext cx="128016" cy="128016"/>
          </a:xfrm>
          <a:prstGeom prst="ellipse">
            <a:avLst/>
          </a:prstGeom>
          <a:solidFill>
            <a:srgbClr val="6E6E6E"/>
          </a:solidFill>
          <a:ln/>
        </p:spPr>
      </p:sp>
      <p:sp>
        <p:nvSpPr>
          <p:cNvPr id="58" name="Shape 56"/>
          <p:cNvSpPr/>
          <p:nvPr/>
        </p:nvSpPr>
        <p:spPr>
          <a:xfrm>
            <a:off x="7947050" y="4297680"/>
            <a:ext cx="128016" cy="128016"/>
          </a:xfrm>
          <a:prstGeom prst="ellipse">
            <a:avLst/>
          </a:prstGeom>
          <a:solidFill>
            <a:srgbClr val="6E6E6E"/>
          </a:solidFill>
          <a:ln/>
        </p:spPr>
      </p:sp>
      <p:sp>
        <p:nvSpPr>
          <p:cNvPr id="59" name="Shape 57"/>
          <p:cNvSpPr/>
          <p:nvPr/>
        </p:nvSpPr>
        <p:spPr>
          <a:xfrm>
            <a:off x="7338060" y="4156862"/>
            <a:ext cx="128016" cy="128016"/>
          </a:xfrm>
          <a:prstGeom prst="ellipse">
            <a:avLst/>
          </a:prstGeom>
          <a:solidFill>
            <a:srgbClr val="6E6E6E"/>
          </a:solidFill>
          <a:ln/>
        </p:spPr>
      </p:sp>
      <p:sp>
        <p:nvSpPr>
          <p:cNvPr id="60" name="Shape 58"/>
          <p:cNvSpPr/>
          <p:nvPr/>
        </p:nvSpPr>
        <p:spPr>
          <a:xfrm>
            <a:off x="7478878" y="4156862"/>
            <a:ext cx="128016" cy="128016"/>
          </a:xfrm>
          <a:prstGeom prst="ellipse">
            <a:avLst/>
          </a:prstGeom>
          <a:solidFill>
            <a:srgbClr val="6E6E6E"/>
          </a:solidFill>
          <a:ln/>
        </p:spPr>
      </p:sp>
      <p:sp>
        <p:nvSpPr>
          <p:cNvPr id="61" name="Shape 59"/>
          <p:cNvSpPr/>
          <p:nvPr/>
        </p:nvSpPr>
        <p:spPr>
          <a:xfrm>
            <a:off x="7619695" y="4156862"/>
            <a:ext cx="128016" cy="128016"/>
          </a:xfrm>
          <a:prstGeom prst="ellipse">
            <a:avLst/>
          </a:prstGeom>
          <a:solidFill>
            <a:srgbClr val="6E6E6E"/>
          </a:solidFill>
          <a:ln/>
        </p:spPr>
      </p:sp>
      <p:sp>
        <p:nvSpPr>
          <p:cNvPr id="62" name="Shape 60"/>
          <p:cNvSpPr/>
          <p:nvPr/>
        </p:nvSpPr>
        <p:spPr>
          <a:xfrm>
            <a:off x="7760513" y="4156862"/>
            <a:ext cx="128016" cy="128016"/>
          </a:xfrm>
          <a:prstGeom prst="ellipse">
            <a:avLst/>
          </a:prstGeom>
          <a:solidFill>
            <a:srgbClr val="6E6E6E"/>
          </a:solidFill>
          <a:ln/>
        </p:spPr>
      </p:sp>
      <p:sp>
        <p:nvSpPr>
          <p:cNvPr id="63" name="Shape 61"/>
          <p:cNvSpPr/>
          <p:nvPr/>
        </p:nvSpPr>
        <p:spPr>
          <a:xfrm>
            <a:off x="7901330" y="4156862"/>
            <a:ext cx="128016" cy="128016"/>
          </a:xfrm>
          <a:prstGeom prst="ellipse">
            <a:avLst/>
          </a:prstGeom>
          <a:solidFill>
            <a:srgbClr val="6E6E6E"/>
          </a:solidFill>
          <a:ln/>
        </p:spPr>
      </p:sp>
      <p:sp>
        <p:nvSpPr>
          <p:cNvPr id="64" name="Shape 62"/>
          <p:cNvSpPr/>
          <p:nvPr/>
        </p:nvSpPr>
        <p:spPr>
          <a:xfrm>
            <a:off x="7292340" y="4016045"/>
            <a:ext cx="128016" cy="128016"/>
          </a:xfrm>
          <a:prstGeom prst="ellipse">
            <a:avLst/>
          </a:prstGeom>
          <a:solidFill>
            <a:srgbClr val="6E6E6E"/>
          </a:solidFill>
          <a:ln/>
        </p:spPr>
      </p:sp>
      <p:sp>
        <p:nvSpPr>
          <p:cNvPr id="65" name="Shape 63"/>
          <p:cNvSpPr/>
          <p:nvPr/>
        </p:nvSpPr>
        <p:spPr>
          <a:xfrm>
            <a:off x="7433158" y="4016045"/>
            <a:ext cx="128016" cy="128016"/>
          </a:xfrm>
          <a:prstGeom prst="ellipse">
            <a:avLst/>
          </a:prstGeom>
          <a:solidFill>
            <a:srgbClr val="6E6E6E"/>
          </a:solidFill>
          <a:ln/>
        </p:spPr>
      </p:sp>
      <p:sp>
        <p:nvSpPr>
          <p:cNvPr id="66" name="Shape 64"/>
          <p:cNvSpPr/>
          <p:nvPr/>
        </p:nvSpPr>
        <p:spPr>
          <a:xfrm>
            <a:off x="7573975" y="4016045"/>
            <a:ext cx="128016" cy="128016"/>
          </a:xfrm>
          <a:prstGeom prst="ellipse">
            <a:avLst/>
          </a:prstGeom>
          <a:solidFill>
            <a:srgbClr val="6E6E6E"/>
          </a:solidFill>
          <a:ln/>
        </p:spPr>
      </p:sp>
      <p:sp>
        <p:nvSpPr>
          <p:cNvPr id="67" name="Shape 65"/>
          <p:cNvSpPr/>
          <p:nvPr/>
        </p:nvSpPr>
        <p:spPr>
          <a:xfrm>
            <a:off x="7714793" y="4016045"/>
            <a:ext cx="128016" cy="128016"/>
          </a:xfrm>
          <a:prstGeom prst="ellipse">
            <a:avLst/>
          </a:prstGeom>
          <a:solidFill>
            <a:srgbClr val="6E6E6E"/>
          </a:solidFill>
          <a:ln/>
        </p:spPr>
      </p:sp>
      <p:sp>
        <p:nvSpPr>
          <p:cNvPr id="68" name="Shape 66"/>
          <p:cNvSpPr/>
          <p:nvPr/>
        </p:nvSpPr>
        <p:spPr>
          <a:xfrm>
            <a:off x="7383780" y="3703320"/>
            <a:ext cx="754380" cy="320040"/>
          </a:xfrm>
          <a:prstGeom prst="rect">
            <a:avLst/>
          </a:prstGeom>
          <a:solidFill>
            <a:srgbClr val="6E6E6E"/>
          </a:solidFill>
          <a:ln w="6350">
            <a:solidFill>
              <a:srgbClr val="2C1810"/>
            </a:solidFill>
            <a:prstDash val="solid"/>
          </a:ln>
        </p:spPr>
      </p:sp>
      <p:sp>
        <p:nvSpPr>
          <p:cNvPr id="69" name="Text 67"/>
          <p:cNvSpPr txBox="1"/>
          <p:nvPr/>
        </p:nvSpPr>
        <p:spPr>
          <a:xfrm>
            <a:off x="7200900" y="4526280"/>
            <a:ext cx="1120140" cy="182880"/>
          </a:xfrm>
          <a:prstGeom prst="rect">
            <a:avLst/>
          </a:prstGeom>
          <a:noFill/>
          <a:ln/>
        </p:spPr>
        <p:txBody>
          <a:bodyPr wrap="square" rtlCol="0" anchor="ctr"/>
          <a:lstStyle/>
          <a:p>
            <a:pPr algn="ctr" indent="0" marL="0">
              <a:buNone/>
            </a:pPr>
            <a:r>
              <a:rPr lang="en-US" sz="700" dirty="0">
                <a:solidFill>
                  <a:srgbClr val="5B4636"/>
                </a:solidFill>
                <a:latin typeface="DM Sans" pitchFamily="34" charset="0"/>
                <a:ea typeface="DM Sans" pitchFamily="34" charset="-122"/>
                <a:cs typeface="DM Sans" pitchFamily="34" charset="-120"/>
              </a:rPr>
              <a:t>9k reviews</a:t>
            </a:r>
            <a:endParaRPr lang="en-US" sz="700" dirty="0"/>
          </a:p>
        </p:txBody>
      </p:sp>
      <p:sp>
        <p:nvSpPr>
          <p:cNvPr id="70" name="Shape 68"/>
          <p:cNvSpPr/>
          <p:nvPr/>
        </p:nvSpPr>
        <p:spPr>
          <a:xfrm>
            <a:off x="640994" y="5279746"/>
            <a:ext cx="181051" cy="148133"/>
          </a:xfrm>
          <a:prstGeom prst="roundRect">
            <a:avLst>
              <a:gd name="adj" fmla="val 37037"/>
            </a:avLst>
          </a:prstGeom>
          <a:solidFill>
            <a:srgbClr val="9E9E9E"/>
          </a:solidFill>
          <a:ln w="9525">
            <a:solidFill>
              <a:srgbClr val="2C1810"/>
            </a:solidFill>
            <a:prstDash val="solid"/>
          </a:ln>
        </p:spPr>
      </p:sp>
      <p:sp>
        <p:nvSpPr>
          <p:cNvPr id="71" name="Shape 69"/>
          <p:cNvSpPr/>
          <p:nvPr/>
        </p:nvSpPr>
        <p:spPr>
          <a:xfrm>
            <a:off x="698602" y="5427878"/>
            <a:ext cx="65837" cy="57607"/>
          </a:xfrm>
          <a:prstGeom prst="rect">
            <a:avLst/>
          </a:prstGeom>
          <a:solidFill>
            <a:srgbClr val="9E9E9E"/>
          </a:solidFill>
          <a:ln w="9525">
            <a:solidFill>
              <a:srgbClr val="2C1810"/>
            </a:solidFill>
            <a:prstDash val="solid"/>
          </a:ln>
        </p:spPr>
      </p:sp>
      <p:sp>
        <p:nvSpPr>
          <p:cNvPr id="72" name="Shape 70"/>
          <p:cNvSpPr/>
          <p:nvPr/>
        </p:nvSpPr>
        <p:spPr>
          <a:xfrm>
            <a:off x="649224" y="5477256"/>
            <a:ext cx="164592" cy="32918"/>
          </a:xfrm>
          <a:prstGeom prst="rect">
            <a:avLst/>
          </a:prstGeom>
          <a:solidFill>
            <a:srgbClr val="9E9E9E"/>
          </a:solidFill>
          <a:ln w="9525">
            <a:solidFill>
              <a:srgbClr val="2C1810"/>
            </a:solidFill>
            <a:prstDash val="solid"/>
          </a:ln>
        </p:spPr>
      </p:sp>
      <p:sp>
        <p:nvSpPr>
          <p:cNvPr id="73" name="Shape 71"/>
          <p:cNvSpPr/>
          <p:nvPr/>
        </p:nvSpPr>
        <p:spPr>
          <a:xfrm>
            <a:off x="575158" y="5296205"/>
            <a:ext cx="82296" cy="82296"/>
          </a:xfrm>
          <a:prstGeom prst="arc">
            <a:avLst>
              <a:gd name="adj1" fmla="val 5400000"/>
              <a:gd name="adj2" fmla="val 16200000"/>
            </a:avLst>
          </a:prstGeom>
          <a:ln w="15875">
            <a:solidFill>
              <a:srgbClr val="9E9E9E"/>
            </a:solidFill>
            <a:prstDash val="solid"/>
          </a:ln>
        </p:spPr>
      </p:sp>
      <p:sp>
        <p:nvSpPr>
          <p:cNvPr id="74" name="Shape 72"/>
          <p:cNvSpPr/>
          <p:nvPr/>
        </p:nvSpPr>
        <p:spPr>
          <a:xfrm>
            <a:off x="805586" y="5296205"/>
            <a:ext cx="82296" cy="82296"/>
          </a:xfrm>
          <a:prstGeom prst="arc">
            <a:avLst>
              <a:gd name="adj1" fmla="val -5400000"/>
              <a:gd name="adj2" fmla="val 5400000"/>
            </a:avLst>
          </a:prstGeom>
          <a:ln w="15875">
            <a:solidFill>
              <a:srgbClr val="9E9E9E"/>
            </a:solidFill>
            <a:prstDash val="solid"/>
          </a:ln>
        </p:spPr>
      </p:sp>
      <p:sp>
        <p:nvSpPr>
          <p:cNvPr id="75" name="Text 73"/>
          <p:cNvSpPr txBox="1"/>
          <p:nvPr/>
        </p:nvSpPr>
        <p:spPr>
          <a:xfrm>
            <a:off x="1005840" y="5257800"/>
            <a:ext cx="3042818" cy="274320"/>
          </a:xfrm>
          <a:prstGeom prst="rect">
            <a:avLst/>
          </a:prstGeom>
          <a:noFill/>
          <a:ln/>
        </p:spPr>
        <p:txBody>
          <a:bodyPr wrap="square" rtlCol="0" anchor="ctr"/>
          <a:lstStyle/>
          <a:p>
            <a:pPr indent="0" marL="0">
              <a:buNone/>
            </a:pPr>
            <a:r>
              <a:rPr lang="en-US" sz="1100" b="1" spc="50" kern="0" dirty="0">
                <a:solidFill>
                  <a:srgbClr val="8B1E1E"/>
                </a:solidFill>
                <a:latin typeface="Fraunces" pitchFamily="34" charset="0"/>
                <a:ea typeface="Fraunces" pitchFamily="34" charset="-122"/>
                <a:cs typeface="Fraunces" pitchFamily="34" charset="-120"/>
              </a:rPr>
              <a:t>INVERTED RANKING</a:t>
            </a:r>
            <a:endParaRPr lang="en-US" sz="1100" dirty="0"/>
          </a:p>
        </p:txBody>
      </p:sp>
      <p:sp>
        <p:nvSpPr>
          <p:cNvPr id="76" name="Text 74"/>
          <p:cNvSpPr txBox="1"/>
          <p:nvPr/>
        </p:nvSpPr>
        <p:spPr>
          <a:xfrm>
            <a:off x="502920" y="5577840"/>
            <a:ext cx="3591458" cy="914400"/>
          </a:xfrm>
          <a:prstGeom prst="rect">
            <a:avLst/>
          </a:prstGeom>
          <a:noFill/>
          <a:ln/>
        </p:spPr>
        <p:txBody>
          <a:bodyPr wrap="square" rtlCol="0" anchor="ctr"/>
          <a:lstStyle/>
          <a:p>
            <a:pPr indent="0" marL="0">
              <a:lnSpc>
                <a:spcPct val="115000"/>
              </a:lnSpc>
              <a:buNone/>
            </a:pPr>
            <a:r>
              <a:rPr lang="en-US" sz="850" dirty="0">
                <a:solidFill>
                  <a:srgbClr val="2C1810"/>
                </a:solidFill>
                <a:latin typeface="DM Sans" pitchFamily="34" charset="0"/>
                <a:ea typeface="DM Sans" pitchFamily="34" charset="-122"/>
                <a:cs typeface="DM Sans" pitchFamily="34" charset="-120"/>
              </a:rPr>
              <a:t>35% taste similarity, 30% Invisibility Boost, 20% Diversity Gap, 15% Proximity. The recommender deliberately inverts standard logic — fewer reviews means higher rank.</a:t>
            </a:r>
            <a:endParaRPr lang="en-US" sz="850" dirty="0"/>
          </a:p>
        </p:txBody>
      </p:sp>
      <p:sp>
        <p:nvSpPr>
          <p:cNvPr id="77" name="Shape 75"/>
          <p:cNvSpPr/>
          <p:nvPr/>
        </p:nvSpPr>
        <p:spPr>
          <a:xfrm>
            <a:off x="4350410" y="5239512"/>
            <a:ext cx="256032" cy="256032"/>
          </a:xfrm>
          <a:prstGeom prst="ellipse">
            <a:avLst/>
          </a:prstGeom>
          <a:ln w="25400">
            <a:solidFill>
              <a:srgbClr val="2F5D3A"/>
            </a:solidFill>
            <a:prstDash val="solid"/>
          </a:ln>
        </p:spPr>
      </p:sp>
      <p:sp>
        <p:nvSpPr>
          <p:cNvPr id="78" name="Shape 76"/>
          <p:cNvSpPr/>
          <p:nvPr/>
        </p:nvSpPr>
        <p:spPr>
          <a:xfrm>
            <a:off x="4542434" y="5431536"/>
            <a:ext cx="109728" cy="109728"/>
          </a:xfrm>
          <a:prstGeom prst="line">
            <a:avLst/>
          </a:prstGeom>
          <a:noFill/>
          <a:ln w="31750">
            <a:solidFill>
              <a:srgbClr val="2F5D3A"/>
            </a:solidFill>
            <a:prstDash val="solid"/>
          </a:ln>
        </p:spPr>
      </p:sp>
      <p:sp>
        <p:nvSpPr>
          <p:cNvPr id="79" name="Text 77"/>
          <p:cNvSpPr txBox="1"/>
          <p:nvPr/>
        </p:nvSpPr>
        <p:spPr>
          <a:xfrm>
            <a:off x="4780178" y="5257800"/>
            <a:ext cx="3042818" cy="274320"/>
          </a:xfrm>
          <a:prstGeom prst="rect">
            <a:avLst/>
          </a:prstGeom>
          <a:noFill/>
          <a:ln/>
        </p:spPr>
        <p:txBody>
          <a:bodyPr wrap="square" rtlCol="0" anchor="ctr"/>
          <a:lstStyle/>
          <a:p>
            <a:pPr indent="0" marL="0">
              <a:buNone/>
            </a:pPr>
            <a:r>
              <a:rPr lang="en-US" sz="1100" b="1" spc="50" kern="0" dirty="0">
                <a:solidFill>
                  <a:srgbClr val="2F5D3A"/>
                </a:solidFill>
                <a:latin typeface="Fraunces" pitchFamily="34" charset="0"/>
                <a:ea typeface="Fraunces" pitchFamily="34" charset="-122"/>
                <a:cs typeface="Fraunces" pitchFamily="34" charset="-120"/>
              </a:rPr>
              <a:t>INVISIBILITY BOOST</a:t>
            </a:r>
            <a:endParaRPr lang="en-US" sz="1100" dirty="0"/>
          </a:p>
        </p:txBody>
      </p:sp>
      <p:sp>
        <p:nvSpPr>
          <p:cNvPr id="80" name="Text 78"/>
          <p:cNvSpPr txBox="1"/>
          <p:nvPr/>
        </p:nvSpPr>
        <p:spPr>
          <a:xfrm>
            <a:off x="4277258" y="5577840"/>
            <a:ext cx="3591458" cy="914400"/>
          </a:xfrm>
          <a:prstGeom prst="rect">
            <a:avLst/>
          </a:prstGeom>
          <a:noFill/>
          <a:ln/>
        </p:spPr>
        <p:txBody>
          <a:bodyPr wrap="square" rtlCol="0" anchor="ctr"/>
          <a:lstStyle/>
          <a:p>
            <a:pPr indent="0" marL="0">
              <a:lnSpc>
                <a:spcPct val="115000"/>
              </a:lnSpc>
              <a:buNone/>
            </a:pPr>
            <a:r>
              <a:rPr lang="en-US" sz="850" dirty="0">
                <a:solidFill>
                  <a:srgbClr val="2C1810"/>
                </a:solidFill>
                <a:latin typeface="DM Sans" pitchFamily="34" charset="0"/>
                <a:ea typeface="DM Sans" pitchFamily="34" charset="-122"/>
                <a:cs typeface="DM Sans" pitchFamily="34" charset="-120"/>
              </a:rPr>
              <a:t>Stalls with fewer online reviews score higher: 1 − (reviews / 200), plus a 15-point bonus for true grassroots venues. The hidden uncle beats the viral cafe.</a:t>
            </a:r>
            <a:endParaRPr lang="en-US" sz="850" dirty="0"/>
          </a:p>
        </p:txBody>
      </p:sp>
      <p:sp>
        <p:nvSpPr>
          <p:cNvPr id="81" name="Shape 79"/>
          <p:cNvSpPr/>
          <p:nvPr/>
        </p:nvSpPr>
        <p:spPr>
          <a:xfrm>
            <a:off x="8199730" y="5219395"/>
            <a:ext cx="160934" cy="120701"/>
          </a:xfrm>
          <a:prstGeom prst="ellipse">
            <a:avLst/>
          </a:prstGeom>
          <a:solidFill>
            <a:srgbClr val="4A7C59"/>
          </a:solidFill>
          <a:ln w="6350">
            <a:solidFill>
              <a:srgbClr val="2C1810"/>
            </a:solidFill>
            <a:prstDash val="solid"/>
          </a:ln>
        </p:spPr>
      </p:sp>
      <p:sp>
        <p:nvSpPr>
          <p:cNvPr id="82" name="Shape 80"/>
          <p:cNvSpPr/>
          <p:nvPr/>
        </p:nvSpPr>
        <p:spPr>
          <a:xfrm>
            <a:off x="8268127" y="5330038"/>
            <a:ext cx="24140" cy="110642"/>
          </a:xfrm>
          <a:prstGeom prst="rect">
            <a:avLst/>
          </a:prstGeom>
          <a:solidFill>
            <a:srgbClr val="C4553A"/>
          </a:solidFill>
          <a:ln w="6350">
            <a:solidFill>
              <a:srgbClr val="2C1810"/>
            </a:solidFill>
            <a:prstDash val="solid"/>
          </a:ln>
        </p:spPr>
      </p:sp>
      <p:sp>
        <p:nvSpPr>
          <p:cNvPr id="83" name="Shape 81"/>
          <p:cNvSpPr/>
          <p:nvPr/>
        </p:nvSpPr>
        <p:spPr>
          <a:xfrm>
            <a:off x="8280197" y="5440680"/>
            <a:ext cx="-120701" cy="120701"/>
          </a:xfrm>
          <a:prstGeom prst="line">
            <a:avLst/>
          </a:prstGeom>
          <a:noFill/>
          <a:ln w="19050">
            <a:solidFill>
              <a:srgbClr val="B8902F"/>
            </a:solidFill>
            <a:prstDash val="solid"/>
          </a:ln>
        </p:spPr>
      </p:sp>
      <p:sp>
        <p:nvSpPr>
          <p:cNvPr id="84" name="Shape 82"/>
          <p:cNvSpPr/>
          <p:nvPr/>
        </p:nvSpPr>
        <p:spPr>
          <a:xfrm>
            <a:off x="8280197" y="5440680"/>
            <a:ext cx="0" cy="140818"/>
          </a:xfrm>
          <a:prstGeom prst="line">
            <a:avLst/>
          </a:prstGeom>
          <a:noFill/>
          <a:ln w="19050">
            <a:solidFill>
              <a:srgbClr val="B8902F"/>
            </a:solidFill>
            <a:prstDash val="solid"/>
          </a:ln>
        </p:spPr>
      </p:sp>
      <p:sp>
        <p:nvSpPr>
          <p:cNvPr id="85" name="Shape 83"/>
          <p:cNvSpPr/>
          <p:nvPr/>
        </p:nvSpPr>
        <p:spPr>
          <a:xfrm>
            <a:off x="8280197" y="5440680"/>
            <a:ext cx="120701" cy="120701"/>
          </a:xfrm>
          <a:prstGeom prst="line">
            <a:avLst/>
          </a:prstGeom>
          <a:noFill/>
          <a:ln w="19050">
            <a:solidFill>
              <a:srgbClr val="B8902F"/>
            </a:solidFill>
            <a:prstDash val="solid"/>
          </a:ln>
        </p:spPr>
      </p:sp>
      <p:sp>
        <p:nvSpPr>
          <p:cNvPr id="86" name="Shape 84"/>
          <p:cNvSpPr/>
          <p:nvPr/>
        </p:nvSpPr>
        <p:spPr>
          <a:xfrm>
            <a:off x="8219846" y="5501030"/>
            <a:ext cx="-110642" cy="110642"/>
          </a:xfrm>
          <a:prstGeom prst="line">
            <a:avLst/>
          </a:prstGeom>
          <a:noFill/>
          <a:ln w="19050">
            <a:solidFill>
              <a:srgbClr val="B8902F"/>
            </a:solidFill>
            <a:prstDash val="solid"/>
          </a:ln>
        </p:spPr>
      </p:sp>
      <p:sp>
        <p:nvSpPr>
          <p:cNvPr id="87" name="Shape 85"/>
          <p:cNvSpPr/>
          <p:nvPr/>
        </p:nvSpPr>
        <p:spPr>
          <a:xfrm>
            <a:off x="8340547" y="5501030"/>
            <a:ext cx="110642" cy="110642"/>
          </a:xfrm>
          <a:prstGeom prst="line">
            <a:avLst/>
          </a:prstGeom>
          <a:noFill/>
          <a:ln w="19050">
            <a:solidFill>
              <a:srgbClr val="B8902F"/>
            </a:solidFill>
            <a:prstDash val="solid"/>
          </a:ln>
        </p:spPr>
      </p:sp>
      <p:sp>
        <p:nvSpPr>
          <p:cNvPr id="88" name="Text 86"/>
          <p:cNvSpPr txBox="1"/>
          <p:nvPr/>
        </p:nvSpPr>
        <p:spPr>
          <a:xfrm>
            <a:off x="8554517" y="5257800"/>
            <a:ext cx="3042818" cy="274320"/>
          </a:xfrm>
          <a:prstGeom prst="rect">
            <a:avLst/>
          </a:prstGeom>
          <a:noFill/>
          <a:ln/>
        </p:spPr>
        <p:txBody>
          <a:bodyPr wrap="square" rtlCol="0" anchor="ctr"/>
          <a:lstStyle/>
          <a:p>
            <a:pPr indent="0" marL="0">
              <a:buNone/>
            </a:pPr>
            <a:r>
              <a:rPr lang="en-US" sz="1100" b="1" spc="50" kern="0" dirty="0">
                <a:solidFill>
                  <a:srgbClr val="B8902F"/>
                </a:solidFill>
                <a:latin typeface="Fraunces" pitchFamily="34" charset="0"/>
                <a:ea typeface="Fraunces" pitchFamily="34" charset="-122"/>
                <a:cs typeface="Fraunces" pitchFamily="34" charset="-120"/>
              </a:rPr>
              <a:t>AKAR SCORE</a:t>
            </a:r>
            <a:endParaRPr lang="en-US" sz="1100" dirty="0"/>
          </a:p>
        </p:txBody>
      </p:sp>
      <p:sp>
        <p:nvSpPr>
          <p:cNvPr id="89" name="Text 87"/>
          <p:cNvSpPr txBox="1"/>
          <p:nvPr/>
        </p:nvSpPr>
        <p:spPr>
          <a:xfrm>
            <a:off x="8051597" y="5577840"/>
            <a:ext cx="3591458" cy="914400"/>
          </a:xfrm>
          <a:prstGeom prst="rect">
            <a:avLst/>
          </a:prstGeom>
          <a:noFill/>
          <a:ln/>
        </p:spPr>
        <p:txBody>
          <a:bodyPr wrap="square" rtlCol="0" anchor="ctr"/>
          <a:lstStyle/>
          <a:p>
            <a:pPr indent="0" marL="0">
              <a:lnSpc>
                <a:spcPct val="115000"/>
              </a:lnSpc>
              <a:buNone/>
            </a:pPr>
            <a:r>
              <a:rPr lang="en-US" sz="850" dirty="0">
                <a:solidFill>
                  <a:srgbClr val="2C1810"/>
                </a:solidFill>
                <a:latin typeface="DM Sans" pitchFamily="34" charset="0"/>
                <a:ea typeface="DM Sans" pitchFamily="34" charset="-122"/>
                <a:cs typeface="DM Sans" pitchFamily="34" charset="-120"/>
              </a:rPr>
              <a:t>Heritage score = age × 30% + scarcity × 30% + base × 40%. Tiers: Legendary 90+, Rare 75+, Uncommon 55+, Common. Drives card rarity and trail highlights.</a:t>
            </a:r>
            <a:endParaRPr lang="en-US" sz="850" dirty="0"/>
          </a:p>
        </p:txBody>
      </p:sp>
      <p:sp>
        <p:nvSpPr>
          <p:cNvPr id="90" name="Text 88"/>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91" name="Text 89"/>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( 06 )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3800" b="1" dirty="0">
                <a:solidFill>
                  <a:srgbClr val="C4A882"/>
                </a:solidFill>
                <a:latin typeface="Fraunces" pitchFamily="34" charset="0"/>
                <a:ea typeface="Fraunces" pitchFamily="34" charset="-122"/>
                <a:cs typeface="Fraunces" pitchFamily="34" charset="-120"/>
              </a:rPr>
              <a:t>GAMIFIED DISCOVERY</a:t>
            </a:r>
            <a:endParaRPr lang="en-US" sz="38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3800" b="1" dirty="0">
                <a:solidFill>
                  <a:srgbClr val="8B1E1E"/>
                </a:solidFill>
                <a:latin typeface="Fraunces" pitchFamily="34" charset="0"/>
                <a:ea typeface="Fraunces" pitchFamily="34" charset="-122"/>
                <a:cs typeface="Fraunces" pitchFamily="34" charset="-120"/>
              </a:rPr>
              <a:t>GAMIFIED DISCOVERY</a:t>
            </a:r>
            <a:endParaRPr lang="en-US" sz="38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HERITAGE RADAR · POKÉDEX · BLUEPRINT · TRAILS</a:t>
            </a:r>
            <a:endParaRPr lang="en-US" sz="1100" dirty="0"/>
          </a:p>
        </p:txBody>
      </p:sp>
      <p:sp>
        <p:nvSpPr>
          <p:cNvPr id="28" name="Shape 26"/>
          <p:cNvSpPr/>
          <p:nvPr/>
        </p:nvSpPr>
        <p:spPr>
          <a:xfrm>
            <a:off x="472288" y="1691640"/>
            <a:ext cx="3566160" cy="2560320"/>
          </a:xfrm>
          <a:prstGeom prst="roundRect">
            <a:avLst>
              <a:gd name="adj" fmla="val 2857"/>
            </a:avLst>
          </a:prstGeom>
          <a:solidFill>
            <a:srgbClr val="F4ECD8"/>
          </a:solidFill>
          <a:ln w="15875">
            <a:solidFill>
              <a:srgbClr val="2F5D3A"/>
            </a:solidFill>
            <a:prstDash val="solid"/>
          </a:ln>
        </p:spPr>
      </p:sp>
      <p:sp>
        <p:nvSpPr>
          <p:cNvPr id="29" name="Text 27"/>
          <p:cNvSpPr txBox="1"/>
          <p:nvPr/>
        </p:nvSpPr>
        <p:spPr>
          <a:xfrm>
            <a:off x="472288" y="1783080"/>
            <a:ext cx="3566160" cy="274320"/>
          </a:xfrm>
          <a:prstGeom prst="rect">
            <a:avLst/>
          </a:prstGeom>
          <a:noFill/>
          <a:ln/>
        </p:spPr>
        <p:txBody>
          <a:bodyPr wrap="square" rtlCol="0" anchor="ctr"/>
          <a:lstStyle/>
          <a:p>
            <a:pPr algn="ctr" indent="0" marL="0">
              <a:buNone/>
            </a:pPr>
            <a:r>
              <a:rPr lang="en-US" sz="1200" b="1" spc="100" kern="0" dirty="0">
                <a:solidFill>
                  <a:srgbClr val="2F5D3A"/>
                </a:solidFill>
                <a:latin typeface="Fraunces" pitchFamily="34" charset="0"/>
                <a:ea typeface="Fraunces" pitchFamily="34" charset="-122"/>
                <a:cs typeface="Fraunces" pitchFamily="34" charset="-120"/>
              </a:rPr>
              <a:t>HERITAGE RADAR</a:t>
            </a:r>
            <a:endParaRPr lang="en-US" sz="1200" dirty="0"/>
          </a:p>
        </p:txBody>
      </p:sp>
      <p:sp>
        <p:nvSpPr>
          <p:cNvPr id="30" name="Shape 28"/>
          <p:cNvSpPr/>
          <p:nvPr/>
        </p:nvSpPr>
        <p:spPr>
          <a:xfrm>
            <a:off x="655168" y="2103120"/>
            <a:ext cx="3200400" cy="1371600"/>
          </a:xfrm>
          <a:prstGeom prst="rect">
            <a:avLst/>
          </a:prstGeom>
          <a:solidFill>
            <a:srgbClr val="D6E2D4"/>
          </a:solidFill>
          <a:ln w="6350">
            <a:solidFill>
              <a:srgbClr val="2F5D3A"/>
            </a:solidFill>
            <a:prstDash val="solid"/>
          </a:ln>
        </p:spPr>
      </p:sp>
      <p:sp>
        <p:nvSpPr>
          <p:cNvPr id="31" name="Shape 29"/>
          <p:cNvSpPr/>
          <p:nvPr/>
        </p:nvSpPr>
        <p:spPr>
          <a:xfrm>
            <a:off x="655168" y="2331720"/>
            <a:ext cx="3200400" cy="0"/>
          </a:xfrm>
          <a:prstGeom prst="line">
            <a:avLst/>
          </a:prstGeom>
          <a:noFill/>
          <a:ln w="6350">
            <a:solidFill>
              <a:srgbClr val="C4A882"/>
            </a:solidFill>
            <a:prstDash val="solid"/>
          </a:ln>
        </p:spPr>
      </p:sp>
      <p:sp>
        <p:nvSpPr>
          <p:cNvPr id="32" name="Shape 30"/>
          <p:cNvSpPr/>
          <p:nvPr/>
        </p:nvSpPr>
        <p:spPr>
          <a:xfrm>
            <a:off x="1020928" y="2103120"/>
            <a:ext cx="0" cy="1371600"/>
          </a:xfrm>
          <a:prstGeom prst="line">
            <a:avLst/>
          </a:prstGeom>
          <a:noFill/>
          <a:ln w="6350">
            <a:solidFill>
              <a:srgbClr val="C4A882"/>
            </a:solidFill>
            <a:prstDash val="solid"/>
          </a:ln>
        </p:spPr>
      </p:sp>
      <p:sp>
        <p:nvSpPr>
          <p:cNvPr id="33" name="Shape 31"/>
          <p:cNvSpPr/>
          <p:nvPr/>
        </p:nvSpPr>
        <p:spPr>
          <a:xfrm>
            <a:off x="655168" y="2697480"/>
            <a:ext cx="3200400" cy="0"/>
          </a:xfrm>
          <a:prstGeom prst="line">
            <a:avLst/>
          </a:prstGeom>
          <a:noFill/>
          <a:ln w="6350">
            <a:solidFill>
              <a:srgbClr val="C4A882"/>
            </a:solidFill>
            <a:prstDash val="solid"/>
          </a:ln>
        </p:spPr>
      </p:sp>
      <p:sp>
        <p:nvSpPr>
          <p:cNvPr id="34" name="Shape 32"/>
          <p:cNvSpPr/>
          <p:nvPr/>
        </p:nvSpPr>
        <p:spPr>
          <a:xfrm>
            <a:off x="1752448" y="2103120"/>
            <a:ext cx="0" cy="1371600"/>
          </a:xfrm>
          <a:prstGeom prst="line">
            <a:avLst/>
          </a:prstGeom>
          <a:noFill/>
          <a:ln w="6350">
            <a:solidFill>
              <a:srgbClr val="C4A882"/>
            </a:solidFill>
            <a:prstDash val="solid"/>
          </a:ln>
        </p:spPr>
      </p:sp>
      <p:sp>
        <p:nvSpPr>
          <p:cNvPr id="35" name="Shape 33"/>
          <p:cNvSpPr/>
          <p:nvPr/>
        </p:nvSpPr>
        <p:spPr>
          <a:xfrm>
            <a:off x="655168" y="3063240"/>
            <a:ext cx="3200400" cy="0"/>
          </a:xfrm>
          <a:prstGeom prst="line">
            <a:avLst/>
          </a:prstGeom>
          <a:noFill/>
          <a:ln w="6350">
            <a:solidFill>
              <a:srgbClr val="C4A882"/>
            </a:solidFill>
            <a:prstDash val="solid"/>
          </a:ln>
        </p:spPr>
      </p:sp>
      <p:sp>
        <p:nvSpPr>
          <p:cNvPr id="36" name="Shape 34"/>
          <p:cNvSpPr/>
          <p:nvPr/>
        </p:nvSpPr>
        <p:spPr>
          <a:xfrm>
            <a:off x="2483968" y="2103120"/>
            <a:ext cx="0" cy="1371600"/>
          </a:xfrm>
          <a:prstGeom prst="line">
            <a:avLst/>
          </a:prstGeom>
          <a:noFill/>
          <a:ln w="6350">
            <a:solidFill>
              <a:srgbClr val="C4A882"/>
            </a:solidFill>
            <a:prstDash val="solid"/>
          </a:ln>
        </p:spPr>
      </p:sp>
      <p:sp>
        <p:nvSpPr>
          <p:cNvPr id="37" name="Shape 35"/>
          <p:cNvSpPr/>
          <p:nvPr/>
        </p:nvSpPr>
        <p:spPr>
          <a:xfrm>
            <a:off x="655168" y="3429000"/>
            <a:ext cx="3200400" cy="0"/>
          </a:xfrm>
          <a:prstGeom prst="line">
            <a:avLst/>
          </a:prstGeom>
          <a:noFill/>
          <a:ln w="6350">
            <a:solidFill>
              <a:srgbClr val="C4A882"/>
            </a:solidFill>
            <a:prstDash val="solid"/>
          </a:ln>
        </p:spPr>
      </p:sp>
      <p:sp>
        <p:nvSpPr>
          <p:cNvPr id="38" name="Shape 36"/>
          <p:cNvSpPr/>
          <p:nvPr/>
        </p:nvSpPr>
        <p:spPr>
          <a:xfrm>
            <a:off x="3215488" y="2103120"/>
            <a:ext cx="0" cy="1371600"/>
          </a:xfrm>
          <a:prstGeom prst="line">
            <a:avLst/>
          </a:prstGeom>
          <a:noFill/>
          <a:ln w="6350">
            <a:solidFill>
              <a:srgbClr val="C4A882"/>
            </a:solidFill>
            <a:prstDash val="solid"/>
          </a:ln>
        </p:spPr>
      </p:sp>
      <p:sp>
        <p:nvSpPr>
          <p:cNvPr id="39" name="Shape 37"/>
          <p:cNvSpPr/>
          <p:nvPr/>
        </p:nvSpPr>
        <p:spPr>
          <a:xfrm>
            <a:off x="1066648" y="2377440"/>
            <a:ext cx="365760" cy="365760"/>
          </a:xfrm>
          <a:prstGeom prst="ellipse">
            <a:avLst/>
          </a:prstGeom>
          <a:solidFill>
            <a:srgbClr val="8B1E1E">
              <a:alpha val="50000"/>
            </a:srgbClr>
          </a:solidFill>
          <a:ln/>
        </p:spPr>
      </p:sp>
      <p:sp>
        <p:nvSpPr>
          <p:cNvPr id="40" name="Shape 38"/>
          <p:cNvSpPr/>
          <p:nvPr/>
        </p:nvSpPr>
        <p:spPr>
          <a:xfrm>
            <a:off x="1158088" y="2468880"/>
            <a:ext cx="146304" cy="146304"/>
          </a:xfrm>
          <a:prstGeom prst="ellipse">
            <a:avLst/>
          </a:prstGeom>
          <a:solidFill>
            <a:srgbClr val="8B1E1E"/>
          </a:solidFill>
          <a:ln w="6350">
            <a:solidFill>
              <a:srgbClr val="2C1810"/>
            </a:solidFill>
            <a:prstDash val="solid"/>
          </a:ln>
        </p:spPr>
      </p:sp>
      <p:sp>
        <p:nvSpPr>
          <p:cNvPr id="41" name="Shape 39"/>
          <p:cNvSpPr/>
          <p:nvPr/>
        </p:nvSpPr>
        <p:spPr>
          <a:xfrm>
            <a:off x="2438248" y="2743200"/>
            <a:ext cx="365760" cy="365760"/>
          </a:xfrm>
          <a:prstGeom prst="ellipse">
            <a:avLst/>
          </a:prstGeom>
          <a:solidFill>
            <a:srgbClr val="8B1E1E">
              <a:alpha val="50000"/>
            </a:srgbClr>
          </a:solidFill>
          <a:ln/>
        </p:spPr>
      </p:sp>
      <p:sp>
        <p:nvSpPr>
          <p:cNvPr id="42" name="Shape 40"/>
          <p:cNvSpPr/>
          <p:nvPr/>
        </p:nvSpPr>
        <p:spPr>
          <a:xfrm>
            <a:off x="2529688" y="2834640"/>
            <a:ext cx="146304" cy="146304"/>
          </a:xfrm>
          <a:prstGeom prst="ellipse">
            <a:avLst/>
          </a:prstGeom>
          <a:solidFill>
            <a:srgbClr val="8B1E1E"/>
          </a:solidFill>
          <a:ln w="6350">
            <a:solidFill>
              <a:srgbClr val="2C1810"/>
            </a:solidFill>
            <a:prstDash val="solid"/>
          </a:ln>
        </p:spPr>
      </p:sp>
      <p:sp>
        <p:nvSpPr>
          <p:cNvPr id="43" name="Shape 41"/>
          <p:cNvSpPr/>
          <p:nvPr/>
        </p:nvSpPr>
        <p:spPr>
          <a:xfrm>
            <a:off x="1706728" y="3200400"/>
            <a:ext cx="365760" cy="365760"/>
          </a:xfrm>
          <a:prstGeom prst="ellipse">
            <a:avLst/>
          </a:prstGeom>
          <a:solidFill>
            <a:srgbClr val="8B1E1E">
              <a:alpha val="50000"/>
            </a:srgbClr>
          </a:solidFill>
          <a:ln/>
        </p:spPr>
      </p:sp>
      <p:sp>
        <p:nvSpPr>
          <p:cNvPr id="44" name="Shape 42"/>
          <p:cNvSpPr/>
          <p:nvPr/>
        </p:nvSpPr>
        <p:spPr>
          <a:xfrm>
            <a:off x="1798168" y="3291840"/>
            <a:ext cx="146304" cy="146304"/>
          </a:xfrm>
          <a:prstGeom prst="ellipse">
            <a:avLst/>
          </a:prstGeom>
          <a:solidFill>
            <a:srgbClr val="8B1E1E"/>
          </a:solidFill>
          <a:ln w="6350">
            <a:solidFill>
              <a:srgbClr val="2C1810"/>
            </a:solidFill>
            <a:prstDash val="solid"/>
          </a:ln>
        </p:spPr>
      </p:sp>
      <p:sp>
        <p:nvSpPr>
          <p:cNvPr id="45" name="Shape 43"/>
          <p:cNvSpPr/>
          <p:nvPr/>
        </p:nvSpPr>
        <p:spPr>
          <a:xfrm>
            <a:off x="3069184" y="2414016"/>
            <a:ext cx="128016" cy="128016"/>
          </a:xfrm>
          <a:prstGeom prst="ellipse">
            <a:avLst/>
          </a:prstGeom>
          <a:solidFill>
            <a:srgbClr val="BFBFBF"/>
          </a:solidFill>
          <a:ln w="6350">
            <a:solidFill>
              <a:srgbClr val="2C1810"/>
            </a:solidFill>
            <a:prstDash val="solid"/>
          </a:ln>
        </p:spPr>
      </p:sp>
      <p:sp>
        <p:nvSpPr>
          <p:cNvPr id="46" name="Shape 44"/>
          <p:cNvSpPr/>
          <p:nvPr/>
        </p:nvSpPr>
        <p:spPr>
          <a:xfrm>
            <a:off x="3169768" y="3108960"/>
            <a:ext cx="365760" cy="365760"/>
          </a:xfrm>
          <a:prstGeom prst="ellipse">
            <a:avLst/>
          </a:prstGeom>
          <a:solidFill>
            <a:srgbClr val="8B1E1E">
              <a:alpha val="50000"/>
            </a:srgbClr>
          </a:solidFill>
          <a:ln/>
        </p:spPr>
      </p:sp>
      <p:sp>
        <p:nvSpPr>
          <p:cNvPr id="47" name="Shape 45"/>
          <p:cNvSpPr/>
          <p:nvPr/>
        </p:nvSpPr>
        <p:spPr>
          <a:xfrm>
            <a:off x="3261208" y="3200400"/>
            <a:ext cx="146304" cy="146304"/>
          </a:xfrm>
          <a:prstGeom prst="ellipse">
            <a:avLst/>
          </a:prstGeom>
          <a:solidFill>
            <a:srgbClr val="8B1E1E"/>
          </a:solidFill>
          <a:ln w="6350">
            <a:solidFill>
              <a:srgbClr val="2C1810"/>
            </a:solidFill>
            <a:prstDash val="solid"/>
          </a:ln>
        </p:spPr>
      </p:sp>
      <p:sp>
        <p:nvSpPr>
          <p:cNvPr id="48" name="Shape 46"/>
          <p:cNvSpPr/>
          <p:nvPr/>
        </p:nvSpPr>
        <p:spPr>
          <a:xfrm>
            <a:off x="801472" y="3708806"/>
            <a:ext cx="164592" cy="164592"/>
          </a:xfrm>
          <a:prstGeom prst="ellipse">
            <a:avLst/>
          </a:prstGeom>
          <a:solidFill>
            <a:srgbClr val="8B1E1E"/>
          </a:solidFill>
          <a:ln w="9525">
            <a:solidFill>
              <a:srgbClr val="2C1810"/>
            </a:solidFill>
            <a:prstDash val="solid"/>
          </a:ln>
        </p:spPr>
      </p:sp>
      <p:sp>
        <p:nvSpPr>
          <p:cNvPr id="49" name="Shape 47"/>
          <p:cNvSpPr/>
          <p:nvPr/>
        </p:nvSpPr>
        <p:spPr>
          <a:xfrm>
            <a:off x="727405" y="3832250"/>
            <a:ext cx="312725" cy="181051"/>
          </a:xfrm>
          <a:prstGeom prst="roundRect">
            <a:avLst>
              <a:gd name="adj" fmla="val 50505"/>
            </a:avLst>
          </a:prstGeom>
          <a:solidFill>
            <a:srgbClr val="8B1E1E"/>
          </a:solidFill>
          <a:ln w="9525">
            <a:solidFill>
              <a:srgbClr val="2C1810"/>
            </a:solidFill>
            <a:prstDash val="solid"/>
          </a:ln>
        </p:spPr>
      </p:sp>
      <p:sp>
        <p:nvSpPr>
          <p:cNvPr id="50" name="Text 48"/>
          <p:cNvSpPr txBox="1"/>
          <p:nvPr/>
        </p:nvSpPr>
        <p:spPr>
          <a:xfrm>
            <a:off x="1158088" y="3749040"/>
            <a:ext cx="2011680" cy="182880"/>
          </a:xfrm>
          <a:prstGeom prst="rect">
            <a:avLst/>
          </a:prstGeom>
          <a:noFill/>
          <a:ln/>
        </p:spPr>
        <p:txBody>
          <a:bodyPr wrap="square" rtlCol="0" anchor="ctr"/>
          <a:lstStyle/>
          <a:p>
            <a:pPr indent="0" marL="0">
              <a:buNone/>
            </a:pPr>
            <a:r>
              <a:rPr lang="en-US" sz="800" b="1" dirty="0">
                <a:solidFill>
                  <a:srgbClr val="2C1810"/>
                </a:solidFill>
                <a:latin typeface="DM Sans" pitchFamily="34" charset="0"/>
                <a:ea typeface="DM Sans" pitchFamily="34" charset="-122"/>
                <a:cs typeface="DM Sans" pitchFamily="34" charset="-120"/>
              </a:rPr>
              <a:t>Uncle Lim narrates</a:t>
            </a:r>
            <a:endParaRPr lang="en-US" sz="800" dirty="0"/>
          </a:p>
        </p:txBody>
      </p:sp>
      <p:sp>
        <p:nvSpPr>
          <p:cNvPr id="51" name="Shape 49"/>
          <p:cNvSpPr/>
          <p:nvPr/>
        </p:nvSpPr>
        <p:spPr>
          <a:xfrm>
            <a:off x="3124048" y="3794760"/>
            <a:ext cx="0" cy="137160"/>
          </a:xfrm>
          <a:prstGeom prst="line">
            <a:avLst/>
          </a:prstGeom>
          <a:noFill/>
          <a:ln w="19050">
            <a:solidFill>
              <a:srgbClr val="8B1E1E"/>
            </a:solidFill>
            <a:prstDash val="solid"/>
          </a:ln>
        </p:spPr>
      </p:sp>
      <p:sp>
        <p:nvSpPr>
          <p:cNvPr id="52" name="Shape 50"/>
          <p:cNvSpPr/>
          <p:nvPr/>
        </p:nvSpPr>
        <p:spPr>
          <a:xfrm>
            <a:off x="3233776" y="3794760"/>
            <a:ext cx="0" cy="228600"/>
          </a:xfrm>
          <a:prstGeom prst="line">
            <a:avLst/>
          </a:prstGeom>
          <a:noFill/>
          <a:ln w="19050">
            <a:solidFill>
              <a:srgbClr val="8B1E1E"/>
            </a:solidFill>
            <a:prstDash val="solid"/>
          </a:ln>
        </p:spPr>
      </p:sp>
      <p:sp>
        <p:nvSpPr>
          <p:cNvPr id="53" name="Shape 51"/>
          <p:cNvSpPr/>
          <p:nvPr/>
        </p:nvSpPr>
        <p:spPr>
          <a:xfrm>
            <a:off x="3343504" y="3794760"/>
            <a:ext cx="0" cy="137160"/>
          </a:xfrm>
          <a:prstGeom prst="line">
            <a:avLst/>
          </a:prstGeom>
          <a:noFill/>
          <a:ln w="19050">
            <a:solidFill>
              <a:srgbClr val="8B1E1E"/>
            </a:solidFill>
            <a:prstDash val="solid"/>
          </a:ln>
        </p:spPr>
      </p:sp>
      <p:sp>
        <p:nvSpPr>
          <p:cNvPr id="54" name="Shape 52"/>
          <p:cNvSpPr/>
          <p:nvPr/>
        </p:nvSpPr>
        <p:spPr>
          <a:xfrm>
            <a:off x="3453232" y="3794760"/>
            <a:ext cx="0" cy="228600"/>
          </a:xfrm>
          <a:prstGeom prst="line">
            <a:avLst/>
          </a:prstGeom>
          <a:noFill/>
          <a:ln w="19050">
            <a:solidFill>
              <a:srgbClr val="8B1E1E"/>
            </a:solidFill>
            <a:prstDash val="solid"/>
          </a:ln>
        </p:spPr>
      </p:sp>
      <p:sp>
        <p:nvSpPr>
          <p:cNvPr id="55" name="Shape 53"/>
          <p:cNvSpPr/>
          <p:nvPr/>
        </p:nvSpPr>
        <p:spPr>
          <a:xfrm>
            <a:off x="4312768" y="1691640"/>
            <a:ext cx="3566160" cy="2560320"/>
          </a:xfrm>
          <a:prstGeom prst="roundRect">
            <a:avLst>
              <a:gd name="adj" fmla="val 2857"/>
            </a:avLst>
          </a:prstGeom>
          <a:solidFill>
            <a:srgbClr val="F4ECD8"/>
          </a:solidFill>
          <a:ln w="15875">
            <a:solidFill>
              <a:srgbClr val="8B1E1E"/>
            </a:solidFill>
            <a:prstDash val="solid"/>
          </a:ln>
        </p:spPr>
      </p:sp>
      <p:sp>
        <p:nvSpPr>
          <p:cNvPr id="56" name="Text 54"/>
          <p:cNvSpPr txBox="1"/>
          <p:nvPr/>
        </p:nvSpPr>
        <p:spPr>
          <a:xfrm>
            <a:off x="4312768" y="1783080"/>
            <a:ext cx="3566160" cy="274320"/>
          </a:xfrm>
          <a:prstGeom prst="rect">
            <a:avLst/>
          </a:prstGeom>
          <a:noFill/>
          <a:ln/>
        </p:spPr>
        <p:txBody>
          <a:bodyPr wrap="square" rtlCol="0" anchor="ctr"/>
          <a:lstStyle/>
          <a:p>
            <a:pPr algn="ctr" indent="0" marL="0">
              <a:buNone/>
            </a:pPr>
            <a:r>
              <a:rPr lang="en-US" sz="1200" b="1" spc="100" kern="0" dirty="0">
                <a:solidFill>
                  <a:srgbClr val="8B1E1E"/>
                </a:solidFill>
                <a:latin typeface="Fraunces" pitchFamily="34" charset="0"/>
                <a:ea typeface="Fraunces" pitchFamily="34" charset="-122"/>
                <a:cs typeface="Fraunces" pitchFamily="34" charset="-120"/>
              </a:rPr>
              <a:t>POKÉDEX COLLECTION</a:t>
            </a:r>
            <a:endParaRPr lang="en-US" sz="1200" dirty="0"/>
          </a:p>
        </p:txBody>
      </p:sp>
      <p:sp>
        <p:nvSpPr>
          <p:cNvPr id="57" name="Shape 55"/>
          <p:cNvSpPr/>
          <p:nvPr/>
        </p:nvSpPr>
        <p:spPr>
          <a:xfrm>
            <a:off x="4541368" y="2148840"/>
            <a:ext cx="914400" cy="777240"/>
          </a:xfrm>
          <a:prstGeom prst="roundRect">
            <a:avLst>
              <a:gd name="adj" fmla="val 5882"/>
            </a:avLst>
          </a:prstGeom>
          <a:solidFill>
            <a:srgbClr val="EFE6CC"/>
          </a:solidFill>
          <a:ln w="12700">
            <a:solidFill>
              <a:srgbClr val="D4A947"/>
            </a:solidFill>
            <a:prstDash val="solid"/>
          </a:ln>
        </p:spPr>
      </p:sp>
      <p:sp>
        <p:nvSpPr>
          <p:cNvPr id="58" name="Shape 56"/>
          <p:cNvSpPr/>
          <p:nvPr/>
        </p:nvSpPr>
        <p:spPr>
          <a:xfrm>
            <a:off x="4907128" y="2194560"/>
            <a:ext cx="182880" cy="164592"/>
          </a:xfrm>
          <a:prstGeom prst="ellipse">
            <a:avLst/>
          </a:prstGeom>
          <a:solidFill>
            <a:srgbClr val="D4A947"/>
          </a:solidFill>
          <a:ln w="6350">
            <a:solidFill>
              <a:srgbClr val="2C1810"/>
            </a:solidFill>
            <a:prstDash val="solid"/>
          </a:ln>
        </p:spPr>
      </p:sp>
      <p:sp>
        <p:nvSpPr>
          <p:cNvPr id="59" name="Shape 57"/>
          <p:cNvSpPr/>
          <p:nvPr/>
        </p:nvSpPr>
        <p:spPr>
          <a:xfrm>
            <a:off x="4833976" y="2548433"/>
            <a:ext cx="329184" cy="115214"/>
          </a:xfrm>
          <a:prstGeom prst="ellipse">
            <a:avLst/>
          </a:prstGeom>
          <a:solidFill>
            <a:srgbClr val="F4ECD8"/>
          </a:solidFill>
          <a:ln w="12700">
            <a:solidFill>
              <a:srgbClr val="2C1810"/>
            </a:solidFill>
            <a:prstDash val="solid"/>
          </a:ln>
        </p:spPr>
      </p:sp>
      <p:sp>
        <p:nvSpPr>
          <p:cNvPr id="60" name="Shape 58"/>
          <p:cNvSpPr/>
          <p:nvPr/>
        </p:nvSpPr>
        <p:spPr>
          <a:xfrm>
            <a:off x="4875124" y="2569830"/>
            <a:ext cx="246888" cy="74066"/>
          </a:xfrm>
          <a:prstGeom prst="ellipse">
            <a:avLst/>
          </a:prstGeom>
          <a:solidFill>
            <a:srgbClr val="D4A947"/>
          </a:solidFill>
          <a:ln w="6350">
            <a:solidFill>
              <a:srgbClr val="2C1810"/>
            </a:solidFill>
            <a:prstDash val="solid"/>
          </a:ln>
        </p:spPr>
      </p:sp>
      <p:sp>
        <p:nvSpPr>
          <p:cNvPr id="61" name="Shape 59"/>
          <p:cNvSpPr/>
          <p:nvPr/>
        </p:nvSpPr>
        <p:spPr>
          <a:xfrm>
            <a:off x="4908042" y="2573122"/>
            <a:ext cx="49378" cy="32918"/>
          </a:xfrm>
          <a:prstGeom prst="arc">
            <a:avLst>
              <a:gd name="adj1" fmla="val 0"/>
              <a:gd name="adj2" fmla="val 10800000"/>
            </a:avLst>
          </a:prstGeom>
          <a:ln w="9525">
            <a:solidFill>
              <a:srgbClr val="D4A947"/>
            </a:solidFill>
            <a:prstDash val="solid"/>
          </a:ln>
        </p:spPr>
      </p:sp>
      <p:sp>
        <p:nvSpPr>
          <p:cNvPr id="62" name="Shape 60"/>
          <p:cNvSpPr/>
          <p:nvPr/>
        </p:nvSpPr>
        <p:spPr>
          <a:xfrm>
            <a:off x="4965649" y="2573122"/>
            <a:ext cx="49378" cy="32918"/>
          </a:xfrm>
          <a:prstGeom prst="arc">
            <a:avLst>
              <a:gd name="adj1" fmla="val 0"/>
              <a:gd name="adj2" fmla="val 10800000"/>
            </a:avLst>
          </a:prstGeom>
          <a:ln w="9525">
            <a:solidFill>
              <a:srgbClr val="D4A947"/>
            </a:solidFill>
            <a:prstDash val="solid"/>
          </a:ln>
        </p:spPr>
      </p:sp>
      <p:sp>
        <p:nvSpPr>
          <p:cNvPr id="63" name="Shape 61"/>
          <p:cNvSpPr/>
          <p:nvPr/>
        </p:nvSpPr>
        <p:spPr>
          <a:xfrm>
            <a:off x="5023256" y="2573122"/>
            <a:ext cx="49378" cy="32918"/>
          </a:xfrm>
          <a:prstGeom prst="arc">
            <a:avLst>
              <a:gd name="adj1" fmla="val 0"/>
              <a:gd name="adj2" fmla="val 10800000"/>
            </a:avLst>
          </a:prstGeom>
          <a:ln w="9525">
            <a:solidFill>
              <a:srgbClr val="D4A947"/>
            </a:solidFill>
            <a:prstDash val="solid"/>
          </a:ln>
        </p:spPr>
      </p:sp>
      <p:sp>
        <p:nvSpPr>
          <p:cNvPr id="64" name="Shape 62"/>
          <p:cNvSpPr/>
          <p:nvPr/>
        </p:nvSpPr>
        <p:spPr>
          <a:xfrm>
            <a:off x="5318608" y="2194560"/>
            <a:ext cx="73152" cy="73152"/>
          </a:xfrm>
          <a:prstGeom prst="ellipse">
            <a:avLst/>
          </a:prstGeom>
          <a:solidFill>
            <a:srgbClr val="D4A947"/>
          </a:solidFill>
          <a:ln/>
        </p:spPr>
      </p:sp>
      <p:sp>
        <p:nvSpPr>
          <p:cNvPr id="65" name="Shape 63"/>
          <p:cNvSpPr/>
          <p:nvPr/>
        </p:nvSpPr>
        <p:spPr>
          <a:xfrm>
            <a:off x="5547208" y="2148840"/>
            <a:ext cx="914400" cy="777240"/>
          </a:xfrm>
          <a:prstGeom prst="roundRect">
            <a:avLst>
              <a:gd name="adj" fmla="val 5882"/>
            </a:avLst>
          </a:prstGeom>
          <a:solidFill>
            <a:srgbClr val="EFE6CC"/>
          </a:solidFill>
          <a:ln w="12700">
            <a:solidFill>
              <a:srgbClr val="CD7F32"/>
            </a:solidFill>
            <a:prstDash val="solid"/>
          </a:ln>
        </p:spPr>
      </p:sp>
      <p:sp>
        <p:nvSpPr>
          <p:cNvPr id="66" name="Shape 64"/>
          <p:cNvSpPr/>
          <p:nvPr/>
        </p:nvSpPr>
        <p:spPr>
          <a:xfrm>
            <a:off x="5912968" y="2194560"/>
            <a:ext cx="182880" cy="164592"/>
          </a:xfrm>
          <a:prstGeom prst="ellipse">
            <a:avLst/>
          </a:prstGeom>
          <a:solidFill>
            <a:srgbClr val="CD7F32"/>
          </a:solidFill>
          <a:ln w="6350">
            <a:solidFill>
              <a:srgbClr val="2C1810"/>
            </a:solidFill>
            <a:prstDash val="solid"/>
          </a:ln>
        </p:spPr>
      </p:sp>
      <p:sp>
        <p:nvSpPr>
          <p:cNvPr id="67" name="Shape 65"/>
          <p:cNvSpPr/>
          <p:nvPr/>
        </p:nvSpPr>
        <p:spPr>
          <a:xfrm>
            <a:off x="5839816" y="2548433"/>
            <a:ext cx="329184" cy="115214"/>
          </a:xfrm>
          <a:prstGeom prst="ellipse">
            <a:avLst/>
          </a:prstGeom>
          <a:solidFill>
            <a:srgbClr val="F4ECD8"/>
          </a:solidFill>
          <a:ln w="12700">
            <a:solidFill>
              <a:srgbClr val="2C1810"/>
            </a:solidFill>
            <a:prstDash val="solid"/>
          </a:ln>
        </p:spPr>
      </p:sp>
      <p:sp>
        <p:nvSpPr>
          <p:cNvPr id="68" name="Shape 66"/>
          <p:cNvSpPr/>
          <p:nvPr/>
        </p:nvSpPr>
        <p:spPr>
          <a:xfrm>
            <a:off x="5880964" y="2569830"/>
            <a:ext cx="246888" cy="74066"/>
          </a:xfrm>
          <a:prstGeom prst="ellipse">
            <a:avLst/>
          </a:prstGeom>
          <a:solidFill>
            <a:srgbClr val="CD7F32"/>
          </a:solidFill>
          <a:ln w="6350">
            <a:solidFill>
              <a:srgbClr val="2C1810"/>
            </a:solidFill>
            <a:prstDash val="solid"/>
          </a:ln>
        </p:spPr>
      </p:sp>
      <p:sp>
        <p:nvSpPr>
          <p:cNvPr id="69" name="Shape 67"/>
          <p:cNvSpPr/>
          <p:nvPr/>
        </p:nvSpPr>
        <p:spPr>
          <a:xfrm>
            <a:off x="5913882" y="2573122"/>
            <a:ext cx="49378" cy="32918"/>
          </a:xfrm>
          <a:prstGeom prst="arc">
            <a:avLst>
              <a:gd name="adj1" fmla="val 0"/>
              <a:gd name="adj2" fmla="val 10800000"/>
            </a:avLst>
          </a:prstGeom>
          <a:ln w="9525">
            <a:solidFill>
              <a:srgbClr val="D4A947"/>
            </a:solidFill>
            <a:prstDash val="solid"/>
          </a:ln>
        </p:spPr>
      </p:sp>
      <p:sp>
        <p:nvSpPr>
          <p:cNvPr id="70" name="Shape 68"/>
          <p:cNvSpPr/>
          <p:nvPr/>
        </p:nvSpPr>
        <p:spPr>
          <a:xfrm>
            <a:off x="5971489" y="2573122"/>
            <a:ext cx="49378" cy="32918"/>
          </a:xfrm>
          <a:prstGeom prst="arc">
            <a:avLst>
              <a:gd name="adj1" fmla="val 0"/>
              <a:gd name="adj2" fmla="val 10800000"/>
            </a:avLst>
          </a:prstGeom>
          <a:ln w="9525">
            <a:solidFill>
              <a:srgbClr val="D4A947"/>
            </a:solidFill>
            <a:prstDash val="solid"/>
          </a:ln>
        </p:spPr>
      </p:sp>
      <p:sp>
        <p:nvSpPr>
          <p:cNvPr id="71" name="Shape 69"/>
          <p:cNvSpPr/>
          <p:nvPr/>
        </p:nvSpPr>
        <p:spPr>
          <a:xfrm>
            <a:off x="6029096" y="2573122"/>
            <a:ext cx="49378" cy="32918"/>
          </a:xfrm>
          <a:prstGeom prst="arc">
            <a:avLst>
              <a:gd name="adj1" fmla="val 0"/>
              <a:gd name="adj2" fmla="val 10800000"/>
            </a:avLst>
          </a:prstGeom>
          <a:ln w="9525">
            <a:solidFill>
              <a:srgbClr val="D4A947"/>
            </a:solidFill>
            <a:prstDash val="solid"/>
          </a:ln>
        </p:spPr>
      </p:sp>
      <p:sp>
        <p:nvSpPr>
          <p:cNvPr id="72" name="Shape 70"/>
          <p:cNvSpPr/>
          <p:nvPr/>
        </p:nvSpPr>
        <p:spPr>
          <a:xfrm>
            <a:off x="6553048" y="2148840"/>
            <a:ext cx="914400" cy="777240"/>
          </a:xfrm>
          <a:prstGeom prst="roundRect">
            <a:avLst>
              <a:gd name="adj" fmla="val 5882"/>
            </a:avLst>
          </a:prstGeom>
          <a:solidFill>
            <a:srgbClr val="EFE6CC"/>
          </a:solidFill>
          <a:ln w="12700">
            <a:solidFill>
              <a:srgbClr val="4A7C59"/>
            </a:solidFill>
            <a:prstDash val="solid"/>
          </a:ln>
        </p:spPr>
      </p:sp>
      <p:sp>
        <p:nvSpPr>
          <p:cNvPr id="73" name="Shape 71"/>
          <p:cNvSpPr/>
          <p:nvPr/>
        </p:nvSpPr>
        <p:spPr>
          <a:xfrm>
            <a:off x="6918808" y="2194560"/>
            <a:ext cx="182880" cy="164592"/>
          </a:xfrm>
          <a:prstGeom prst="ellipse">
            <a:avLst/>
          </a:prstGeom>
          <a:solidFill>
            <a:srgbClr val="4A7C59"/>
          </a:solidFill>
          <a:ln w="6350">
            <a:solidFill>
              <a:srgbClr val="2C1810"/>
            </a:solidFill>
            <a:prstDash val="solid"/>
          </a:ln>
        </p:spPr>
      </p:sp>
      <p:sp>
        <p:nvSpPr>
          <p:cNvPr id="74" name="Shape 72"/>
          <p:cNvSpPr/>
          <p:nvPr/>
        </p:nvSpPr>
        <p:spPr>
          <a:xfrm>
            <a:off x="6845656" y="2548433"/>
            <a:ext cx="329184" cy="115214"/>
          </a:xfrm>
          <a:prstGeom prst="ellipse">
            <a:avLst/>
          </a:prstGeom>
          <a:solidFill>
            <a:srgbClr val="F4ECD8"/>
          </a:solidFill>
          <a:ln w="12700">
            <a:solidFill>
              <a:srgbClr val="2C1810"/>
            </a:solidFill>
            <a:prstDash val="solid"/>
          </a:ln>
        </p:spPr>
      </p:sp>
      <p:sp>
        <p:nvSpPr>
          <p:cNvPr id="75" name="Shape 73"/>
          <p:cNvSpPr/>
          <p:nvPr/>
        </p:nvSpPr>
        <p:spPr>
          <a:xfrm>
            <a:off x="6886804" y="2569830"/>
            <a:ext cx="246888" cy="74066"/>
          </a:xfrm>
          <a:prstGeom prst="ellipse">
            <a:avLst/>
          </a:prstGeom>
          <a:solidFill>
            <a:srgbClr val="4A7C59"/>
          </a:solidFill>
          <a:ln w="6350">
            <a:solidFill>
              <a:srgbClr val="2C1810"/>
            </a:solidFill>
            <a:prstDash val="solid"/>
          </a:ln>
        </p:spPr>
      </p:sp>
      <p:sp>
        <p:nvSpPr>
          <p:cNvPr id="76" name="Shape 74"/>
          <p:cNvSpPr/>
          <p:nvPr/>
        </p:nvSpPr>
        <p:spPr>
          <a:xfrm>
            <a:off x="6919722" y="2573122"/>
            <a:ext cx="49378" cy="32918"/>
          </a:xfrm>
          <a:prstGeom prst="arc">
            <a:avLst>
              <a:gd name="adj1" fmla="val 0"/>
              <a:gd name="adj2" fmla="val 10800000"/>
            </a:avLst>
          </a:prstGeom>
          <a:ln w="9525">
            <a:solidFill>
              <a:srgbClr val="D4A947"/>
            </a:solidFill>
            <a:prstDash val="solid"/>
          </a:ln>
        </p:spPr>
      </p:sp>
      <p:sp>
        <p:nvSpPr>
          <p:cNvPr id="77" name="Shape 75"/>
          <p:cNvSpPr/>
          <p:nvPr/>
        </p:nvSpPr>
        <p:spPr>
          <a:xfrm>
            <a:off x="6977329" y="2573122"/>
            <a:ext cx="49378" cy="32918"/>
          </a:xfrm>
          <a:prstGeom prst="arc">
            <a:avLst>
              <a:gd name="adj1" fmla="val 0"/>
              <a:gd name="adj2" fmla="val 10800000"/>
            </a:avLst>
          </a:prstGeom>
          <a:ln w="9525">
            <a:solidFill>
              <a:srgbClr val="D4A947"/>
            </a:solidFill>
            <a:prstDash val="solid"/>
          </a:ln>
        </p:spPr>
      </p:sp>
      <p:sp>
        <p:nvSpPr>
          <p:cNvPr id="78" name="Shape 76"/>
          <p:cNvSpPr/>
          <p:nvPr/>
        </p:nvSpPr>
        <p:spPr>
          <a:xfrm>
            <a:off x="7034936" y="2573122"/>
            <a:ext cx="49378" cy="32918"/>
          </a:xfrm>
          <a:prstGeom prst="arc">
            <a:avLst>
              <a:gd name="adj1" fmla="val 0"/>
              <a:gd name="adj2" fmla="val 10800000"/>
            </a:avLst>
          </a:prstGeom>
          <a:ln w="9525">
            <a:solidFill>
              <a:srgbClr val="D4A947"/>
            </a:solidFill>
            <a:prstDash val="solid"/>
          </a:ln>
        </p:spPr>
      </p:sp>
      <p:sp>
        <p:nvSpPr>
          <p:cNvPr id="79" name="Shape 77"/>
          <p:cNvSpPr/>
          <p:nvPr/>
        </p:nvSpPr>
        <p:spPr>
          <a:xfrm>
            <a:off x="4541368" y="3017520"/>
            <a:ext cx="914400" cy="777240"/>
          </a:xfrm>
          <a:prstGeom prst="roundRect">
            <a:avLst>
              <a:gd name="adj" fmla="val 5882"/>
            </a:avLst>
          </a:prstGeom>
          <a:solidFill>
            <a:srgbClr val="EFE6CC"/>
          </a:solidFill>
          <a:ln w="12700">
            <a:solidFill>
              <a:srgbClr val="AAB7C4"/>
            </a:solidFill>
            <a:prstDash val="solid"/>
          </a:ln>
        </p:spPr>
      </p:sp>
      <p:sp>
        <p:nvSpPr>
          <p:cNvPr id="80" name="Shape 78"/>
          <p:cNvSpPr/>
          <p:nvPr/>
        </p:nvSpPr>
        <p:spPr>
          <a:xfrm>
            <a:off x="4907128" y="3063240"/>
            <a:ext cx="182880" cy="164592"/>
          </a:xfrm>
          <a:prstGeom prst="ellipse">
            <a:avLst/>
          </a:prstGeom>
          <a:solidFill>
            <a:srgbClr val="AAB7C4"/>
          </a:solidFill>
          <a:ln w="6350">
            <a:solidFill>
              <a:srgbClr val="2C1810"/>
            </a:solidFill>
            <a:prstDash val="solid"/>
          </a:ln>
        </p:spPr>
      </p:sp>
      <p:sp>
        <p:nvSpPr>
          <p:cNvPr id="81" name="Shape 79"/>
          <p:cNvSpPr/>
          <p:nvPr/>
        </p:nvSpPr>
        <p:spPr>
          <a:xfrm>
            <a:off x="4833976" y="3417113"/>
            <a:ext cx="329184" cy="115214"/>
          </a:xfrm>
          <a:prstGeom prst="ellipse">
            <a:avLst/>
          </a:prstGeom>
          <a:solidFill>
            <a:srgbClr val="F4ECD8"/>
          </a:solidFill>
          <a:ln w="12700">
            <a:solidFill>
              <a:srgbClr val="2C1810"/>
            </a:solidFill>
            <a:prstDash val="solid"/>
          </a:ln>
        </p:spPr>
      </p:sp>
      <p:sp>
        <p:nvSpPr>
          <p:cNvPr id="82" name="Shape 80"/>
          <p:cNvSpPr/>
          <p:nvPr/>
        </p:nvSpPr>
        <p:spPr>
          <a:xfrm>
            <a:off x="4875124" y="3438510"/>
            <a:ext cx="246888" cy="74066"/>
          </a:xfrm>
          <a:prstGeom prst="ellipse">
            <a:avLst/>
          </a:prstGeom>
          <a:solidFill>
            <a:srgbClr val="AAB7C4"/>
          </a:solidFill>
          <a:ln w="6350">
            <a:solidFill>
              <a:srgbClr val="2C1810"/>
            </a:solidFill>
            <a:prstDash val="solid"/>
          </a:ln>
        </p:spPr>
      </p:sp>
      <p:sp>
        <p:nvSpPr>
          <p:cNvPr id="83" name="Shape 81"/>
          <p:cNvSpPr/>
          <p:nvPr/>
        </p:nvSpPr>
        <p:spPr>
          <a:xfrm>
            <a:off x="4908042" y="3441802"/>
            <a:ext cx="49378" cy="32918"/>
          </a:xfrm>
          <a:prstGeom prst="arc">
            <a:avLst>
              <a:gd name="adj1" fmla="val 0"/>
              <a:gd name="adj2" fmla="val 10800000"/>
            </a:avLst>
          </a:prstGeom>
          <a:ln w="9525">
            <a:solidFill>
              <a:srgbClr val="D4A947"/>
            </a:solidFill>
            <a:prstDash val="solid"/>
          </a:ln>
        </p:spPr>
      </p:sp>
      <p:sp>
        <p:nvSpPr>
          <p:cNvPr id="84" name="Shape 82"/>
          <p:cNvSpPr/>
          <p:nvPr/>
        </p:nvSpPr>
        <p:spPr>
          <a:xfrm>
            <a:off x="4965649" y="3441802"/>
            <a:ext cx="49378" cy="32918"/>
          </a:xfrm>
          <a:prstGeom prst="arc">
            <a:avLst>
              <a:gd name="adj1" fmla="val 0"/>
              <a:gd name="adj2" fmla="val 10800000"/>
            </a:avLst>
          </a:prstGeom>
          <a:ln w="9525">
            <a:solidFill>
              <a:srgbClr val="D4A947"/>
            </a:solidFill>
            <a:prstDash val="solid"/>
          </a:ln>
        </p:spPr>
      </p:sp>
      <p:sp>
        <p:nvSpPr>
          <p:cNvPr id="85" name="Shape 83"/>
          <p:cNvSpPr/>
          <p:nvPr/>
        </p:nvSpPr>
        <p:spPr>
          <a:xfrm>
            <a:off x="5023256" y="3441802"/>
            <a:ext cx="49378" cy="32918"/>
          </a:xfrm>
          <a:prstGeom prst="arc">
            <a:avLst>
              <a:gd name="adj1" fmla="val 0"/>
              <a:gd name="adj2" fmla="val 10800000"/>
            </a:avLst>
          </a:prstGeom>
          <a:ln w="9525">
            <a:solidFill>
              <a:srgbClr val="D4A947"/>
            </a:solidFill>
            <a:prstDash val="solid"/>
          </a:ln>
        </p:spPr>
      </p:sp>
      <p:sp>
        <p:nvSpPr>
          <p:cNvPr id="86" name="Shape 84"/>
          <p:cNvSpPr/>
          <p:nvPr/>
        </p:nvSpPr>
        <p:spPr>
          <a:xfrm>
            <a:off x="5547208" y="3017520"/>
            <a:ext cx="914400" cy="777240"/>
          </a:xfrm>
          <a:prstGeom prst="roundRect">
            <a:avLst>
              <a:gd name="adj" fmla="val 5882"/>
            </a:avLst>
          </a:prstGeom>
          <a:solidFill>
            <a:srgbClr val="EFE6CC"/>
          </a:solidFill>
          <a:ln w="12700">
            <a:solidFill>
              <a:srgbClr val="D4A947"/>
            </a:solidFill>
            <a:prstDash val="solid"/>
          </a:ln>
        </p:spPr>
      </p:sp>
      <p:sp>
        <p:nvSpPr>
          <p:cNvPr id="87" name="Shape 85"/>
          <p:cNvSpPr/>
          <p:nvPr/>
        </p:nvSpPr>
        <p:spPr>
          <a:xfrm>
            <a:off x="5912968" y="3063240"/>
            <a:ext cx="182880" cy="164592"/>
          </a:xfrm>
          <a:prstGeom prst="ellipse">
            <a:avLst/>
          </a:prstGeom>
          <a:solidFill>
            <a:srgbClr val="D4A947"/>
          </a:solidFill>
          <a:ln w="6350">
            <a:solidFill>
              <a:srgbClr val="2C1810"/>
            </a:solidFill>
            <a:prstDash val="solid"/>
          </a:ln>
        </p:spPr>
      </p:sp>
      <p:sp>
        <p:nvSpPr>
          <p:cNvPr id="88" name="Shape 86"/>
          <p:cNvSpPr/>
          <p:nvPr/>
        </p:nvSpPr>
        <p:spPr>
          <a:xfrm>
            <a:off x="5839816" y="3417113"/>
            <a:ext cx="329184" cy="115214"/>
          </a:xfrm>
          <a:prstGeom prst="ellipse">
            <a:avLst/>
          </a:prstGeom>
          <a:solidFill>
            <a:srgbClr val="F4ECD8"/>
          </a:solidFill>
          <a:ln w="12700">
            <a:solidFill>
              <a:srgbClr val="2C1810"/>
            </a:solidFill>
            <a:prstDash val="solid"/>
          </a:ln>
        </p:spPr>
      </p:sp>
      <p:sp>
        <p:nvSpPr>
          <p:cNvPr id="89" name="Shape 87"/>
          <p:cNvSpPr/>
          <p:nvPr/>
        </p:nvSpPr>
        <p:spPr>
          <a:xfrm>
            <a:off x="5880964" y="3438510"/>
            <a:ext cx="246888" cy="74066"/>
          </a:xfrm>
          <a:prstGeom prst="ellipse">
            <a:avLst/>
          </a:prstGeom>
          <a:solidFill>
            <a:srgbClr val="D4A947"/>
          </a:solidFill>
          <a:ln w="6350">
            <a:solidFill>
              <a:srgbClr val="2C1810"/>
            </a:solidFill>
            <a:prstDash val="solid"/>
          </a:ln>
        </p:spPr>
      </p:sp>
      <p:sp>
        <p:nvSpPr>
          <p:cNvPr id="90" name="Shape 88"/>
          <p:cNvSpPr/>
          <p:nvPr/>
        </p:nvSpPr>
        <p:spPr>
          <a:xfrm>
            <a:off x="5913882" y="3441802"/>
            <a:ext cx="49378" cy="32918"/>
          </a:xfrm>
          <a:prstGeom prst="arc">
            <a:avLst>
              <a:gd name="adj1" fmla="val 0"/>
              <a:gd name="adj2" fmla="val 10800000"/>
            </a:avLst>
          </a:prstGeom>
          <a:ln w="9525">
            <a:solidFill>
              <a:srgbClr val="D4A947"/>
            </a:solidFill>
            <a:prstDash val="solid"/>
          </a:ln>
        </p:spPr>
      </p:sp>
      <p:sp>
        <p:nvSpPr>
          <p:cNvPr id="91" name="Shape 89"/>
          <p:cNvSpPr/>
          <p:nvPr/>
        </p:nvSpPr>
        <p:spPr>
          <a:xfrm>
            <a:off x="5971489" y="3441802"/>
            <a:ext cx="49378" cy="32918"/>
          </a:xfrm>
          <a:prstGeom prst="arc">
            <a:avLst>
              <a:gd name="adj1" fmla="val 0"/>
              <a:gd name="adj2" fmla="val 10800000"/>
            </a:avLst>
          </a:prstGeom>
          <a:ln w="9525">
            <a:solidFill>
              <a:srgbClr val="D4A947"/>
            </a:solidFill>
            <a:prstDash val="solid"/>
          </a:ln>
        </p:spPr>
      </p:sp>
      <p:sp>
        <p:nvSpPr>
          <p:cNvPr id="92" name="Shape 90"/>
          <p:cNvSpPr/>
          <p:nvPr/>
        </p:nvSpPr>
        <p:spPr>
          <a:xfrm>
            <a:off x="6029096" y="3441802"/>
            <a:ext cx="49378" cy="32918"/>
          </a:xfrm>
          <a:prstGeom prst="arc">
            <a:avLst>
              <a:gd name="adj1" fmla="val 0"/>
              <a:gd name="adj2" fmla="val 10800000"/>
            </a:avLst>
          </a:prstGeom>
          <a:ln w="9525">
            <a:solidFill>
              <a:srgbClr val="D4A947"/>
            </a:solidFill>
            <a:prstDash val="solid"/>
          </a:ln>
        </p:spPr>
      </p:sp>
      <p:sp>
        <p:nvSpPr>
          <p:cNvPr id="93" name="Shape 91"/>
          <p:cNvSpPr/>
          <p:nvPr/>
        </p:nvSpPr>
        <p:spPr>
          <a:xfrm>
            <a:off x="6324448" y="3063240"/>
            <a:ext cx="73152" cy="73152"/>
          </a:xfrm>
          <a:prstGeom prst="ellipse">
            <a:avLst/>
          </a:prstGeom>
          <a:solidFill>
            <a:srgbClr val="D4A947"/>
          </a:solidFill>
          <a:ln/>
        </p:spPr>
      </p:sp>
      <p:sp>
        <p:nvSpPr>
          <p:cNvPr id="94" name="Shape 92"/>
          <p:cNvSpPr/>
          <p:nvPr/>
        </p:nvSpPr>
        <p:spPr>
          <a:xfrm>
            <a:off x="6553048" y="3017520"/>
            <a:ext cx="914400" cy="777240"/>
          </a:xfrm>
          <a:prstGeom prst="roundRect">
            <a:avLst>
              <a:gd name="adj" fmla="val 5882"/>
            </a:avLst>
          </a:prstGeom>
          <a:solidFill>
            <a:srgbClr val="EFE6CC"/>
          </a:solidFill>
          <a:ln w="12700">
            <a:solidFill>
              <a:srgbClr val="CD7F32"/>
            </a:solidFill>
            <a:prstDash val="solid"/>
          </a:ln>
        </p:spPr>
      </p:sp>
      <p:sp>
        <p:nvSpPr>
          <p:cNvPr id="95" name="Shape 93"/>
          <p:cNvSpPr/>
          <p:nvPr/>
        </p:nvSpPr>
        <p:spPr>
          <a:xfrm>
            <a:off x="6918808" y="3063240"/>
            <a:ext cx="182880" cy="164592"/>
          </a:xfrm>
          <a:prstGeom prst="ellipse">
            <a:avLst/>
          </a:prstGeom>
          <a:solidFill>
            <a:srgbClr val="CD7F32"/>
          </a:solidFill>
          <a:ln w="6350">
            <a:solidFill>
              <a:srgbClr val="2C1810"/>
            </a:solidFill>
            <a:prstDash val="solid"/>
          </a:ln>
        </p:spPr>
      </p:sp>
      <p:sp>
        <p:nvSpPr>
          <p:cNvPr id="96" name="Shape 94"/>
          <p:cNvSpPr/>
          <p:nvPr/>
        </p:nvSpPr>
        <p:spPr>
          <a:xfrm>
            <a:off x="6845656" y="3417113"/>
            <a:ext cx="329184" cy="115214"/>
          </a:xfrm>
          <a:prstGeom prst="ellipse">
            <a:avLst/>
          </a:prstGeom>
          <a:solidFill>
            <a:srgbClr val="F4ECD8"/>
          </a:solidFill>
          <a:ln w="12700">
            <a:solidFill>
              <a:srgbClr val="2C1810"/>
            </a:solidFill>
            <a:prstDash val="solid"/>
          </a:ln>
        </p:spPr>
      </p:sp>
      <p:sp>
        <p:nvSpPr>
          <p:cNvPr id="97" name="Shape 95"/>
          <p:cNvSpPr/>
          <p:nvPr/>
        </p:nvSpPr>
        <p:spPr>
          <a:xfrm>
            <a:off x="6886804" y="3438510"/>
            <a:ext cx="246888" cy="74066"/>
          </a:xfrm>
          <a:prstGeom prst="ellipse">
            <a:avLst/>
          </a:prstGeom>
          <a:solidFill>
            <a:srgbClr val="CD7F32"/>
          </a:solidFill>
          <a:ln w="6350">
            <a:solidFill>
              <a:srgbClr val="2C1810"/>
            </a:solidFill>
            <a:prstDash val="solid"/>
          </a:ln>
        </p:spPr>
      </p:sp>
      <p:sp>
        <p:nvSpPr>
          <p:cNvPr id="98" name="Shape 96"/>
          <p:cNvSpPr/>
          <p:nvPr/>
        </p:nvSpPr>
        <p:spPr>
          <a:xfrm>
            <a:off x="6919722" y="3441802"/>
            <a:ext cx="49378" cy="32918"/>
          </a:xfrm>
          <a:prstGeom prst="arc">
            <a:avLst>
              <a:gd name="adj1" fmla="val 0"/>
              <a:gd name="adj2" fmla="val 10800000"/>
            </a:avLst>
          </a:prstGeom>
          <a:ln w="9525">
            <a:solidFill>
              <a:srgbClr val="D4A947"/>
            </a:solidFill>
            <a:prstDash val="solid"/>
          </a:ln>
        </p:spPr>
      </p:sp>
      <p:sp>
        <p:nvSpPr>
          <p:cNvPr id="99" name="Shape 97"/>
          <p:cNvSpPr/>
          <p:nvPr/>
        </p:nvSpPr>
        <p:spPr>
          <a:xfrm>
            <a:off x="6977329" y="3441802"/>
            <a:ext cx="49378" cy="32918"/>
          </a:xfrm>
          <a:prstGeom prst="arc">
            <a:avLst>
              <a:gd name="adj1" fmla="val 0"/>
              <a:gd name="adj2" fmla="val 10800000"/>
            </a:avLst>
          </a:prstGeom>
          <a:ln w="9525">
            <a:solidFill>
              <a:srgbClr val="D4A947"/>
            </a:solidFill>
            <a:prstDash val="solid"/>
          </a:ln>
        </p:spPr>
      </p:sp>
      <p:sp>
        <p:nvSpPr>
          <p:cNvPr id="100" name="Shape 98"/>
          <p:cNvSpPr/>
          <p:nvPr/>
        </p:nvSpPr>
        <p:spPr>
          <a:xfrm>
            <a:off x="7034936" y="3441802"/>
            <a:ext cx="49378" cy="32918"/>
          </a:xfrm>
          <a:prstGeom prst="arc">
            <a:avLst>
              <a:gd name="adj1" fmla="val 0"/>
              <a:gd name="adj2" fmla="val 10800000"/>
            </a:avLst>
          </a:prstGeom>
          <a:ln w="9525">
            <a:solidFill>
              <a:srgbClr val="D4A947"/>
            </a:solidFill>
            <a:prstDash val="solid"/>
          </a:ln>
        </p:spPr>
      </p:sp>
      <p:sp>
        <p:nvSpPr>
          <p:cNvPr id="101" name="Shape 99"/>
          <p:cNvSpPr/>
          <p:nvPr/>
        </p:nvSpPr>
        <p:spPr>
          <a:xfrm>
            <a:off x="8153248" y="1691640"/>
            <a:ext cx="3566160" cy="2560320"/>
          </a:xfrm>
          <a:prstGeom prst="roundRect">
            <a:avLst>
              <a:gd name="adj" fmla="val 2857"/>
            </a:avLst>
          </a:prstGeom>
          <a:solidFill>
            <a:srgbClr val="F4ECD8"/>
          </a:solidFill>
          <a:ln w="15875">
            <a:solidFill>
              <a:srgbClr val="B8902F"/>
            </a:solidFill>
            <a:prstDash val="solid"/>
          </a:ln>
        </p:spPr>
      </p:sp>
      <p:sp>
        <p:nvSpPr>
          <p:cNvPr id="102" name="Text 100"/>
          <p:cNvSpPr txBox="1"/>
          <p:nvPr/>
        </p:nvSpPr>
        <p:spPr>
          <a:xfrm>
            <a:off x="8153248" y="1783080"/>
            <a:ext cx="3566160" cy="274320"/>
          </a:xfrm>
          <a:prstGeom prst="rect">
            <a:avLst/>
          </a:prstGeom>
          <a:noFill/>
          <a:ln/>
        </p:spPr>
        <p:txBody>
          <a:bodyPr wrap="square" rtlCol="0" anchor="ctr"/>
          <a:lstStyle/>
          <a:p>
            <a:pPr algn="ctr" indent="0" marL="0">
              <a:buNone/>
            </a:pPr>
            <a:r>
              <a:rPr lang="en-US" sz="1200" b="1" spc="100" kern="0" dirty="0">
                <a:solidFill>
                  <a:srgbClr val="B8902F"/>
                </a:solidFill>
                <a:latin typeface="Fraunces" pitchFamily="34" charset="0"/>
                <a:ea typeface="Fraunces" pitchFamily="34" charset="-122"/>
                <a:cs typeface="Fraunces" pitchFamily="34" charset="-120"/>
              </a:rPr>
              <a:t>HERITAGE BLUEPRINT</a:t>
            </a:r>
            <a:endParaRPr lang="en-US" sz="1200" dirty="0"/>
          </a:p>
        </p:txBody>
      </p:sp>
      <p:sp>
        <p:nvSpPr>
          <p:cNvPr id="103" name="Shape 101"/>
          <p:cNvSpPr/>
          <p:nvPr/>
        </p:nvSpPr>
        <p:spPr>
          <a:xfrm>
            <a:off x="9570568" y="2788920"/>
            <a:ext cx="731520" cy="548640"/>
          </a:xfrm>
          <a:prstGeom prst="ellipse">
            <a:avLst/>
          </a:prstGeom>
          <a:solidFill>
            <a:srgbClr val="D4A947">
              <a:alpha val="70000"/>
            </a:srgbClr>
          </a:solidFill>
          <a:ln w="19050">
            <a:solidFill>
              <a:srgbClr val="8B1E1E"/>
            </a:solidFill>
            <a:prstDash val="solid"/>
          </a:ln>
        </p:spPr>
      </p:sp>
      <p:sp>
        <p:nvSpPr>
          <p:cNvPr id="104" name="Shape 102"/>
          <p:cNvSpPr/>
          <p:nvPr/>
        </p:nvSpPr>
        <p:spPr>
          <a:xfrm>
            <a:off x="9707728" y="2983230"/>
            <a:ext cx="457200" cy="160020"/>
          </a:xfrm>
          <a:prstGeom prst="ellipse">
            <a:avLst/>
          </a:prstGeom>
          <a:solidFill>
            <a:srgbClr val="F4ECD8"/>
          </a:solidFill>
          <a:ln w="12700">
            <a:solidFill>
              <a:srgbClr val="2C1810"/>
            </a:solidFill>
            <a:prstDash val="solid"/>
          </a:ln>
        </p:spPr>
      </p:sp>
      <p:sp>
        <p:nvSpPr>
          <p:cNvPr id="105" name="Shape 103"/>
          <p:cNvSpPr/>
          <p:nvPr/>
        </p:nvSpPr>
        <p:spPr>
          <a:xfrm>
            <a:off x="9764878" y="3012948"/>
            <a:ext cx="342900" cy="102870"/>
          </a:xfrm>
          <a:prstGeom prst="ellipse">
            <a:avLst/>
          </a:prstGeom>
          <a:solidFill>
            <a:srgbClr val="C4553A"/>
          </a:solidFill>
          <a:ln w="6350">
            <a:solidFill>
              <a:srgbClr val="2C1810"/>
            </a:solidFill>
            <a:prstDash val="solid"/>
          </a:ln>
        </p:spPr>
      </p:sp>
      <p:sp>
        <p:nvSpPr>
          <p:cNvPr id="106" name="Shape 104"/>
          <p:cNvSpPr/>
          <p:nvPr/>
        </p:nvSpPr>
        <p:spPr>
          <a:xfrm>
            <a:off x="9810598" y="3017520"/>
            <a:ext cx="68580" cy="45720"/>
          </a:xfrm>
          <a:prstGeom prst="arc">
            <a:avLst>
              <a:gd name="adj1" fmla="val 0"/>
              <a:gd name="adj2" fmla="val 10800000"/>
            </a:avLst>
          </a:prstGeom>
          <a:ln w="9525">
            <a:solidFill>
              <a:srgbClr val="D4A947"/>
            </a:solidFill>
            <a:prstDash val="solid"/>
          </a:ln>
        </p:spPr>
      </p:sp>
      <p:sp>
        <p:nvSpPr>
          <p:cNvPr id="107" name="Shape 105"/>
          <p:cNvSpPr/>
          <p:nvPr/>
        </p:nvSpPr>
        <p:spPr>
          <a:xfrm>
            <a:off x="9890608" y="3017520"/>
            <a:ext cx="68580" cy="45720"/>
          </a:xfrm>
          <a:prstGeom prst="arc">
            <a:avLst>
              <a:gd name="adj1" fmla="val 0"/>
              <a:gd name="adj2" fmla="val 10800000"/>
            </a:avLst>
          </a:prstGeom>
          <a:ln w="9525">
            <a:solidFill>
              <a:srgbClr val="D4A947"/>
            </a:solidFill>
            <a:prstDash val="solid"/>
          </a:ln>
        </p:spPr>
      </p:sp>
      <p:sp>
        <p:nvSpPr>
          <p:cNvPr id="108" name="Shape 106"/>
          <p:cNvSpPr/>
          <p:nvPr/>
        </p:nvSpPr>
        <p:spPr>
          <a:xfrm>
            <a:off x="9970618" y="3017520"/>
            <a:ext cx="68580" cy="45720"/>
          </a:xfrm>
          <a:prstGeom prst="arc">
            <a:avLst>
              <a:gd name="adj1" fmla="val 0"/>
              <a:gd name="adj2" fmla="val 10800000"/>
            </a:avLst>
          </a:prstGeom>
          <a:ln w="9525">
            <a:solidFill>
              <a:srgbClr val="D4A947"/>
            </a:solidFill>
            <a:prstDash val="solid"/>
          </a:ln>
        </p:spPr>
      </p:sp>
      <p:sp>
        <p:nvSpPr>
          <p:cNvPr id="109" name="Shape 107"/>
          <p:cNvSpPr/>
          <p:nvPr/>
        </p:nvSpPr>
        <p:spPr>
          <a:xfrm>
            <a:off x="9936328" y="3063240"/>
            <a:ext cx="0" cy="-704088"/>
          </a:xfrm>
          <a:prstGeom prst="line">
            <a:avLst/>
          </a:prstGeom>
          <a:noFill/>
          <a:ln w="9525">
            <a:solidFill>
              <a:srgbClr val="C4A882"/>
            </a:solidFill>
            <a:prstDash val="sysDot"/>
          </a:ln>
        </p:spPr>
      </p:sp>
      <p:sp>
        <p:nvSpPr>
          <p:cNvPr id="110" name="Shape 108"/>
          <p:cNvSpPr/>
          <p:nvPr/>
        </p:nvSpPr>
        <p:spPr>
          <a:xfrm>
            <a:off x="9771736" y="2249424"/>
            <a:ext cx="329184" cy="219456"/>
          </a:xfrm>
          <a:prstGeom prst="ellipse">
            <a:avLst/>
          </a:prstGeom>
          <a:solidFill>
            <a:srgbClr val="D6E2D4"/>
          </a:solidFill>
          <a:ln w="9525">
            <a:solidFill>
              <a:srgbClr val="2F5D3A"/>
            </a:solidFill>
            <a:prstDash val="solid"/>
          </a:ln>
        </p:spPr>
      </p:sp>
      <p:sp>
        <p:nvSpPr>
          <p:cNvPr id="111" name="Text 109"/>
          <p:cNvSpPr txBox="1"/>
          <p:nvPr/>
        </p:nvSpPr>
        <p:spPr>
          <a:xfrm>
            <a:off x="9771736" y="2249424"/>
            <a:ext cx="329184" cy="219456"/>
          </a:xfrm>
          <a:prstGeom prst="rect">
            <a:avLst/>
          </a:prstGeom>
          <a:noFill/>
          <a:ln/>
        </p:spPr>
        <p:txBody>
          <a:bodyPr wrap="square" rtlCol="0" anchor="ctr"/>
          <a:lstStyle/>
          <a:p>
            <a:pPr algn="ctr" indent="0" marL="0">
              <a:buNone/>
            </a:pPr>
            <a:r>
              <a:rPr lang="en-US" sz="500" dirty="0">
                <a:solidFill>
                  <a:srgbClr val="2C1810"/>
                </a:solidFill>
                <a:latin typeface="DM Sans" pitchFamily="34" charset="0"/>
                <a:ea typeface="DM Sans" pitchFamily="34" charset="-122"/>
                <a:cs typeface="DM Sans" pitchFamily="34" charset="-120"/>
              </a:rPr>
              <a:t>rice</a:t>
            </a:r>
            <a:endParaRPr lang="en-US" sz="500" dirty="0"/>
          </a:p>
        </p:txBody>
      </p:sp>
      <p:sp>
        <p:nvSpPr>
          <p:cNvPr id="112" name="Shape 110"/>
          <p:cNvSpPr/>
          <p:nvPr/>
        </p:nvSpPr>
        <p:spPr>
          <a:xfrm>
            <a:off x="9936328" y="3063240"/>
            <a:ext cx="871083" cy="-352044"/>
          </a:xfrm>
          <a:prstGeom prst="line">
            <a:avLst/>
          </a:prstGeom>
          <a:noFill/>
          <a:ln w="9525">
            <a:solidFill>
              <a:srgbClr val="C4A882"/>
            </a:solidFill>
            <a:prstDash val="sysDot"/>
          </a:ln>
        </p:spPr>
      </p:sp>
      <p:sp>
        <p:nvSpPr>
          <p:cNvPr id="113" name="Shape 111"/>
          <p:cNvSpPr/>
          <p:nvPr/>
        </p:nvSpPr>
        <p:spPr>
          <a:xfrm>
            <a:off x="10642819" y="2601468"/>
            <a:ext cx="329184" cy="219456"/>
          </a:xfrm>
          <a:prstGeom prst="ellipse">
            <a:avLst/>
          </a:prstGeom>
          <a:solidFill>
            <a:srgbClr val="D6E2D4"/>
          </a:solidFill>
          <a:ln w="9525">
            <a:solidFill>
              <a:srgbClr val="2F5D3A"/>
            </a:solidFill>
            <a:prstDash val="solid"/>
          </a:ln>
        </p:spPr>
      </p:sp>
      <p:sp>
        <p:nvSpPr>
          <p:cNvPr id="114" name="Text 112"/>
          <p:cNvSpPr txBox="1"/>
          <p:nvPr/>
        </p:nvSpPr>
        <p:spPr>
          <a:xfrm>
            <a:off x="10642819" y="2601468"/>
            <a:ext cx="329184" cy="219456"/>
          </a:xfrm>
          <a:prstGeom prst="rect">
            <a:avLst/>
          </a:prstGeom>
          <a:noFill/>
          <a:ln/>
        </p:spPr>
        <p:txBody>
          <a:bodyPr wrap="square" rtlCol="0" anchor="ctr"/>
          <a:lstStyle/>
          <a:p>
            <a:pPr algn="ctr" indent="0" marL="0">
              <a:buNone/>
            </a:pPr>
            <a:r>
              <a:rPr lang="en-US" sz="500" dirty="0">
                <a:solidFill>
                  <a:srgbClr val="2C1810"/>
                </a:solidFill>
                <a:latin typeface="DM Sans" pitchFamily="34" charset="0"/>
                <a:ea typeface="DM Sans" pitchFamily="34" charset="-122"/>
                <a:cs typeface="DM Sans" pitchFamily="34" charset="-120"/>
              </a:rPr>
              <a:t>coconut</a:t>
            </a:r>
            <a:endParaRPr lang="en-US" sz="500" dirty="0"/>
          </a:p>
        </p:txBody>
      </p:sp>
      <p:sp>
        <p:nvSpPr>
          <p:cNvPr id="115" name="Shape 113"/>
          <p:cNvSpPr/>
          <p:nvPr/>
        </p:nvSpPr>
        <p:spPr>
          <a:xfrm>
            <a:off x="9936328" y="3063240"/>
            <a:ext cx="871083" cy="352044"/>
          </a:xfrm>
          <a:prstGeom prst="line">
            <a:avLst/>
          </a:prstGeom>
          <a:noFill/>
          <a:ln w="9525">
            <a:solidFill>
              <a:srgbClr val="C4A882"/>
            </a:solidFill>
            <a:prstDash val="sysDot"/>
          </a:ln>
        </p:spPr>
      </p:sp>
      <p:sp>
        <p:nvSpPr>
          <p:cNvPr id="116" name="Shape 114"/>
          <p:cNvSpPr/>
          <p:nvPr/>
        </p:nvSpPr>
        <p:spPr>
          <a:xfrm>
            <a:off x="10642819" y="3305556"/>
            <a:ext cx="329184" cy="219456"/>
          </a:xfrm>
          <a:prstGeom prst="ellipse">
            <a:avLst/>
          </a:prstGeom>
          <a:solidFill>
            <a:srgbClr val="D6E2D4"/>
          </a:solidFill>
          <a:ln w="9525">
            <a:solidFill>
              <a:srgbClr val="2F5D3A"/>
            </a:solidFill>
            <a:prstDash val="solid"/>
          </a:ln>
        </p:spPr>
      </p:sp>
      <p:sp>
        <p:nvSpPr>
          <p:cNvPr id="117" name="Text 115"/>
          <p:cNvSpPr txBox="1"/>
          <p:nvPr/>
        </p:nvSpPr>
        <p:spPr>
          <a:xfrm>
            <a:off x="10642819" y="3305556"/>
            <a:ext cx="329184" cy="219456"/>
          </a:xfrm>
          <a:prstGeom prst="rect">
            <a:avLst/>
          </a:prstGeom>
          <a:noFill/>
          <a:ln/>
        </p:spPr>
        <p:txBody>
          <a:bodyPr wrap="square" rtlCol="0" anchor="ctr"/>
          <a:lstStyle/>
          <a:p>
            <a:pPr algn="ctr" indent="0" marL="0">
              <a:buNone/>
            </a:pPr>
            <a:r>
              <a:rPr lang="en-US" sz="500" dirty="0">
                <a:solidFill>
                  <a:srgbClr val="2C1810"/>
                </a:solidFill>
                <a:latin typeface="DM Sans" pitchFamily="34" charset="0"/>
                <a:ea typeface="DM Sans" pitchFamily="34" charset="-122"/>
                <a:cs typeface="DM Sans" pitchFamily="34" charset="-120"/>
              </a:rPr>
              <a:t>anchovy</a:t>
            </a:r>
            <a:endParaRPr lang="en-US" sz="500" dirty="0"/>
          </a:p>
        </p:txBody>
      </p:sp>
      <p:sp>
        <p:nvSpPr>
          <p:cNvPr id="118" name="Shape 116"/>
          <p:cNvSpPr/>
          <p:nvPr/>
        </p:nvSpPr>
        <p:spPr>
          <a:xfrm>
            <a:off x="9936328" y="3063240"/>
            <a:ext cx="0" cy="704088"/>
          </a:xfrm>
          <a:prstGeom prst="line">
            <a:avLst/>
          </a:prstGeom>
          <a:noFill/>
          <a:ln w="9525">
            <a:solidFill>
              <a:srgbClr val="C4A882"/>
            </a:solidFill>
            <a:prstDash val="sysDot"/>
          </a:ln>
        </p:spPr>
      </p:sp>
      <p:sp>
        <p:nvSpPr>
          <p:cNvPr id="119" name="Shape 117"/>
          <p:cNvSpPr/>
          <p:nvPr/>
        </p:nvSpPr>
        <p:spPr>
          <a:xfrm>
            <a:off x="9771736" y="3657600"/>
            <a:ext cx="329184" cy="219456"/>
          </a:xfrm>
          <a:prstGeom prst="ellipse">
            <a:avLst/>
          </a:prstGeom>
          <a:solidFill>
            <a:srgbClr val="D6E2D4"/>
          </a:solidFill>
          <a:ln w="9525">
            <a:solidFill>
              <a:srgbClr val="2F5D3A"/>
            </a:solidFill>
            <a:prstDash val="solid"/>
          </a:ln>
        </p:spPr>
      </p:sp>
      <p:sp>
        <p:nvSpPr>
          <p:cNvPr id="120" name="Text 118"/>
          <p:cNvSpPr txBox="1"/>
          <p:nvPr/>
        </p:nvSpPr>
        <p:spPr>
          <a:xfrm>
            <a:off x="9771736" y="3657600"/>
            <a:ext cx="329184" cy="219456"/>
          </a:xfrm>
          <a:prstGeom prst="rect">
            <a:avLst/>
          </a:prstGeom>
          <a:noFill/>
          <a:ln/>
        </p:spPr>
        <p:txBody>
          <a:bodyPr wrap="square" rtlCol="0" anchor="ctr"/>
          <a:lstStyle/>
          <a:p>
            <a:pPr algn="ctr" indent="0" marL="0">
              <a:buNone/>
            </a:pPr>
            <a:r>
              <a:rPr lang="en-US" sz="500" dirty="0">
                <a:solidFill>
                  <a:srgbClr val="2C1810"/>
                </a:solidFill>
                <a:latin typeface="DM Sans" pitchFamily="34" charset="0"/>
                <a:ea typeface="DM Sans" pitchFamily="34" charset="-122"/>
                <a:cs typeface="DM Sans" pitchFamily="34" charset="-120"/>
              </a:rPr>
              <a:t>peanut</a:t>
            </a:r>
            <a:endParaRPr lang="en-US" sz="500" dirty="0"/>
          </a:p>
        </p:txBody>
      </p:sp>
      <p:sp>
        <p:nvSpPr>
          <p:cNvPr id="121" name="Shape 119"/>
          <p:cNvSpPr/>
          <p:nvPr/>
        </p:nvSpPr>
        <p:spPr>
          <a:xfrm>
            <a:off x="9936328" y="3063240"/>
            <a:ext cx="-871083" cy="352044"/>
          </a:xfrm>
          <a:prstGeom prst="line">
            <a:avLst/>
          </a:prstGeom>
          <a:noFill/>
          <a:ln w="9525">
            <a:solidFill>
              <a:srgbClr val="C4A882"/>
            </a:solidFill>
            <a:prstDash val="sysDot"/>
          </a:ln>
        </p:spPr>
      </p:sp>
      <p:sp>
        <p:nvSpPr>
          <p:cNvPr id="122" name="Shape 120"/>
          <p:cNvSpPr/>
          <p:nvPr/>
        </p:nvSpPr>
        <p:spPr>
          <a:xfrm>
            <a:off x="8900653" y="3305556"/>
            <a:ext cx="329184" cy="219456"/>
          </a:xfrm>
          <a:prstGeom prst="ellipse">
            <a:avLst/>
          </a:prstGeom>
          <a:solidFill>
            <a:srgbClr val="D6E2D4"/>
          </a:solidFill>
          <a:ln w="9525">
            <a:solidFill>
              <a:srgbClr val="2F5D3A"/>
            </a:solidFill>
            <a:prstDash val="solid"/>
          </a:ln>
        </p:spPr>
      </p:sp>
      <p:sp>
        <p:nvSpPr>
          <p:cNvPr id="123" name="Text 121"/>
          <p:cNvSpPr txBox="1"/>
          <p:nvPr/>
        </p:nvSpPr>
        <p:spPr>
          <a:xfrm>
            <a:off x="8900653" y="3305556"/>
            <a:ext cx="329184" cy="219456"/>
          </a:xfrm>
          <a:prstGeom prst="rect">
            <a:avLst/>
          </a:prstGeom>
          <a:noFill/>
          <a:ln/>
        </p:spPr>
        <p:txBody>
          <a:bodyPr wrap="square" rtlCol="0" anchor="ctr"/>
          <a:lstStyle/>
          <a:p>
            <a:pPr algn="ctr" indent="0" marL="0">
              <a:buNone/>
            </a:pPr>
            <a:r>
              <a:rPr lang="en-US" sz="500" dirty="0">
                <a:solidFill>
                  <a:srgbClr val="2C1810"/>
                </a:solidFill>
                <a:latin typeface="DM Sans" pitchFamily="34" charset="0"/>
                <a:ea typeface="DM Sans" pitchFamily="34" charset="-122"/>
                <a:cs typeface="DM Sans" pitchFamily="34" charset="-120"/>
              </a:rPr>
              <a:t>egg</a:t>
            </a:r>
            <a:endParaRPr lang="en-US" sz="500" dirty="0"/>
          </a:p>
        </p:txBody>
      </p:sp>
      <p:sp>
        <p:nvSpPr>
          <p:cNvPr id="124" name="Shape 122"/>
          <p:cNvSpPr/>
          <p:nvPr/>
        </p:nvSpPr>
        <p:spPr>
          <a:xfrm>
            <a:off x="9936328" y="3063240"/>
            <a:ext cx="-871083" cy="-352044"/>
          </a:xfrm>
          <a:prstGeom prst="line">
            <a:avLst/>
          </a:prstGeom>
          <a:noFill/>
          <a:ln w="9525">
            <a:solidFill>
              <a:srgbClr val="C4A882"/>
            </a:solidFill>
            <a:prstDash val="sysDot"/>
          </a:ln>
        </p:spPr>
      </p:sp>
      <p:sp>
        <p:nvSpPr>
          <p:cNvPr id="125" name="Shape 123"/>
          <p:cNvSpPr/>
          <p:nvPr/>
        </p:nvSpPr>
        <p:spPr>
          <a:xfrm>
            <a:off x="8900653" y="2601468"/>
            <a:ext cx="329184" cy="219456"/>
          </a:xfrm>
          <a:prstGeom prst="ellipse">
            <a:avLst/>
          </a:prstGeom>
          <a:solidFill>
            <a:srgbClr val="D6E2D4"/>
          </a:solidFill>
          <a:ln w="9525">
            <a:solidFill>
              <a:srgbClr val="2F5D3A"/>
            </a:solidFill>
            <a:prstDash val="solid"/>
          </a:ln>
        </p:spPr>
      </p:sp>
      <p:sp>
        <p:nvSpPr>
          <p:cNvPr id="126" name="Text 124"/>
          <p:cNvSpPr txBox="1"/>
          <p:nvPr/>
        </p:nvSpPr>
        <p:spPr>
          <a:xfrm>
            <a:off x="8900653" y="2601468"/>
            <a:ext cx="329184" cy="219456"/>
          </a:xfrm>
          <a:prstGeom prst="rect">
            <a:avLst/>
          </a:prstGeom>
          <a:noFill/>
          <a:ln/>
        </p:spPr>
        <p:txBody>
          <a:bodyPr wrap="square" rtlCol="0" anchor="ctr"/>
          <a:lstStyle/>
          <a:p>
            <a:pPr algn="ctr" indent="0" marL="0">
              <a:buNone/>
            </a:pPr>
            <a:r>
              <a:rPr lang="en-US" sz="500" dirty="0">
                <a:solidFill>
                  <a:srgbClr val="2C1810"/>
                </a:solidFill>
                <a:latin typeface="DM Sans" pitchFamily="34" charset="0"/>
                <a:ea typeface="DM Sans" pitchFamily="34" charset="-122"/>
                <a:cs typeface="DM Sans" pitchFamily="34" charset="-120"/>
              </a:rPr>
              <a:t>sambal</a:t>
            </a:r>
            <a:endParaRPr lang="en-US" sz="500" dirty="0"/>
          </a:p>
        </p:txBody>
      </p:sp>
      <p:sp>
        <p:nvSpPr>
          <p:cNvPr id="127" name="Text 125"/>
          <p:cNvSpPr txBox="1"/>
          <p:nvPr/>
        </p:nvSpPr>
        <p:spPr>
          <a:xfrm>
            <a:off x="472288" y="4434840"/>
            <a:ext cx="3566160" cy="1005840"/>
          </a:xfrm>
          <a:prstGeom prst="rect">
            <a:avLst/>
          </a:prstGeom>
          <a:noFill/>
          <a:ln/>
        </p:spPr>
        <p:txBody>
          <a:bodyPr wrap="square" rtlCol="0" anchor="ctr"/>
          <a:lstStyle/>
          <a:p>
            <a:pPr indent="0" marL="0">
              <a:lnSpc>
                <a:spcPct val="120000"/>
              </a:lnSpc>
              <a:buNone/>
            </a:pPr>
            <a:r>
              <a:rPr lang="en-US" sz="950" dirty="0">
                <a:solidFill>
                  <a:srgbClr val="2C1810"/>
                </a:solidFill>
                <a:latin typeface="DM Sans" pitchFamily="34" charset="0"/>
                <a:ea typeface="DM Sans" pitchFamily="34" charset="-122"/>
                <a:cs typeface="DM Sans" pitchFamily="34" charset="-120"/>
              </a:rPr>
              <a:t>HERITAGE RADAR — MapLibre GPS map, grassroots pins pulse, hyped mall stalls greyed out. Three regional voice personas — Uncle Lim, Auntie Kamala, Ah Kong — narrate as you approach, via browser-native Web Speech.</a:t>
            </a:r>
            <a:endParaRPr lang="en-US" sz="950" dirty="0"/>
          </a:p>
        </p:txBody>
      </p:sp>
      <p:sp>
        <p:nvSpPr>
          <p:cNvPr id="128" name="Text 126"/>
          <p:cNvSpPr txBox="1"/>
          <p:nvPr/>
        </p:nvSpPr>
        <p:spPr>
          <a:xfrm>
            <a:off x="4312768" y="4434840"/>
            <a:ext cx="3566160" cy="1005840"/>
          </a:xfrm>
          <a:prstGeom prst="rect">
            <a:avLst/>
          </a:prstGeom>
          <a:noFill/>
          <a:ln/>
        </p:spPr>
        <p:txBody>
          <a:bodyPr wrap="square" rtlCol="0" anchor="ctr"/>
          <a:lstStyle/>
          <a:p>
            <a:pPr indent="0" marL="0">
              <a:lnSpc>
                <a:spcPct val="120000"/>
              </a:lnSpc>
              <a:buNone/>
            </a:pPr>
            <a:r>
              <a:rPr lang="en-US" sz="950" dirty="0">
                <a:solidFill>
                  <a:srgbClr val="2C1810"/>
                </a:solidFill>
                <a:latin typeface="DM Sans" pitchFamily="34" charset="0"/>
                <a:ea typeface="DM Sans" pitchFamily="34" charset="-122"/>
                <a:cs typeface="DM Sans" pitchFamily="34" charset="-120"/>
              </a:rPr>
              <a:t>POKÉDEX + BLUEPRINT — Catch flow validates GPS and reveals rarity-tiered cards. Heritage Blueprint renders an interactive 3D knowledge graph (React Three Fiber) — tap any ingredient node and RAG-powered cultural lore streams in.</a:t>
            </a:r>
            <a:endParaRPr lang="en-US" sz="950" dirty="0"/>
          </a:p>
        </p:txBody>
      </p:sp>
      <p:sp>
        <p:nvSpPr>
          <p:cNvPr id="129" name="Text 127"/>
          <p:cNvSpPr txBox="1"/>
          <p:nvPr/>
        </p:nvSpPr>
        <p:spPr>
          <a:xfrm>
            <a:off x="8153248" y="4434840"/>
            <a:ext cx="3566160" cy="1005840"/>
          </a:xfrm>
          <a:prstGeom prst="rect">
            <a:avLst/>
          </a:prstGeom>
          <a:noFill/>
          <a:ln/>
        </p:spPr>
        <p:txBody>
          <a:bodyPr wrap="square" rtlCol="0" anchor="ctr"/>
          <a:lstStyle/>
          <a:p>
            <a:pPr indent="0" marL="0">
              <a:lnSpc>
                <a:spcPct val="120000"/>
              </a:lnSpc>
              <a:buNone/>
            </a:pPr>
            <a:r>
              <a:rPr lang="en-US" sz="950" dirty="0">
                <a:solidFill>
                  <a:srgbClr val="2C1810"/>
                </a:solidFill>
                <a:latin typeface="DM Sans" pitchFamily="34" charset="0"/>
                <a:ea typeface="DM Sans" pitchFamily="34" charset="-122"/>
                <a:cs typeface="DM Sans" pitchFamily="34" charset="-120"/>
              </a:rPr>
              <a:t>HERITAGE TRAILS — Three or more catches connect into a trail with an AI-generated narrative, route map and shareable PNG card.</a:t>
            </a:r>
            <a:endParaRPr lang="en-US" sz="950" dirty="0"/>
          </a:p>
        </p:txBody>
      </p:sp>
      <p:sp>
        <p:nvSpPr>
          <p:cNvPr id="130" name="Text 128"/>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131" name="Text 129"/>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( 07 )</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4000" b="1" dirty="0">
                <a:solidFill>
                  <a:srgbClr val="C4A882"/>
                </a:solidFill>
                <a:latin typeface="Fraunces" pitchFamily="34" charset="0"/>
                <a:ea typeface="Fraunces" pitchFamily="34" charset="-122"/>
                <a:cs typeface="Fraunces" pitchFamily="34" charset="-120"/>
              </a:rPr>
              <a:t>TECH STACK</a:t>
            </a:r>
            <a:endParaRPr lang="en-US" sz="40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4000" b="1" dirty="0">
                <a:solidFill>
                  <a:srgbClr val="8B1E1E"/>
                </a:solidFill>
                <a:latin typeface="Fraunces" pitchFamily="34" charset="0"/>
                <a:ea typeface="Fraunces" pitchFamily="34" charset="-122"/>
                <a:cs typeface="Fraunces" pitchFamily="34" charset="-120"/>
              </a:rPr>
              <a:t>TECH STACK</a:t>
            </a:r>
            <a:endParaRPr lang="en-US" sz="40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SINGLE API ROUTE · 6 GEMINI MODES · ZOD-VALIDATED TOOLS</a:t>
            </a:r>
            <a:endParaRPr lang="en-US" sz="1100" dirty="0"/>
          </a:p>
        </p:txBody>
      </p:sp>
      <p:sp>
        <p:nvSpPr>
          <p:cNvPr id="28" name="Shape 26"/>
          <p:cNvSpPr/>
          <p:nvPr/>
        </p:nvSpPr>
        <p:spPr>
          <a:xfrm>
            <a:off x="5455768" y="3246120"/>
            <a:ext cx="1280160" cy="822960"/>
          </a:xfrm>
          <a:prstGeom prst="ellipse">
            <a:avLst/>
          </a:prstGeom>
          <a:solidFill>
            <a:srgbClr val="8B1E1E"/>
          </a:solidFill>
          <a:ln w="19050">
            <a:solidFill>
              <a:srgbClr val="2C1810"/>
            </a:solidFill>
            <a:prstDash val="solid"/>
          </a:ln>
        </p:spPr>
      </p:sp>
      <p:sp>
        <p:nvSpPr>
          <p:cNvPr id="29" name="Shape 27"/>
          <p:cNvSpPr/>
          <p:nvPr/>
        </p:nvSpPr>
        <p:spPr>
          <a:xfrm>
            <a:off x="5592928" y="3383280"/>
            <a:ext cx="1005840" cy="548640"/>
          </a:xfrm>
          <a:prstGeom prst="ellipse">
            <a:avLst/>
          </a:prstGeom>
          <a:solidFill>
            <a:srgbClr val="8B1E1E">
              <a:alpha val="50000"/>
            </a:srgbClr>
          </a:solidFill>
          <a:ln/>
        </p:spPr>
      </p:sp>
      <p:sp>
        <p:nvSpPr>
          <p:cNvPr id="30" name="Text 28"/>
          <p:cNvSpPr txBox="1"/>
          <p:nvPr/>
        </p:nvSpPr>
        <p:spPr>
          <a:xfrm>
            <a:off x="5455768" y="3246120"/>
            <a:ext cx="1280160" cy="822960"/>
          </a:xfrm>
          <a:prstGeom prst="rect">
            <a:avLst/>
          </a:prstGeom>
          <a:noFill/>
          <a:ln/>
        </p:spPr>
        <p:txBody>
          <a:bodyPr wrap="square" rtlCol="0" anchor="ctr"/>
          <a:lstStyle/>
          <a:p>
            <a:pPr algn="ctr" indent="0" marL="0">
              <a:buNone/>
            </a:pPr>
            <a:r>
              <a:rPr lang="en-US" sz="1100" b="1" dirty="0">
                <a:solidFill>
                  <a:srgbClr val="F4ECD8"/>
                </a:solidFill>
                <a:latin typeface="Fraunces" pitchFamily="34" charset="0"/>
                <a:ea typeface="Fraunces" pitchFamily="34" charset="-122"/>
                <a:cs typeface="Fraunces" pitchFamily="34" charset="-120"/>
              </a:rPr>
              <a:t>MakanMate</a:t>
            </a:r>
            <a:endParaRPr lang="en-US" sz="1100" dirty="0"/>
          </a:p>
        </p:txBody>
      </p:sp>
      <p:sp>
        <p:nvSpPr>
          <p:cNvPr id="31" name="Shape 29"/>
          <p:cNvSpPr/>
          <p:nvPr/>
        </p:nvSpPr>
        <p:spPr>
          <a:xfrm>
            <a:off x="6095848" y="3657600"/>
            <a:ext cx="0" cy="-1783080"/>
          </a:xfrm>
          <a:prstGeom prst="line">
            <a:avLst/>
          </a:prstGeom>
          <a:noFill/>
          <a:ln w="9525">
            <a:solidFill>
              <a:srgbClr val="4A7C59"/>
            </a:solidFill>
            <a:prstDash val="sysDot"/>
          </a:ln>
        </p:spPr>
      </p:sp>
      <p:sp>
        <p:nvSpPr>
          <p:cNvPr id="32" name="Shape 30"/>
          <p:cNvSpPr/>
          <p:nvPr/>
        </p:nvSpPr>
        <p:spPr>
          <a:xfrm>
            <a:off x="5455768" y="1673352"/>
            <a:ext cx="1280160" cy="402336"/>
          </a:xfrm>
          <a:prstGeom prst="roundRect">
            <a:avLst>
              <a:gd name="adj" fmla="val 18182"/>
            </a:avLst>
          </a:prstGeom>
          <a:solidFill>
            <a:srgbClr val="F4ECD8"/>
          </a:solidFill>
          <a:ln w="15875">
            <a:solidFill>
              <a:srgbClr val="2F5D3A"/>
            </a:solidFill>
            <a:prstDash val="solid"/>
          </a:ln>
        </p:spPr>
      </p:sp>
      <p:sp>
        <p:nvSpPr>
          <p:cNvPr id="33" name="Shape 31"/>
          <p:cNvSpPr/>
          <p:nvPr/>
        </p:nvSpPr>
        <p:spPr>
          <a:xfrm>
            <a:off x="5455768" y="1673352"/>
            <a:ext cx="73152" cy="402336"/>
          </a:xfrm>
          <a:prstGeom prst="rect">
            <a:avLst/>
          </a:prstGeom>
          <a:solidFill>
            <a:srgbClr val="2F5D3A"/>
          </a:solidFill>
          <a:ln/>
        </p:spPr>
      </p:sp>
      <p:sp>
        <p:nvSpPr>
          <p:cNvPr id="34" name="Text 32"/>
          <p:cNvSpPr txBox="1"/>
          <p:nvPr/>
        </p:nvSpPr>
        <p:spPr>
          <a:xfrm>
            <a:off x="5547208" y="1673352"/>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Next.js 16</a:t>
            </a:r>
            <a:endParaRPr lang="en-US" sz="850" dirty="0"/>
          </a:p>
        </p:txBody>
      </p:sp>
      <p:sp>
        <p:nvSpPr>
          <p:cNvPr id="35" name="Shape 33"/>
          <p:cNvSpPr/>
          <p:nvPr/>
        </p:nvSpPr>
        <p:spPr>
          <a:xfrm>
            <a:off x="6095848" y="3657600"/>
            <a:ext cx="1551788" cy="-1163841"/>
          </a:xfrm>
          <a:prstGeom prst="line">
            <a:avLst/>
          </a:prstGeom>
          <a:noFill/>
          <a:ln w="9525">
            <a:solidFill>
              <a:srgbClr val="4A7C59"/>
            </a:solidFill>
            <a:prstDash val="sysDot"/>
          </a:ln>
        </p:spPr>
      </p:sp>
      <p:sp>
        <p:nvSpPr>
          <p:cNvPr id="36" name="Shape 34"/>
          <p:cNvSpPr/>
          <p:nvPr/>
        </p:nvSpPr>
        <p:spPr>
          <a:xfrm>
            <a:off x="7007556" y="2292591"/>
            <a:ext cx="1280160" cy="402336"/>
          </a:xfrm>
          <a:prstGeom prst="roundRect">
            <a:avLst>
              <a:gd name="adj" fmla="val 18182"/>
            </a:avLst>
          </a:prstGeom>
          <a:solidFill>
            <a:srgbClr val="F4ECD8"/>
          </a:solidFill>
          <a:ln w="15875">
            <a:solidFill>
              <a:srgbClr val="2F5D3A"/>
            </a:solidFill>
            <a:prstDash val="solid"/>
          </a:ln>
        </p:spPr>
      </p:sp>
      <p:sp>
        <p:nvSpPr>
          <p:cNvPr id="37" name="Shape 35"/>
          <p:cNvSpPr/>
          <p:nvPr/>
        </p:nvSpPr>
        <p:spPr>
          <a:xfrm>
            <a:off x="7007556" y="2292591"/>
            <a:ext cx="73152" cy="402336"/>
          </a:xfrm>
          <a:prstGeom prst="rect">
            <a:avLst/>
          </a:prstGeom>
          <a:solidFill>
            <a:srgbClr val="2F5D3A"/>
          </a:solidFill>
          <a:ln/>
        </p:spPr>
      </p:sp>
      <p:sp>
        <p:nvSpPr>
          <p:cNvPr id="38" name="Text 36"/>
          <p:cNvSpPr txBox="1"/>
          <p:nvPr/>
        </p:nvSpPr>
        <p:spPr>
          <a:xfrm>
            <a:off x="7098996" y="2292591"/>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React 19</a:t>
            </a:r>
            <a:endParaRPr lang="en-US" sz="850" dirty="0"/>
          </a:p>
        </p:txBody>
      </p:sp>
      <p:sp>
        <p:nvSpPr>
          <p:cNvPr id="39" name="Shape 37"/>
          <p:cNvSpPr/>
          <p:nvPr/>
        </p:nvSpPr>
        <p:spPr>
          <a:xfrm>
            <a:off x="6095848" y="3657600"/>
            <a:ext cx="2377440" cy="0"/>
          </a:xfrm>
          <a:prstGeom prst="line">
            <a:avLst/>
          </a:prstGeom>
          <a:noFill/>
          <a:ln w="9525">
            <a:solidFill>
              <a:srgbClr val="4A7C59"/>
            </a:solidFill>
            <a:prstDash val="sysDot"/>
          </a:ln>
        </p:spPr>
      </p:sp>
      <p:sp>
        <p:nvSpPr>
          <p:cNvPr id="40" name="Shape 38"/>
          <p:cNvSpPr/>
          <p:nvPr/>
        </p:nvSpPr>
        <p:spPr>
          <a:xfrm>
            <a:off x="7833208" y="3456432"/>
            <a:ext cx="1280160" cy="402336"/>
          </a:xfrm>
          <a:prstGeom prst="roundRect">
            <a:avLst>
              <a:gd name="adj" fmla="val 18182"/>
            </a:avLst>
          </a:prstGeom>
          <a:solidFill>
            <a:srgbClr val="F4ECD8"/>
          </a:solidFill>
          <a:ln w="15875">
            <a:solidFill>
              <a:srgbClr val="2F5D3A"/>
            </a:solidFill>
            <a:prstDash val="solid"/>
          </a:ln>
        </p:spPr>
      </p:sp>
      <p:sp>
        <p:nvSpPr>
          <p:cNvPr id="41" name="Shape 39"/>
          <p:cNvSpPr/>
          <p:nvPr/>
        </p:nvSpPr>
        <p:spPr>
          <a:xfrm>
            <a:off x="7833208" y="3456432"/>
            <a:ext cx="73152" cy="402336"/>
          </a:xfrm>
          <a:prstGeom prst="rect">
            <a:avLst/>
          </a:prstGeom>
          <a:solidFill>
            <a:srgbClr val="2F5D3A"/>
          </a:solidFill>
          <a:ln/>
        </p:spPr>
      </p:sp>
      <p:sp>
        <p:nvSpPr>
          <p:cNvPr id="42" name="Text 40"/>
          <p:cNvSpPr txBox="1"/>
          <p:nvPr/>
        </p:nvSpPr>
        <p:spPr>
          <a:xfrm>
            <a:off x="7924648" y="3456432"/>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React Three</a:t>
            </a:r>
            <a:endParaRPr lang="en-US" sz="850" dirty="0"/>
          </a:p>
        </p:txBody>
      </p:sp>
      <p:sp>
        <p:nvSpPr>
          <p:cNvPr id="43" name="Shape 41"/>
          <p:cNvSpPr/>
          <p:nvPr/>
        </p:nvSpPr>
        <p:spPr>
          <a:xfrm>
            <a:off x="6095848" y="3657600"/>
            <a:ext cx="1551788" cy="1163841"/>
          </a:xfrm>
          <a:prstGeom prst="line">
            <a:avLst/>
          </a:prstGeom>
          <a:noFill/>
          <a:ln w="9525">
            <a:solidFill>
              <a:srgbClr val="4A7C59"/>
            </a:solidFill>
            <a:prstDash val="sysDot"/>
          </a:ln>
        </p:spPr>
      </p:sp>
      <p:sp>
        <p:nvSpPr>
          <p:cNvPr id="44" name="Shape 42"/>
          <p:cNvSpPr/>
          <p:nvPr/>
        </p:nvSpPr>
        <p:spPr>
          <a:xfrm>
            <a:off x="7007556" y="4620273"/>
            <a:ext cx="1280160" cy="402336"/>
          </a:xfrm>
          <a:prstGeom prst="roundRect">
            <a:avLst>
              <a:gd name="adj" fmla="val 18182"/>
            </a:avLst>
          </a:prstGeom>
          <a:solidFill>
            <a:srgbClr val="F4ECD8"/>
          </a:solidFill>
          <a:ln w="15875">
            <a:solidFill>
              <a:srgbClr val="2F5D3A"/>
            </a:solidFill>
            <a:prstDash val="solid"/>
          </a:ln>
        </p:spPr>
      </p:sp>
      <p:sp>
        <p:nvSpPr>
          <p:cNvPr id="45" name="Shape 43"/>
          <p:cNvSpPr/>
          <p:nvPr/>
        </p:nvSpPr>
        <p:spPr>
          <a:xfrm>
            <a:off x="7007556" y="4620273"/>
            <a:ext cx="73152" cy="402336"/>
          </a:xfrm>
          <a:prstGeom prst="rect">
            <a:avLst/>
          </a:prstGeom>
          <a:solidFill>
            <a:srgbClr val="2F5D3A"/>
          </a:solidFill>
          <a:ln/>
        </p:spPr>
      </p:sp>
      <p:sp>
        <p:nvSpPr>
          <p:cNvPr id="46" name="Text 44"/>
          <p:cNvSpPr txBox="1"/>
          <p:nvPr/>
        </p:nvSpPr>
        <p:spPr>
          <a:xfrm>
            <a:off x="7098996" y="4620273"/>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MapLibre</a:t>
            </a:r>
            <a:endParaRPr lang="en-US" sz="850" dirty="0"/>
          </a:p>
        </p:txBody>
      </p:sp>
      <p:sp>
        <p:nvSpPr>
          <p:cNvPr id="47" name="Shape 45"/>
          <p:cNvSpPr/>
          <p:nvPr/>
        </p:nvSpPr>
        <p:spPr>
          <a:xfrm>
            <a:off x="6095848" y="3657600"/>
            <a:ext cx="0" cy="1783080"/>
          </a:xfrm>
          <a:prstGeom prst="line">
            <a:avLst/>
          </a:prstGeom>
          <a:noFill/>
          <a:ln w="9525">
            <a:solidFill>
              <a:srgbClr val="4A7C59"/>
            </a:solidFill>
            <a:prstDash val="sysDot"/>
          </a:ln>
        </p:spPr>
      </p:sp>
      <p:sp>
        <p:nvSpPr>
          <p:cNvPr id="48" name="Shape 46"/>
          <p:cNvSpPr/>
          <p:nvPr/>
        </p:nvSpPr>
        <p:spPr>
          <a:xfrm>
            <a:off x="5455768" y="5239512"/>
            <a:ext cx="1280160" cy="402336"/>
          </a:xfrm>
          <a:prstGeom prst="roundRect">
            <a:avLst>
              <a:gd name="adj" fmla="val 18182"/>
            </a:avLst>
          </a:prstGeom>
          <a:solidFill>
            <a:srgbClr val="F4ECD8"/>
          </a:solidFill>
          <a:ln w="15875">
            <a:solidFill>
              <a:srgbClr val="2F5D3A"/>
            </a:solidFill>
            <a:prstDash val="solid"/>
          </a:ln>
        </p:spPr>
      </p:sp>
      <p:sp>
        <p:nvSpPr>
          <p:cNvPr id="49" name="Shape 47"/>
          <p:cNvSpPr/>
          <p:nvPr/>
        </p:nvSpPr>
        <p:spPr>
          <a:xfrm>
            <a:off x="5455768" y="5239512"/>
            <a:ext cx="73152" cy="402336"/>
          </a:xfrm>
          <a:prstGeom prst="rect">
            <a:avLst/>
          </a:prstGeom>
          <a:solidFill>
            <a:srgbClr val="2F5D3A"/>
          </a:solidFill>
          <a:ln/>
        </p:spPr>
      </p:sp>
      <p:sp>
        <p:nvSpPr>
          <p:cNvPr id="50" name="Text 48"/>
          <p:cNvSpPr txBox="1"/>
          <p:nvPr/>
        </p:nvSpPr>
        <p:spPr>
          <a:xfrm>
            <a:off x="5547208" y="5239512"/>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Zustand</a:t>
            </a:r>
            <a:endParaRPr lang="en-US" sz="850" dirty="0"/>
          </a:p>
        </p:txBody>
      </p:sp>
      <p:sp>
        <p:nvSpPr>
          <p:cNvPr id="51" name="Shape 49"/>
          <p:cNvSpPr/>
          <p:nvPr/>
        </p:nvSpPr>
        <p:spPr>
          <a:xfrm>
            <a:off x="6095848" y="3657600"/>
            <a:ext cx="-1551788" cy="1163841"/>
          </a:xfrm>
          <a:prstGeom prst="line">
            <a:avLst/>
          </a:prstGeom>
          <a:noFill/>
          <a:ln w="9525">
            <a:solidFill>
              <a:srgbClr val="4A7C59"/>
            </a:solidFill>
            <a:prstDash val="sysDot"/>
          </a:ln>
        </p:spPr>
      </p:sp>
      <p:sp>
        <p:nvSpPr>
          <p:cNvPr id="52" name="Shape 50"/>
          <p:cNvSpPr/>
          <p:nvPr/>
        </p:nvSpPr>
        <p:spPr>
          <a:xfrm>
            <a:off x="3903979" y="4620273"/>
            <a:ext cx="1280160" cy="402336"/>
          </a:xfrm>
          <a:prstGeom prst="roundRect">
            <a:avLst>
              <a:gd name="adj" fmla="val 18182"/>
            </a:avLst>
          </a:prstGeom>
          <a:solidFill>
            <a:srgbClr val="F4ECD8"/>
          </a:solidFill>
          <a:ln w="15875">
            <a:solidFill>
              <a:srgbClr val="2F5D3A"/>
            </a:solidFill>
            <a:prstDash val="solid"/>
          </a:ln>
        </p:spPr>
      </p:sp>
      <p:sp>
        <p:nvSpPr>
          <p:cNvPr id="53" name="Shape 51"/>
          <p:cNvSpPr/>
          <p:nvPr/>
        </p:nvSpPr>
        <p:spPr>
          <a:xfrm>
            <a:off x="3903979" y="4620273"/>
            <a:ext cx="73152" cy="402336"/>
          </a:xfrm>
          <a:prstGeom prst="rect">
            <a:avLst/>
          </a:prstGeom>
          <a:solidFill>
            <a:srgbClr val="2F5D3A"/>
          </a:solidFill>
          <a:ln/>
        </p:spPr>
      </p:sp>
      <p:sp>
        <p:nvSpPr>
          <p:cNvPr id="54" name="Text 52"/>
          <p:cNvSpPr txBox="1"/>
          <p:nvPr/>
        </p:nvSpPr>
        <p:spPr>
          <a:xfrm>
            <a:off x="3995419" y="4620273"/>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Web Speech</a:t>
            </a:r>
            <a:endParaRPr lang="en-US" sz="850" dirty="0"/>
          </a:p>
        </p:txBody>
      </p:sp>
      <p:sp>
        <p:nvSpPr>
          <p:cNvPr id="55" name="Shape 53"/>
          <p:cNvSpPr/>
          <p:nvPr/>
        </p:nvSpPr>
        <p:spPr>
          <a:xfrm>
            <a:off x="6095848" y="3657600"/>
            <a:ext cx="-2377440" cy="0"/>
          </a:xfrm>
          <a:prstGeom prst="line">
            <a:avLst/>
          </a:prstGeom>
          <a:noFill/>
          <a:ln w="9525">
            <a:solidFill>
              <a:srgbClr val="C4553A"/>
            </a:solidFill>
            <a:prstDash val="sysDot"/>
          </a:ln>
        </p:spPr>
      </p:sp>
      <p:sp>
        <p:nvSpPr>
          <p:cNvPr id="56" name="Shape 54"/>
          <p:cNvSpPr/>
          <p:nvPr/>
        </p:nvSpPr>
        <p:spPr>
          <a:xfrm>
            <a:off x="3078328" y="3456432"/>
            <a:ext cx="1280160" cy="402336"/>
          </a:xfrm>
          <a:prstGeom prst="roundRect">
            <a:avLst>
              <a:gd name="adj" fmla="val 18182"/>
            </a:avLst>
          </a:prstGeom>
          <a:solidFill>
            <a:srgbClr val="F4ECD8"/>
          </a:solidFill>
          <a:ln w="15875">
            <a:solidFill>
              <a:srgbClr val="8B1E1E"/>
            </a:solidFill>
            <a:prstDash val="solid"/>
          </a:ln>
        </p:spPr>
      </p:sp>
      <p:sp>
        <p:nvSpPr>
          <p:cNvPr id="57" name="Shape 55"/>
          <p:cNvSpPr/>
          <p:nvPr/>
        </p:nvSpPr>
        <p:spPr>
          <a:xfrm>
            <a:off x="3078328" y="3456432"/>
            <a:ext cx="73152" cy="402336"/>
          </a:xfrm>
          <a:prstGeom prst="rect">
            <a:avLst/>
          </a:prstGeom>
          <a:solidFill>
            <a:srgbClr val="8B1E1E"/>
          </a:solidFill>
          <a:ln/>
        </p:spPr>
      </p:sp>
      <p:sp>
        <p:nvSpPr>
          <p:cNvPr id="58" name="Text 56"/>
          <p:cNvSpPr txBox="1"/>
          <p:nvPr/>
        </p:nvSpPr>
        <p:spPr>
          <a:xfrm>
            <a:off x="3169768" y="3456432"/>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Gemini</a:t>
            </a:r>
            <a:endParaRPr lang="en-US" sz="850" dirty="0"/>
          </a:p>
        </p:txBody>
      </p:sp>
      <p:sp>
        <p:nvSpPr>
          <p:cNvPr id="59" name="Shape 57"/>
          <p:cNvSpPr/>
          <p:nvPr/>
        </p:nvSpPr>
        <p:spPr>
          <a:xfrm>
            <a:off x="6095848" y="3657600"/>
            <a:ext cx="-1551788" cy="-1163841"/>
          </a:xfrm>
          <a:prstGeom prst="line">
            <a:avLst/>
          </a:prstGeom>
          <a:noFill/>
          <a:ln w="9525">
            <a:solidFill>
              <a:srgbClr val="C4553A"/>
            </a:solidFill>
            <a:prstDash val="sysDot"/>
          </a:ln>
        </p:spPr>
      </p:sp>
      <p:sp>
        <p:nvSpPr>
          <p:cNvPr id="60" name="Shape 58"/>
          <p:cNvSpPr/>
          <p:nvPr/>
        </p:nvSpPr>
        <p:spPr>
          <a:xfrm>
            <a:off x="3903979" y="2292591"/>
            <a:ext cx="1280160" cy="402336"/>
          </a:xfrm>
          <a:prstGeom prst="roundRect">
            <a:avLst>
              <a:gd name="adj" fmla="val 18182"/>
            </a:avLst>
          </a:prstGeom>
          <a:solidFill>
            <a:srgbClr val="F4ECD8"/>
          </a:solidFill>
          <a:ln w="15875">
            <a:solidFill>
              <a:srgbClr val="8B1E1E"/>
            </a:solidFill>
            <a:prstDash val="solid"/>
          </a:ln>
        </p:spPr>
      </p:sp>
      <p:sp>
        <p:nvSpPr>
          <p:cNvPr id="61" name="Shape 59"/>
          <p:cNvSpPr/>
          <p:nvPr/>
        </p:nvSpPr>
        <p:spPr>
          <a:xfrm>
            <a:off x="3903979" y="2292591"/>
            <a:ext cx="73152" cy="402336"/>
          </a:xfrm>
          <a:prstGeom prst="rect">
            <a:avLst/>
          </a:prstGeom>
          <a:solidFill>
            <a:srgbClr val="8B1E1E"/>
          </a:solidFill>
          <a:ln/>
        </p:spPr>
      </p:sp>
      <p:sp>
        <p:nvSpPr>
          <p:cNvPr id="62" name="Text 60"/>
          <p:cNvSpPr txBox="1"/>
          <p:nvPr/>
        </p:nvSpPr>
        <p:spPr>
          <a:xfrm>
            <a:off x="3995419" y="2292591"/>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Tavily</a:t>
            </a:r>
            <a:endParaRPr lang="en-US" sz="850" dirty="0"/>
          </a:p>
        </p:txBody>
      </p:sp>
      <p:sp>
        <p:nvSpPr>
          <p:cNvPr id="63" name="Shape 61"/>
          <p:cNvSpPr/>
          <p:nvPr/>
        </p:nvSpPr>
        <p:spPr>
          <a:xfrm>
            <a:off x="6095848" y="3657600"/>
            <a:ext cx="0" cy="-1783080"/>
          </a:xfrm>
          <a:prstGeom prst="line">
            <a:avLst/>
          </a:prstGeom>
          <a:noFill/>
          <a:ln w="9525">
            <a:solidFill>
              <a:srgbClr val="C4553A"/>
            </a:solidFill>
            <a:prstDash val="sysDot"/>
          </a:ln>
        </p:spPr>
      </p:sp>
      <p:sp>
        <p:nvSpPr>
          <p:cNvPr id="64" name="Shape 62"/>
          <p:cNvSpPr/>
          <p:nvPr/>
        </p:nvSpPr>
        <p:spPr>
          <a:xfrm>
            <a:off x="5455768" y="1673352"/>
            <a:ext cx="1280160" cy="402336"/>
          </a:xfrm>
          <a:prstGeom prst="roundRect">
            <a:avLst>
              <a:gd name="adj" fmla="val 18182"/>
            </a:avLst>
          </a:prstGeom>
          <a:solidFill>
            <a:srgbClr val="F4ECD8"/>
          </a:solidFill>
          <a:ln w="15875">
            <a:solidFill>
              <a:srgbClr val="8B1E1E"/>
            </a:solidFill>
            <a:prstDash val="solid"/>
          </a:ln>
        </p:spPr>
      </p:sp>
      <p:sp>
        <p:nvSpPr>
          <p:cNvPr id="65" name="Shape 63"/>
          <p:cNvSpPr/>
          <p:nvPr/>
        </p:nvSpPr>
        <p:spPr>
          <a:xfrm>
            <a:off x="5455768" y="1673352"/>
            <a:ext cx="73152" cy="402336"/>
          </a:xfrm>
          <a:prstGeom prst="rect">
            <a:avLst/>
          </a:prstGeom>
          <a:solidFill>
            <a:srgbClr val="8B1E1E"/>
          </a:solidFill>
          <a:ln/>
        </p:spPr>
      </p:sp>
      <p:sp>
        <p:nvSpPr>
          <p:cNvPr id="66" name="Text 64"/>
          <p:cNvSpPr txBox="1"/>
          <p:nvPr/>
        </p:nvSpPr>
        <p:spPr>
          <a:xfrm>
            <a:off x="5547208" y="1673352"/>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Vercel AI</a:t>
            </a:r>
            <a:endParaRPr lang="en-US" sz="850" dirty="0"/>
          </a:p>
        </p:txBody>
      </p:sp>
      <p:sp>
        <p:nvSpPr>
          <p:cNvPr id="67" name="Shape 65"/>
          <p:cNvSpPr/>
          <p:nvPr/>
        </p:nvSpPr>
        <p:spPr>
          <a:xfrm>
            <a:off x="6095848" y="3657600"/>
            <a:ext cx="1551788" cy="-1163841"/>
          </a:xfrm>
          <a:prstGeom prst="line">
            <a:avLst/>
          </a:prstGeom>
          <a:noFill/>
          <a:ln w="9525">
            <a:solidFill>
              <a:srgbClr val="C4553A"/>
            </a:solidFill>
            <a:prstDash val="sysDot"/>
          </a:ln>
        </p:spPr>
      </p:sp>
      <p:sp>
        <p:nvSpPr>
          <p:cNvPr id="68" name="Shape 66"/>
          <p:cNvSpPr/>
          <p:nvPr/>
        </p:nvSpPr>
        <p:spPr>
          <a:xfrm>
            <a:off x="7007556" y="2292591"/>
            <a:ext cx="1280160" cy="402336"/>
          </a:xfrm>
          <a:prstGeom prst="roundRect">
            <a:avLst>
              <a:gd name="adj" fmla="val 18182"/>
            </a:avLst>
          </a:prstGeom>
          <a:solidFill>
            <a:srgbClr val="F4ECD8"/>
          </a:solidFill>
          <a:ln w="15875">
            <a:solidFill>
              <a:srgbClr val="8B1E1E"/>
            </a:solidFill>
            <a:prstDash val="solid"/>
          </a:ln>
        </p:spPr>
      </p:sp>
      <p:sp>
        <p:nvSpPr>
          <p:cNvPr id="69" name="Shape 67"/>
          <p:cNvSpPr/>
          <p:nvPr/>
        </p:nvSpPr>
        <p:spPr>
          <a:xfrm>
            <a:off x="7007556" y="2292591"/>
            <a:ext cx="73152" cy="402336"/>
          </a:xfrm>
          <a:prstGeom prst="rect">
            <a:avLst/>
          </a:prstGeom>
          <a:solidFill>
            <a:srgbClr val="8B1E1E"/>
          </a:solidFill>
          <a:ln/>
        </p:spPr>
      </p:sp>
      <p:sp>
        <p:nvSpPr>
          <p:cNvPr id="70" name="Text 68"/>
          <p:cNvSpPr txBox="1"/>
          <p:nvPr/>
        </p:nvSpPr>
        <p:spPr>
          <a:xfrm>
            <a:off x="7098996" y="2292591"/>
            <a:ext cx="1143000" cy="402336"/>
          </a:xfrm>
          <a:prstGeom prst="rect">
            <a:avLst/>
          </a:prstGeom>
          <a:noFill/>
          <a:ln/>
        </p:spPr>
        <p:txBody>
          <a:bodyPr wrap="square" rtlCol="0" anchor="ctr"/>
          <a:lstStyle/>
          <a:p>
            <a:pPr algn="ctr" indent="0" marL="0">
              <a:buNone/>
            </a:pPr>
            <a:r>
              <a:rPr lang="en-US" sz="850" b="1" dirty="0">
                <a:solidFill>
                  <a:srgbClr val="2C1810"/>
                </a:solidFill>
                <a:latin typeface="DM Sans" pitchFamily="34" charset="0"/>
                <a:ea typeface="DM Sans" pitchFamily="34" charset="-122"/>
                <a:cs typeface="DM Sans" pitchFamily="34" charset="-120"/>
              </a:rPr>
              <a:t>Zod</a:t>
            </a:r>
            <a:endParaRPr lang="en-US" sz="850" dirty="0"/>
          </a:p>
        </p:txBody>
      </p:sp>
      <p:sp>
        <p:nvSpPr>
          <p:cNvPr id="71" name="Shape 69"/>
          <p:cNvSpPr/>
          <p:nvPr/>
        </p:nvSpPr>
        <p:spPr>
          <a:xfrm>
            <a:off x="502920" y="5257800"/>
            <a:ext cx="228600" cy="228600"/>
          </a:xfrm>
          <a:prstGeom prst="roundRect">
            <a:avLst>
              <a:gd name="adj" fmla="val 12000"/>
            </a:avLst>
          </a:prstGeom>
          <a:solidFill>
            <a:srgbClr val="2F5D3A"/>
          </a:solidFill>
          <a:ln w="6350">
            <a:solidFill>
              <a:srgbClr val="2C1810"/>
            </a:solidFill>
            <a:prstDash val="solid"/>
          </a:ln>
        </p:spPr>
      </p:sp>
      <p:sp>
        <p:nvSpPr>
          <p:cNvPr id="72" name="Text 70"/>
          <p:cNvSpPr txBox="1"/>
          <p:nvPr/>
        </p:nvSpPr>
        <p:spPr>
          <a:xfrm>
            <a:off x="822960" y="5230368"/>
            <a:ext cx="4572000" cy="274320"/>
          </a:xfrm>
          <a:prstGeom prst="rect">
            <a:avLst/>
          </a:prstGeom>
          <a:noFill/>
          <a:ln/>
        </p:spPr>
        <p:txBody>
          <a:bodyPr wrap="square" rtlCol="0" anchor="ctr"/>
          <a:lstStyle/>
          <a:p>
            <a:pPr indent="0" marL="0">
              <a:buNone/>
            </a:pPr>
            <a:r>
              <a:rPr lang="en-US" sz="1000" b="1" spc="100" kern="0" dirty="0">
                <a:solidFill>
                  <a:srgbClr val="2F5D3A"/>
                </a:solidFill>
                <a:latin typeface="DM Sans" pitchFamily="34" charset="0"/>
                <a:ea typeface="DM Sans" pitchFamily="34" charset="-122"/>
                <a:cs typeface="DM Sans" pitchFamily="34" charset="-120"/>
              </a:rPr>
              <a:t>Frontend &amp; client intelligence</a:t>
            </a:r>
            <a:endParaRPr lang="en-US" sz="1000" dirty="0"/>
          </a:p>
        </p:txBody>
      </p:sp>
      <p:sp>
        <p:nvSpPr>
          <p:cNvPr id="73" name="Shape 71"/>
          <p:cNvSpPr/>
          <p:nvPr/>
        </p:nvSpPr>
        <p:spPr>
          <a:xfrm>
            <a:off x="502920" y="5623560"/>
            <a:ext cx="228600" cy="228600"/>
          </a:xfrm>
          <a:prstGeom prst="roundRect">
            <a:avLst>
              <a:gd name="adj" fmla="val 12000"/>
            </a:avLst>
          </a:prstGeom>
          <a:solidFill>
            <a:srgbClr val="8B1E1E"/>
          </a:solidFill>
          <a:ln w="6350">
            <a:solidFill>
              <a:srgbClr val="2C1810"/>
            </a:solidFill>
            <a:prstDash val="solid"/>
          </a:ln>
        </p:spPr>
      </p:sp>
      <p:sp>
        <p:nvSpPr>
          <p:cNvPr id="74" name="Text 72"/>
          <p:cNvSpPr txBox="1"/>
          <p:nvPr/>
        </p:nvSpPr>
        <p:spPr>
          <a:xfrm>
            <a:off x="822960" y="5596128"/>
            <a:ext cx="4572000" cy="274320"/>
          </a:xfrm>
          <a:prstGeom prst="rect">
            <a:avLst/>
          </a:prstGeom>
          <a:noFill/>
          <a:ln/>
        </p:spPr>
        <p:txBody>
          <a:bodyPr wrap="square" rtlCol="0" anchor="ctr"/>
          <a:lstStyle/>
          <a:p>
            <a:pPr indent="0" marL="0">
              <a:buNone/>
            </a:pPr>
            <a:r>
              <a:rPr lang="en-US" sz="1000" b="1" spc="100" kern="0" dirty="0">
                <a:solidFill>
                  <a:srgbClr val="8B1E1E"/>
                </a:solidFill>
                <a:latin typeface="DM Sans" pitchFamily="34" charset="0"/>
                <a:ea typeface="DM Sans" pitchFamily="34" charset="-122"/>
                <a:cs typeface="DM Sans" pitchFamily="34" charset="-120"/>
              </a:rPr>
              <a:t>AI &amp; data</a:t>
            </a:r>
            <a:endParaRPr lang="en-US" sz="1000" dirty="0"/>
          </a:p>
        </p:txBody>
      </p:sp>
      <p:sp>
        <p:nvSpPr>
          <p:cNvPr id="75" name="Text 73"/>
          <p:cNvSpPr txBox="1"/>
          <p:nvPr/>
        </p:nvSpPr>
        <p:spPr>
          <a:xfrm>
            <a:off x="7955280" y="1737360"/>
            <a:ext cx="3840480" cy="274320"/>
          </a:xfrm>
          <a:prstGeom prst="rect">
            <a:avLst/>
          </a:prstGeom>
          <a:noFill/>
          <a:ln/>
        </p:spPr>
        <p:txBody>
          <a:bodyPr wrap="square" rtlCol="0" anchor="ctr"/>
          <a:lstStyle/>
          <a:p>
            <a:pPr indent="0" marL="0">
              <a:buNone/>
            </a:pPr>
            <a:r>
              <a:rPr lang="en-US" sz="1100" b="1" spc="100" kern="0" dirty="0">
                <a:solidFill>
                  <a:srgbClr val="2F5D3A"/>
                </a:solidFill>
                <a:latin typeface="Fraunces" pitchFamily="34" charset="0"/>
                <a:ea typeface="Fraunces" pitchFamily="34" charset="-122"/>
                <a:cs typeface="Fraunces" pitchFamily="34" charset="-120"/>
              </a:rPr>
              <a:t>FRONTEND &amp; CLIENT INTELLIGENCE</a:t>
            </a:r>
            <a:endParaRPr lang="en-US" sz="1100" dirty="0"/>
          </a:p>
        </p:txBody>
      </p:sp>
      <p:sp>
        <p:nvSpPr>
          <p:cNvPr id="76" name="Text 74"/>
          <p:cNvSpPr txBox="1"/>
          <p:nvPr/>
        </p:nvSpPr>
        <p:spPr>
          <a:xfrm>
            <a:off x="7955280" y="2057400"/>
            <a:ext cx="3840480" cy="1463040"/>
          </a:xfrm>
          <a:prstGeom prst="rect">
            <a:avLst/>
          </a:prstGeom>
          <a:noFill/>
          <a:ln/>
        </p:spPr>
        <p:txBody>
          <a:bodyPr wrap="square" rtlCol="0" anchor="ctr"/>
          <a:lstStyle/>
          <a:p>
            <a:pPr indent="0" marL="0">
              <a:lnSpc>
                <a:spcPct val="120000"/>
              </a:lnSpc>
              <a:buNone/>
            </a:pPr>
            <a:r>
              <a:rPr lang="en-US" sz="950" dirty="0">
                <a:solidFill>
                  <a:srgbClr val="2C1810"/>
                </a:solidFill>
                <a:latin typeface="DM Sans" pitchFamily="34" charset="0"/>
                <a:ea typeface="DM Sans" pitchFamily="34" charset="-122"/>
                <a:cs typeface="DM Sans" pitchFamily="34" charset="-120"/>
              </a:rPr>
              <a:t>Next.js 16 App Router · React 19 · TypeScript · Tailwind v4 · Zustand + localStorage. React Three Fiber + drei for the 3D knowledge graph. MapLibre GL + CARTO (no API key) for the radar. Web Speech API for narration.</a:t>
            </a:r>
            <a:endParaRPr lang="en-US" sz="950" dirty="0"/>
          </a:p>
        </p:txBody>
      </p:sp>
      <p:sp>
        <p:nvSpPr>
          <p:cNvPr id="77" name="Text 75"/>
          <p:cNvSpPr txBox="1"/>
          <p:nvPr/>
        </p:nvSpPr>
        <p:spPr>
          <a:xfrm>
            <a:off x="7955280" y="3703320"/>
            <a:ext cx="3840480" cy="274320"/>
          </a:xfrm>
          <a:prstGeom prst="rect">
            <a:avLst/>
          </a:prstGeom>
          <a:noFill/>
          <a:ln/>
        </p:spPr>
        <p:txBody>
          <a:bodyPr wrap="square" rtlCol="0" anchor="ctr"/>
          <a:lstStyle/>
          <a:p>
            <a:pPr indent="0" marL="0">
              <a:buNone/>
            </a:pPr>
            <a:r>
              <a:rPr lang="en-US" sz="1100" b="1" spc="100" kern="0" dirty="0">
                <a:solidFill>
                  <a:srgbClr val="8B1E1E"/>
                </a:solidFill>
                <a:latin typeface="Fraunces" pitchFamily="34" charset="0"/>
                <a:ea typeface="Fraunces" pitchFamily="34" charset="-122"/>
                <a:cs typeface="Fraunces" pitchFamily="34" charset="-120"/>
              </a:rPr>
              <a:t>AI &amp; DATA</a:t>
            </a:r>
            <a:endParaRPr lang="en-US" sz="1100" dirty="0"/>
          </a:p>
        </p:txBody>
      </p:sp>
      <p:sp>
        <p:nvSpPr>
          <p:cNvPr id="78" name="Text 76"/>
          <p:cNvSpPr txBox="1"/>
          <p:nvPr/>
        </p:nvSpPr>
        <p:spPr>
          <a:xfrm>
            <a:off x="7955280" y="4023360"/>
            <a:ext cx="3840480" cy="1737360"/>
          </a:xfrm>
          <a:prstGeom prst="rect">
            <a:avLst/>
          </a:prstGeom>
          <a:noFill/>
          <a:ln/>
        </p:spPr>
        <p:txBody>
          <a:bodyPr wrap="square" rtlCol="0" anchor="ctr"/>
          <a:lstStyle/>
          <a:p>
            <a:pPr indent="0" marL="0">
              <a:lnSpc>
                <a:spcPct val="120000"/>
              </a:lnSpc>
              <a:buNone/>
            </a:pPr>
            <a:r>
              <a:rPr lang="en-US" sz="950" dirty="0">
                <a:solidFill>
                  <a:srgbClr val="2C1810"/>
                </a:solidFill>
                <a:latin typeface="DM Sans" pitchFamily="34" charset="0"/>
                <a:ea typeface="DM Sans" pitchFamily="34" charset="-122"/>
                <a:cs typeface="DM Sans" pitchFamily="34" charset="-120"/>
              </a:rPr>
              <a:t>Single /api/chat route dispatches to an orchestrator running 6 Gemini modes with Zod-validated tool schemas and toolChoice=required. Tavily powers ingredient RAG. Dataset: 16 heritage nodes + 12 dish knowledge graphs curated by hand.</a:t>
            </a:r>
            <a:endParaRPr lang="en-US" sz="950" dirty="0"/>
          </a:p>
        </p:txBody>
      </p:sp>
      <p:sp>
        <p:nvSpPr>
          <p:cNvPr id="79" name="Text 77"/>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80" name="Text 78"/>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( 08 )</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48640" y="548640"/>
            <a:ext cx="11185855" cy="914400"/>
          </a:xfrm>
          <a:prstGeom prst="rect">
            <a:avLst/>
          </a:prstGeom>
          <a:noFill/>
          <a:ln/>
        </p:spPr>
        <p:txBody>
          <a:bodyPr wrap="square" rtlCol="0" anchor="t"/>
          <a:lstStyle/>
          <a:p>
            <a:pPr algn="l" indent="0" marL="0">
              <a:buNone/>
            </a:pPr>
            <a:r>
              <a:rPr lang="en-US" sz="4200" b="1" dirty="0">
                <a:solidFill>
                  <a:srgbClr val="C4A882"/>
                </a:solidFill>
                <a:latin typeface="Fraunces" pitchFamily="34" charset="0"/>
                <a:ea typeface="Fraunces" pitchFamily="34" charset="-122"/>
                <a:cs typeface="Fraunces" pitchFamily="34" charset="-120"/>
              </a:rPr>
              <a:t>WHY WE WIN</a:t>
            </a:r>
            <a:endParaRPr lang="en-US" sz="4200" dirty="0"/>
          </a:p>
        </p:txBody>
      </p:sp>
      <p:sp>
        <p:nvSpPr>
          <p:cNvPr id="26" name="Text 24"/>
          <p:cNvSpPr txBox="1"/>
          <p:nvPr/>
        </p:nvSpPr>
        <p:spPr>
          <a:xfrm>
            <a:off x="502920" y="502920"/>
            <a:ext cx="11185855" cy="914400"/>
          </a:xfrm>
          <a:prstGeom prst="rect">
            <a:avLst/>
          </a:prstGeom>
          <a:noFill/>
          <a:ln/>
        </p:spPr>
        <p:txBody>
          <a:bodyPr wrap="square" rtlCol="0" anchor="t"/>
          <a:lstStyle/>
          <a:p>
            <a:pPr algn="l" indent="0" marL="0">
              <a:buNone/>
            </a:pPr>
            <a:r>
              <a:rPr lang="en-US" sz="4200" b="1" dirty="0">
                <a:solidFill>
                  <a:srgbClr val="8B1E1E"/>
                </a:solidFill>
                <a:latin typeface="Fraunces" pitchFamily="34" charset="0"/>
                <a:ea typeface="Fraunces" pitchFamily="34" charset="-122"/>
                <a:cs typeface="Fraunces" pitchFamily="34" charset="-120"/>
              </a:rPr>
              <a:t>WHY WE WIN</a:t>
            </a:r>
            <a:endParaRPr lang="en-US" sz="4200" dirty="0"/>
          </a:p>
        </p:txBody>
      </p:sp>
      <p:sp>
        <p:nvSpPr>
          <p:cNvPr id="27" name="Text 25"/>
          <p:cNvSpPr txBox="1"/>
          <p:nvPr/>
        </p:nvSpPr>
        <p:spPr>
          <a:xfrm>
            <a:off x="502920" y="384048"/>
            <a:ext cx="11185855" cy="274320"/>
          </a:xfrm>
          <a:prstGeom prst="rect">
            <a:avLst/>
          </a:prstGeom>
          <a:noFill/>
          <a:ln/>
        </p:spPr>
        <p:txBody>
          <a:bodyPr wrap="square" rtlCol="0" anchor="ctr"/>
          <a:lstStyle/>
          <a:p>
            <a:pPr algn="l" indent="0" marL="0">
              <a:buNone/>
            </a:pPr>
            <a:r>
              <a:rPr lang="en-US" sz="1100" b="1" spc="400" kern="0" dirty="0">
                <a:solidFill>
                  <a:srgbClr val="8B1E1E"/>
                </a:solidFill>
                <a:latin typeface="DM Sans" pitchFamily="34" charset="0"/>
                <a:ea typeface="DM Sans" pitchFamily="34" charset="-122"/>
                <a:cs typeface="DM Sans" pitchFamily="34" charset="-120"/>
              </a:rPr>
              <a:t>HYPER-LOCAL IMPACT · RESPONSIBLE AI · CULTURAL PRESERVATION</a:t>
            </a:r>
            <a:endParaRPr lang="en-US" sz="1100" dirty="0"/>
          </a:p>
        </p:txBody>
      </p:sp>
      <p:sp>
        <p:nvSpPr>
          <p:cNvPr id="28" name="Shape 26"/>
          <p:cNvSpPr/>
          <p:nvPr/>
        </p:nvSpPr>
        <p:spPr>
          <a:xfrm>
            <a:off x="868680" y="1554480"/>
            <a:ext cx="10454335" cy="594360"/>
          </a:xfrm>
          <a:prstGeom prst="roundRect">
            <a:avLst>
              <a:gd name="adj" fmla="val 12308"/>
            </a:avLst>
          </a:prstGeom>
          <a:solidFill>
            <a:srgbClr val="8B1E1E"/>
          </a:solidFill>
          <a:ln w="15875">
            <a:solidFill>
              <a:srgbClr val="2C1810"/>
            </a:solidFill>
            <a:prstDash val="solid"/>
          </a:ln>
        </p:spPr>
      </p:sp>
      <p:sp>
        <p:nvSpPr>
          <p:cNvPr id="29" name="Text 27"/>
          <p:cNvSpPr txBox="1"/>
          <p:nvPr/>
        </p:nvSpPr>
        <p:spPr>
          <a:xfrm>
            <a:off x="868680" y="1554480"/>
            <a:ext cx="10454335" cy="594360"/>
          </a:xfrm>
          <a:prstGeom prst="rect">
            <a:avLst/>
          </a:prstGeom>
          <a:noFill/>
          <a:ln/>
        </p:spPr>
        <p:txBody>
          <a:bodyPr wrap="square" rtlCol="0" anchor="ctr"/>
          <a:lstStyle/>
          <a:p>
            <a:pPr algn="ctr" indent="0" marL="0">
              <a:buNone/>
            </a:pPr>
            <a:r>
              <a:rPr lang="en-US" sz="2200" b="1" spc="400" kern="0" dirty="0">
                <a:solidFill>
                  <a:srgbClr val="F4ECD8"/>
                </a:solidFill>
                <a:latin typeface="Fraunces" pitchFamily="34" charset="0"/>
                <a:ea typeface="Fraunces" pitchFamily="34" charset="-122"/>
                <a:cs typeface="Fraunces" pitchFamily="34" charset="-120"/>
              </a:rPr>
              <a:t>MakanMate</a:t>
            </a:r>
            <a:endParaRPr lang="en-US" sz="2200" dirty="0"/>
          </a:p>
        </p:txBody>
      </p:sp>
      <p:sp>
        <p:nvSpPr>
          <p:cNvPr id="30" name="Shape 28"/>
          <p:cNvSpPr/>
          <p:nvPr/>
        </p:nvSpPr>
        <p:spPr>
          <a:xfrm>
            <a:off x="1043788" y="3246120"/>
            <a:ext cx="2606040" cy="2286000"/>
          </a:xfrm>
          <a:prstGeom prst="roundRect">
            <a:avLst>
              <a:gd name="adj" fmla="val 2000"/>
            </a:avLst>
          </a:prstGeom>
          <a:solidFill>
            <a:srgbClr val="EAE0C2"/>
          </a:solidFill>
          <a:ln w="15875">
            <a:solidFill>
              <a:srgbClr val="8B1E1E"/>
            </a:solidFill>
            <a:prstDash val="solid"/>
          </a:ln>
        </p:spPr>
      </p:sp>
      <p:sp>
        <p:nvSpPr>
          <p:cNvPr id="31" name="Shape 29"/>
          <p:cNvSpPr/>
          <p:nvPr/>
        </p:nvSpPr>
        <p:spPr>
          <a:xfrm>
            <a:off x="860908" y="3108960"/>
            <a:ext cx="2971800" cy="182880"/>
          </a:xfrm>
          <a:prstGeom prst="rect">
            <a:avLst/>
          </a:prstGeom>
          <a:solidFill>
            <a:srgbClr val="8B1E1E"/>
          </a:solidFill>
          <a:ln w="9525">
            <a:solidFill>
              <a:srgbClr val="2C1810"/>
            </a:solidFill>
            <a:prstDash val="solid"/>
          </a:ln>
        </p:spPr>
      </p:sp>
      <p:sp>
        <p:nvSpPr>
          <p:cNvPr id="32" name="Shape 30"/>
          <p:cNvSpPr/>
          <p:nvPr/>
        </p:nvSpPr>
        <p:spPr>
          <a:xfrm>
            <a:off x="860908" y="5349240"/>
            <a:ext cx="2971800" cy="182880"/>
          </a:xfrm>
          <a:prstGeom prst="rect">
            <a:avLst/>
          </a:prstGeom>
          <a:solidFill>
            <a:srgbClr val="8B1E1E"/>
          </a:solidFill>
          <a:ln w="9525">
            <a:solidFill>
              <a:srgbClr val="2C1810"/>
            </a:solidFill>
            <a:prstDash val="solid"/>
          </a:ln>
        </p:spPr>
      </p:sp>
      <p:sp>
        <p:nvSpPr>
          <p:cNvPr id="33" name="Text 31"/>
          <p:cNvSpPr txBox="1"/>
          <p:nvPr/>
        </p:nvSpPr>
        <p:spPr>
          <a:xfrm>
            <a:off x="586588" y="2514600"/>
            <a:ext cx="3520440" cy="411480"/>
          </a:xfrm>
          <a:prstGeom prst="rect">
            <a:avLst/>
          </a:prstGeom>
          <a:noFill/>
          <a:ln/>
        </p:spPr>
        <p:txBody>
          <a:bodyPr wrap="square" rtlCol="0" anchor="ctr"/>
          <a:lstStyle/>
          <a:p>
            <a:pPr algn="ctr" indent="0" marL="0">
              <a:buNone/>
            </a:pPr>
            <a:r>
              <a:rPr lang="en-US" sz="1300" b="1" spc="100" kern="0" dirty="0">
                <a:solidFill>
                  <a:srgbClr val="8B1E1E"/>
                </a:solidFill>
                <a:latin typeface="Fraunces" pitchFamily="34" charset="0"/>
                <a:ea typeface="Fraunces" pitchFamily="34" charset="-122"/>
                <a:cs typeface="Fraunces" pitchFamily="34" charset="-120"/>
              </a:rPr>
              <a:t>HYPER-LOCAL IMPACT</a:t>
            </a:r>
            <a:endParaRPr lang="en-US" sz="1300" dirty="0"/>
          </a:p>
        </p:txBody>
      </p:sp>
      <p:sp>
        <p:nvSpPr>
          <p:cNvPr id="34" name="Shape 32"/>
          <p:cNvSpPr/>
          <p:nvPr/>
        </p:nvSpPr>
        <p:spPr>
          <a:xfrm>
            <a:off x="2003908" y="3355848"/>
            <a:ext cx="320040" cy="320040"/>
          </a:xfrm>
          <a:prstGeom prst="ellipse">
            <a:avLst/>
          </a:prstGeom>
          <a:solidFill>
            <a:srgbClr val="8B1E1E"/>
          </a:solidFill>
          <a:ln w="9525">
            <a:solidFill>
              <a:srgbClr val="2C1810"/>
            </a:solidFill>
            <a:prstDash val="solid"/>
          </a:ln>
        </p:spPr>
      </p:sp>
      <p:sp>
        <p:nvSpPr>
          <p:cNvPr id="35" name="Shape 33"/>
          <p:cNvSpPr/>
          <p:nvPr/>
        </p:nvSpPr>
        <p:spPr>
          <a:xfrm>
            <a:off x="1859890" y="3595878"/>
            <a:ext cx="608076" cy="352044"/>
          </a:xfrm>
          <a:prstGeom prst="roundRect">
            <a:avLst>
              <a:gd name="adj" fmla="val 25974"/>
            </a:avLst>
          </a:prstGeom>
          <a:solidFill>
            <a:srgbClr val="8B1E1E"/>
          </a:solidFill>
          <a:ln w="9525">
            <a:solidFill>
              <a:srgbClr val="2C1810"/>
            </a:solidFill>
            <a:prstDash val="solid"/>
          </a:ln>
        </p:spPr>
      </p:sp>
      <p:sp>
        <p:nvSpPr>
          <p:cNvPr id="36" name="Shape 34"/>
          <p:cNvSpPr/>
          <p:nvPr/>
        </p:nvSpPr>
        <p:spPr>
          <a:xfrm>
            <a:off x="2072488" y="3776472"/>
            <a:ext cx="548640" cy="365760"/>
          </a:xfrm>
          <a:prstGeom prst="roundRect">
            <a:avLst>
              <a:gd name="adj" fmla="val 12500"/>
            </a:avLst>
          </a:prstGeom>
          <a:solidFill>
            <a:srgbClr val="D4A947"/>
          </a:solidFill>
          <a:ln w="6350">
            <a:solidFill>
              <a:srgbClr val="2C1810"/>
            </a:solidFill>
            <a:prstDash val="solid"/>
          </a:ln>
        </p:spPr>
      </p:sp>
      <p:sp>
        <p:nvSpPr>
          <p:cNvPr id="37" name="Shape 35"/>
          <p:cNvSpPr/>
          <p:nvPr/>
        </p:nvSpPr>
        <p:spPr>
          <a:xfrm>
            <a:off x="1889608" y="4114800"/>
            <a:ext cx="320040" cy="137160"/>
          </a:xfrm>
          <a:prstGeom prst="ellipse">
            <a:avLst/>
          </a:prstGeom>
          <a:solidFill>
            <a:srgbClr val="2C1810"/>
          </a:solidFill>
          <a:ln/>
        </p:spPr>
      </p:sp>
      <p:sp>
        <p:nvSpPr>
          <p:cNvPr id="38" name="Shape 36"/>
          <p:cNvSpPr/>
          <p:nvPr/>
        </p:nvSpPr>
        <p:spPr>
          <a:xfrm>
            <a:off x="2712568" y="3511296"/>
            <a:ext cx="182880" cy="182880"/>
          </a:xfrm>
          <a:prstGeom prst="ellipse">
            <a:avLst/>
          </a:prstGeom>
          <a:solidFill>
            <a:srgbClr val="2F5D3A"/>
          </a:solidFill>
          <a:ln w="9525">
            <a:solidFill>
              <a:srgbClr val="2C1810"/>
            </a:solidFill>
            <a:prstDash val="solid"/>
          </a:ln>
        </p:spPr>
      </p:sp>
      <p:sp>
        <p:nvSpPr>
          <p:cNvPr id="39" name="Shape 37"/>
          <p:cNvSpPr/>
          <p:nvPr/>
        </p:nvSpPr>
        <p:spPr>
          <a:xfrm>
            <a:off x="2630272" y="3648456"/>
            <a:ext cx="347472" cy="201168"/>
          </a:xfrm>
          <a:prstGeom prst="roundRect">
            <a:avLst>
              <a:gd name="adj" fmla="val 45455"/>
            </a:avLst>
          </a:prstGeom>
          <a:solidFill>
            <a:srgbClr val="2F5D3A"/>
          </a:solidFill>
          <a:ln w="9525">
            <a:solidFill>
              <a:srgbClr val="2C1810"/>
            </a:solidFill>
            <a:prstDash val="solid"/>
          </a:ln>
        </p:spPr>
      </p:sp>
      <p:sp>
        <p:nvSpPr>
          <p:cNvPr id="40" name="Shape 38"/>
          <p:cNvSpPr/>
          <p:nvPr/>
        </p:nvSpPr>
        <p:spPr>
          <a:xfrm>
            <a:off x="2941168" y="3511296"/>
            <a:ext cx="182880" cy="182880"/>
          </a:xfrm>
          <a:prstGeom prst="ellipse">
            <a:avLst/>
          </a:prstGeom>
          <a:solidFill>
            <a:srgbClr val="4A7C59"/>
          </a:solidFill>
          <a:ln w="9525">
            <a:solidFill>
              <a:srgbClr val="2C1810"/>
            </a:solidFill>
            <a:prstDash val="solid"/>
          </a:ln>
        </p:spPr>
      </p:sp>
      <p:sp>
        <p:nvSpPr>
          <p:cNvPr id="41" name="Shape 39"/>
          <p:cNvSpPr/>
          <p:nvPr/>
        </p:nvSpPr>
        <p:spPr>
          <a:xfrm>
            <a:off x="2858872" y="3648456"/>
            <a:ext cx="347472" cy="201168"/>
          </a:xfrm>
          <a:prstGeom prst="roundRect">
            <a:avLst>
              <a:gd name="adj" fmla="val 45455"/>
            </a:avLst>
          </a:prstGeom>
          <a:solidFill>
            <a:srgbClr val="4A7C59"/>
          </a:solidFill>
          <a:ln w="9525">
            <a:solidFill>
              <a:srgbClr val="2C1810"/>
            </a:solidFill>
            <a:prstDash val="solid"/>
          </a:ln>
        </p:spPr>
      </p:sp>
      <p:sp>
        <p:nvSpPr>
          <p:cNvPr id="42" name="Shape 40"/>
          <p:cNvSpPr/>
          <p:nvPr/>
        </p:nvSpPr>
        <p:spPr>
          <a:xfrm>
            <a:off x="3151480" y="3511296"/>
            <a:ext cx="182880" cy="182880"/>
          </a:xfrm>
          <a:prstGeom prst="ellipse">
            <a:avLst/>
          </a:prstGeom>
          <a:solidFill>
            <a:srgbClr val="2F5D3A"/>
          </a:solidFill>
          <a:ln w="9525">
            <a:solidFill>
              <a:srgbClr val="2C1810"/>
            </a:solidFill>
            <a:prstDash val="solid"/>
          </a:ln>
        </p:spPr>
      </p:sp>
      <p:sp>
        <p:nvSpPr>
          <p:cNvPr id="43" name="Shape 41"/>
          <p:cNvSpPr/>
          <p:nvPr/>
        </p:nvSpPr>
        <p:spPr>
          <a:xfrm>
            <a:off x="3069184" y="3648456"/>
            <a:ext cx="347472" cy="201168"/>
          </a:xfrm>
          <a:prstGeom prst="roundRect">
            <a:avLst>
              <a:gd name="adj" fmla="val 45455"/>
            </a:avLst>
          </a:prstGeom>
          <a:solidFill>
            <a:srgbClr val="2F5D3A"/>
          </a:solidFill>
          <a:ln w="9525">
            <a:solidFill>
              <a:srgbClr val="2C1810"/>
            </a:solidFill>
            <a:prstDash val="solid"/>
          </a:ln>
        </p:spPr>
      </p:sp>
      <p:sp>
        <p:nvSpPr>
          <p:cNvPr id="44" name="Text 42"/>
          <p:cNvSpPr txBox="1"/>
          <p:nvPr/>
        </p:nvSpPr>
        <p:spPr>
          <a:xfrm>
            <a:off x="860908" y="4434840"/>
            <a:ext cx="2971800" cy="914400"/>
          </a:xfrm>
          <a:prstGeom prst="rect">
            <a:avLst/>
          </a:prstGeom>
          <a:noFill/>
          <a:ln/>
        </p:spPr>
        <p:txBody>
          <a:bodyPr wrap="square" rtlCol="0" anchor="t"/>
          <a:lstStyle/>
          <a:p>
            <a:pPr algn="ctr" indent="0" marL="0">
              <a:lnSpc>
                <a:spcPct val="115000"/>
              </a:lnSpc>
              <a:buNone/>
            </a:pPr>
            <a:r>
              <a:rPr lang="en-US" sz="950" dirty="0">
                <a:solidFill>
                  <a:srgbClr val="2C1810"/>
                </a:solidFill>
                <a:latin typeface="DM Sans" pitchFamily="34" charset="0"/>
                <a:ea typeface="DM Sans" pitchFamily="34" charset="-122"/>
                <a:cs typeface="DM Sans" pitchFamily="34" charset="-120"/>
              </a:rPr>
              <a:t>Empowers Malaysian B40 hawkers without requiring new tech, reprinted menus, or vendor onboarding. Inverted-Ranking sends tourists to the most invisible heritage stalls, not the loudest.</a:t>
            </a:r>
            <a:endParaRPr lang="en-US" sz="950" dirty="0"/>
          </a:p>
        </p:txBody>
      </p:sp>
      <p:sp>
        <p:nvSpPr>
          <p:cNvPr id="45" name="Shape 43"/>
          <p:cNvSpPr/>
          <p:nvPr/>
        </p:nvSpPr>
        <p:spPr>
          <a:xfrm>
            <a:off x="4792828" y="3246120"/>
            <a:ext cx="2606040" cy="2286000"/>
          </a:xfrm>
          <a:prstGeom prst="roundRect">
            <a:avLst>
              <a:gd name="adj" fmla="val 2000"/>
            </a:avLst>
          </a:prstGeom>
          <a:solidFill>
            <a:srgbClr val="EAE0C2"/>
          </a:solidFill>
          <a:ln w="15875">
            <a:solidFill>
              <a:srgbClr val="2F5D3A"/>
            </a:solidFill>
            <a:prstDash val="solid"/>
          </a:ln>
        </p:spPr>
      </p:sp>
      <p:sp>
        <p:nvSpPr>
          <p:cNvPr id="46" name="Shape 44"/>
          <p:cNvSpPr/>
          <p:nvPr/>
        </p:nvSpPr>
        <p:spPr>
          <a:xfrm>
            <a:off x="4609948" y="3108960"/>
            <a:ext cx="2971800" cy="182880"/>
          </a:xfrm>
          <a:prstGeom prst="rect">
            <a:avLst/>
          </a:prstGeom>
          <a:solidFill>
            <a:srgbClr val="2F5D3A"/>
          </a:solidFill>
          <a:ln w="9525">
            <a:solidFill>
              <a:srgbClr val="2C1810"/>
            </a:solidFill>
            <a:prstDash val="solid"/>
          </a:ln>
        </p:spPr>
      </p:sp>
      <p:sp>
        <p:nvSpPr>
          <p:cNvPr id="47" name="Shape 45"/>
          <p:cNvSpPr/>
          <p:nvPr/>
        </p:nvSpPr>
        <p:spPr>
          <a:xfrm>
            <a:off x="4609948" y="5349240"/>
            <a:ext cx="2971800" cy="182880"/>
          </a:xfrm>
          <a:prstGeom prst="rect">
            <a:avLst/>
          </a:prstGeom>
          <a:solidFill>
            <a:srgbClr val="2F5D3A"/>
          </a:solidFill>
          <a:ln w="9525">
            <a:solidFill>
              <a:srgbClr val="2C1810"/>
            </a:solidFill>
            <a:prstDash val="solid"/>
          </a:ln>
        </p:spPr>
      </p:sp>
      <p:sp>
        <p:nvSpPr>
          <p:cNvPr id="48" name="Text 46"/>
          <p:cNvSpPr txBox="1"/>
          <p:nvPr/>
        </p:nvSpPr>
        <p:spPr>
          <a:xfrm>
            <a:off x="4335628" y="2514600"/>
            <a:ext cx="3520440" cy="411480"/>
          </a:xfrm>
          <a:prstGeom prst="rect">
            <a:avLst/>
          </a:prstGeom>
          <a:noFill/>
          <a:ln/>
        </p:spPr>
        <p:txBody>
          <a:bodyPr wrap="square" rtlCol="0" anchor="ctr"/>
          <a:lstStyle/>
          <a:p>
            <a:pPr algn="ctr" indent="0" marL="0">
              <a:buNone/>
            </a:pPr>
            <a:r>
              <a:rPr lang="en-US" sz="1300" b="1" spc="100" kern="0" dirty="0">
                <a:solidFill>
                  <a:srgbClr val="2F5D3A"/>
                </a:solidFill>
                <a:latin typeface="Fraunces" pitchFamily="34" charset="0"/>
                <a:ea typeface="Fraunces" pitchFamily="34" charset="-122"/>
                <a:cs typeface="Fraunces" pitchFamily="34" charset="-120"/>
              </a:rPr>
              <a:t>RESPONSIBLE AI</a:t>
            </a:r>
            <a:endParaRPr lang="en-US" sz="1300" dirty="0"/>
          </a:p>
        </p:txBody>
      </p:sp>
      <p:sp>
        <p:nvSpPr>
          <p:cNvPr id="49" name="Shape 47"/>
          <p:cNvSpPr/>
          <p:nvPr/>
        </p:nvSpPr>
        <p:spPr>
          <a:xfrm rot="10800000">
            <a:off x="5730088" y="3246120"/>
            <a:ext cx="731520" cy="914400"/>
          </a:xfrm>
          <a:prstGeom prst="pentagon">
            <a:avLst/>
          </a:prstGeom>
          <a:solidFill>
            <a:srgbClr val="2F5D3A"/>
          </a:solidFill>
          <a:ln w="9525">
            <a:solidFill>
              <a:srgbClr val="2C1810"/>
            </a:solidFill>
            <a:prstDash val="solid"/>
          </a:ln>
        </p:spPr>
      </p:sp>
      <p:sp>
        <p:nvSpPr>
          <p:cNvPr id="50" name="Shape 48"/>
          <p:cNvSpPr/>
          <p:nvPr/>
        </p:nvSpPr>
        <p:spPr>
          <a:xfrm>
            <a:off x="5935828" y="3726180"/>
            <a:ext cx="137160" cy="160020"/>
          </a:xfrm>
          <a:prstGeom prst="line">
            <a:avLst/>
          </a:prstGeom>
          <a:noFill/>
          <a:ln w="25400">
            <a:solidFill>
              <a:srgbClr val="F4ECD8"/>
            </a:solidFill>
            <a:prstDash val="solid"/>
          </a:ln>
        </p:spPr>
      </p:sp>
      <p:sp>
        <p:nvSpPr>
          <p:cNvPr id="51" name="Shape 49"/>
          <p:cNvSpPr/>
          <p:nvPr/>
        </p:nvSpPr>
        <p:spPr>
          <a:xfrm>
            <a:off x="6072988" y="3886200"/>
            <a:ext cx="228600" cy="-251460"/>
          </a:xfrm>
          <a:prstGeom prst="line">
            <a:avLst/>
          </a:prstGeom>
          <a:noFill/>
          <a:ln w="25400">
            <a:solidFill>
              <a:srgbClr val="F4ECD8"/>
            </a:solidFill>
            <a:prstDash val="solid"/>
          </a:ln>
        </p:spPr>
      </p:sp>
      <p:sp>
        <p:nvSpPr>
          <p:cNvPr id="52" name="Shape 50"/>
          <p:cNvSpPr/>
          <p:nvPr/>
        </p:nvSpPr>
        <p:spPr>
          <a:xfrm>
            <a:off x="5309464" y="3493008"/>
            <a:ext cx="292608" cy="146304"/>
          </a:xfrm>
          <a:prstGeom prst="ellipse">
            <a:avLst/>
          </a:prstGeom>
          <a:solidFill>
            <a:srgbClr val="B83A3A"/>
          </a:solidFill>
          <a:ln w="6350">
            <a:solidFill>
              <a:srgbClr val="2C1810"/>
            </a:solidFill>
            <a:prstDash val="solid"/>
          </a:ln>
        </p:spPr>
      </p:sp>
      <p:sp>
        <p:nvSpPr>
          <p:cNvPr id="53" name="Shape 51"/>
          <p:cNvSpPr/>
          <p:nvPr/>
        </p:nvSpPr>
        <p:spPr>
          <a:xfrm>
            <a:off x="5497149" y="3524779"/>
            <a:ext cx="72417" cy="-72417"/>
          </a:xfrm>
          <a:prstGeom prst="line">
            <a:avLst/>
          </a:prstGeom>
          <a:noFill/>
          <a:ln w="12700">
            <a:solidFill>
              <a:srgbClr val="2C1810"/>
            </a:solidFill>
            <a:prstDash val="solid"/>
          </a:ln>
        </p:spPr>
      </p:sp>
      <p:sp>
        <p:nvSpPr>
          <p:cNvPr id="54" name="Shape 52"/>
          <p:cNvSpPr/>
          <p:nvPr/>
        </p:nvSpPr>
        <p:spPr>
          <a:xfrm>
            <a:off x="5497149" y="3607541"/>
            <a:ext cx="72417" cy="72417"/>
          </a:xfrm>
          <a:prstGeom prst="line">
            <a:avLst/>
          </a:prstGeom>
          <a:noFill/>
          <a:ln w="12700">
            <a:solidFill>
              <a:srgbClr val="2C1810"/>
            </a:solidFill>
            <a:prstDash val="solid"/>
          </a:ln>
        </p:spPr>
      </p:sp>
      <p:sp>
        <p:nvSpPr>
          <p:cNvPr id="55" name="Shape 53"/>
          <p:cNvSpPr/>
          <p:nvPr/>
        </p:nvSpPr>
        <p:spPr>
          <a:xfrm>
            <a:off x="5414387" y="3524779"/>
            <a:ext cx="-72417" cy="-72417"/>
          </a:xfrm>
          <a:prstGeom prst="line">
            <a:avLst/>
          </a:prstGeom>
          <a:noFill/>
          <a:ln w="12700">
            <a:solidFill>
              <a:srgbClr val="2C1810"/>
            </a:solidFill>
            <a:prstDash val="solid"/>
          </a:ln>
        </p:spPr>
      </p:sp>
      <p:sp>
        <p:nvSpPr>
          <p:cNvPr id="56" name="Shape 54"/>
          <p:cNvSpPr/>
          <p:nvPr/>
        </p:nvSpPr>
        <p:spPr>
          <a:xfrm>
            <a:off x="5414387" y="3607541"/>
            <a:ext cx="-72417" cy="72417"/>
          </a:xfrm>
          <a:prstGeom prst="line">
            <a:avLst/>
          </a:prstGeom>
          <a:noFill/>
          <a:ln w="12700">
            <a:solidFill>
              <a:srgbClr val="2C1810"/>
            </a:solidFill>
            <a:prstDash val="solid"/>
          </a:ln>
        </p:spPr>
      </p:sp>
      <p:sp>
        <p:nvSpPr>
          <p:cNvPr id="57" name="Shape 55"/>
          <p:cNvSpPr/>
          <p:nvPr/>
        </p:nvSpPr>
        <p:spPr>
          <a:xfrm>
            <a:off x="5190592" y="3730752"/>
            <a:ext cx="256032" cy="128016"/>
          </a:xfrm>
          <a:prstGeom prst="ellipse">
            <a:avLst/>
          </a:prstGeom>
          <a:solidFill>
            <a:srgbClr val="B83A3A"/>
          </a:solidFill>
          <a:ln w="6350">
            <a:solidFill>
              <a:srgbClr val="2C1810"/>
            </a:solidFill>
            <a:prstDash val="solid"/>
          </a:ln>
        </p:spPr>
      </p:sp>
      <p:sp>
        <p:nvSpPr>
          <p:cNvPr id="58" name="Shape 56"/>
          <p:cNvSpPr/>
          <p:nvPr/>
        </p:nvSpPr>
        <p:spPr>
          <a:xfrm>
            <a:off x="5354816" y="3758552"/>
            <a:ext cx="63365" cy="-63365"/>
          </a:xfrm>
          <a:prstGeom prst="line">
            <a:avLst/>
          </a:prstGeom>
          <a:noFill/>
          <a:ln w="12700">
            <a:solidFill>
              <a:srgbClr val="2C1810"/>
            </a:solidFill>
            <a:prstDash val="solid"/>
          </a:ln>
        </p:spPr>
      </p:sp>
      <p:sp>
        <p:nvSpPr>
          <p:cNvPr id="59" name="Shape 57"/>
          <p:cNvSpPr/>
          <p:nvPr/>
        </p:nvSpPr>
        <p:spPr>
          <a:xfrm>
            <a:off x="5354816" y="3830968"/>
            <a:ext cx="63365" cy="63365"/>
          </a:xfrm>
          <a:prstGeom prst="line">
            <a:avLst/>
          </a:prstGeom>
          <a:noFill/>
          <a:ln w="12700">
            <a:solidFill>
              <a:srgbClr val="2C1810"/>
            </a:solidFill>
            <a:prstDash val="solid"/>
          </a:ln>
        </p:spPr>
      </p:sp>
      <p:sp>
        <p:nvSpPr>
          <p:cNvPr id="60" name="Shape 58"/>
          <p:cNvSpPr/>
          <p:nvPr/>
        </p:nvSpPr>
        <p:spPr>
          <a:xfrm>
            <a:off x="5282399" y="3758552"/>
            <a:ext cx="-63365" cy="-63365"/>
          </a:xfrm>
          <a:prstGeom prst="line">
            <a:avLst/>
          </a:prstGeom>
          <a:noFill/>
          <a:ln w="12700">
            <a:solidFill>
              <a:srgbClr val="2C1810"/>
            </a:solidFill>
            <a:prstDash val="solid"/>
          </a:ln>
        </p:spPr>
      </p:sp>
      <p:sp>
        <p:nvSpPr>
          <p:cNvPr id="61" name="Shape 59"/>
          <p:cNvSpPr/>
          <p:nvPr/>
        </p:nvSpPr>
        <p:spPr>
          <a:xfrm>
            <a:off x="5282399" y="3830968"/>
            <a:ext cx="-63365" cy="63365"/>
          </a:xfrm>
          <a:prstGeom prst="line">
            <a:avLst/>
          </a:prstGeom>
          <a:noFill/>
          <a:ln w="12700">
            <a:solidFill>
              <a:srgbClr val="2C1810"/>
            </a:solidFill>
            <a:prstDash val="solid"/>
          </a:ln>
        </p:spPr>
      </p:sp>
      <p:sp>
        <p:nvSpPr>
          <p:cNvPr id="62" name="Shape 60"/>
          <p:cNvSpPr/>
          <p:nvPr/>
        </p:nvSpPr>
        <p:spPr>
          <a:xfrm>
            <a:off x="6607912" y="3457346"/>
            <a:ext cx="256032" cy="217627"/>
          </a:xfrm>
          <a:prstGeom prst="triangle">
            <a:avLst/>
          </a:prstGeom>
          <a:solidFill>
            <a:srgbClr val="B83A3A"/>
          </a:solidFill>
          <a:ln w="9525">
            <a:solidFill>
              <a:srgbClr val="2C1810"/>
            </a:solidFill>
            <a:prstDash val="solid"/>
          </a:ln>
        </p:spPr>
      </p:sp>
      <p:sp>
        <p:nvSpPr>
          <p:cNvPr id="63" name="Text 61"/>
          <p:cNvSpPr txBox="1"/>
          <p:nvPr/>
        </p:nvSpPr>
        <p:spPr>
          <a:xfrm>
            <a:off x="6607912" y="3502152"/>
            <a:ext cx="256032" cy="153619"/>
          </a:xfrm>
          <a:prstGeom prst="rect">
            <a:avLst/>
          </a:prstGeom>
          <a:noFill/>
          <a:ln/>
        </p:spPr>
        <p:txBody>
          <a:bodyPr wrap="square" rtlCol="0" anchor="ctr"/>
          <a:lstStyle/>
          <a:p>
            <a:pPr algn="ctr" indent="0" marL="0">
              <a:buNone/>
            </a:pPr>
            <a:r>
              <a:rPr lang="en-US" sz="1200" b="1" dirty="0">
                <a:solidFill>
                  <a:srgbClr val="F4ECD8"/>
                </a:solidFill>
                <a:latin typeface="Fraunces" pitchFamily="34" charset="0"/>
                <a:ea typeface="Fraunces" pitchFamily="34" charset="-122"/>
                <a:cs typeface="Fraunces" pitchFamily="34" charset="-120"/>
              </a:rPr>
              <a:t>!</a:t>
            </a:r>
            <a:endParaRPr lang="en-US" sz="1200" dirty="0"/>
          </a:p>
        </p:txBody>
      </p:sp>
      <p:sp>
        <p:nvSpPr>
          <p:cNvPr id="64" name="Shape 62"/>
          <p:cNvSpPr/>
          <p:nvPr/>
        </p:nvSpPr>
        <p:spPr>
          <a:xfrm>
            <a:off x="5638648" y="3566160"/>
            <a:ext cx="-182880" cy="-182880"/>
          </a:xfrm>
          <a:prstGeom prst="line">
            <a:avLst/>
          </a:prstGeom>
          <a:noFill/>
          <a:ln w="12700">
            <a:solidFill>
              <a:srgbClr val="B83A3A"/>
            </a:solidFill>
            <a:prstDash val="dash"/>
          </a:ln>
        </p:spPr>
      </p:sp>
      <p:sp>
        <p:nvSpPr>
          <p:cNvPr id="65" name="Shape 63"/>
          <p:cNvSpPr/>
          <p:nvPr/>
        </p:nvSpPr>
        <p:spPr>
          <a:xfrm>
            <a:off x="6553048" y="3566160"/>
            <a:ext cx="182880" cy="-182880"/>
          </a:xfrm>
          <a:prstGeom prst="line">
            <a:avLst/>
          </a:prstGeom>
          <a:noFill/>
          <a:ln w="12700">
            <a:solidFill>
              <a:srgbClr val="B83A3A"/>
            </a:solidFill>
            <a:prstDash val="dash"/>
          </a:ln>
        </p:spPr>
      </p:sp>
      <p:sp>
        <p:nvSpPr>
          <p:cNvPr id="66" name="Text 64"/>
          <p:cNvSpPr txBox="1"/>
          <p:nvPr/>
        </p:nvSpPr>
        <p:spPr>
          <a:xfrm>
            <a:off x="4609948" y="4434840"/>
            <a:ext cx="2971800" cy="914400"/>
          </a:xfrm>
          <a:prstGeom prst="rect">
            <a:avLst/>
          </a:prstGeom>
          <a:noFill/>
          <a:ln/>
        </p:spPr>
        <p:txBody>
          <a:bodyPr wrap="square" rtlCol="0" anchor="t"/>
          <a:lstStyle/>
          <a:p>
            <a:pPr algn="ctr" indent="0" marL="0">
              <a:lnSpc>
                <a:spcPct val="115000"/>
              </a:lnSpc>
              <a:buNone/>
            </a:pPr>
            <a:r>
              <a:rPr lang="en-US" sz="950" dirty="0">
                <a:solidFill>
                  <a:srgbClr val="2C1810"/>
                </a:solidFill>
                <a:latin typeface="DM Sans" pitchFamily="34" charset="0"/>
                <a:ea typeface="DM Sans" pitchFamily="34" charset="-122"/>
                <a:cs typeface="DM Sans" pitchFamily="34" charset="-120"/>
              </a:rPr>
              <a:t>Heritage RAG grounds every ingredient claim in cited sources. Magic Lens safety flags intercept unsafe dishes before the user sees them. Cultural preservation: every meal becomes an educational story before the hawker retires.</a:t>
            </a:r>
            <a:endParaRPr lang="en-US" sz="950" dirty="0"/>
          </a:p>
        </p:txBody>
      </p:sp>
      <p:sp>
        <p:nvSpPr>
          <p:cNvPr id="67" name="Shape 65"/>
          <p:cNvSpPr/>
          <p:nvPr/>
        </p:nvSpPr>
        <p:spPr>
          <a:xfrm>
            <a:off x="8541868" y="3246120"/>
            <a:ext cx="2606040" cy="2286000"/>
          </a:xfrm>
          <a:prstGeom prst="roundRect">
            <a:avLst>
              <a:gd name="adj" fmla="val 2000"/>
            </a:avLst>
          </a:prstGeom>
          <a:solidFill>
            <a:srgbClr val="EAE0C2"/>
          </a:solidFill>
          <a:ln w="15875">
            <a:solidFill>
              <a:srgbClr val="B8902F"/>
            </a:solidFill>
            <a:prstDash val="solid"/>
          </a:ln>
        </p:spPr>
      </p:sp>
      <p:sp>
        <p:nvSpPr>
          <p:cNvPr id="68" name="Shape 66"/>
          <p:cNvSpPr/>
          <p:nvPr/>
        </p:nvSpPr>
        <p:spPr>
          <a:xfrm>
            <a:off x="8358988" y="3108960"/>
            <a:ext cx="2971800" cy="182880"/>
          </a:xfrm>
          <a:prstGeom prst="rect">
            <a:avLst/>
          </a:prstGeom>
          <a:solidFill>
            <a:srgbClr val="B8902F"/>
          </a:solidFill>
          <a:ln w="9525">
            <a:solidFill>
              <a:srgbClr val="2C1810"/>
            </a:solidFill>
            <a:prstDash val="solid"/>
          </a:ln>
        </p:spPr>
      </p:sp>
      <p:sp>
        <p:nvSpPr>
          <p:cNvPr id="69" name="Shape 67"/>
          <p:cNvSpPr/>
          <p:nvPr/>
        </p:nvSpPr>
        <p:spPr>
          <a:xfrm>
            <a:off x="8358988" y="5349240"/>
            <a:ext cx="2971800" cy="182880"/>
          </a:xfrm>
          <a:prstGeom prst="rect">
            <a:avLst/>
          </a:prstGeom>
          <a:solidFill>
            <a:srgbClr val="B8902F"/>
          </a:solidFill>
          <a:ln w="9525">
            <a:solidFill>
              <a:srgbClr val="2C1810"/>
            </a:solidFill>
            <a:prstDash val="solid"/>
          </a:ln>
        </p:spPr>
      </p:sp>
      <p:sp>
        <p:nvSpPr>
          <p:cNvPr id="70" name="Text 68"/>
          <p:cNvSpPr txBox="1"/>
          <p:nvPr/>
        </p:nvSpPr>
        <p:spPr>
          <a:xfrm>
            <a:off x="8084668" y="2514600"/>
            <a:ext cx="3520440" cy="411480"/>
          </a:xfrm>
          <a:prstGeom prst="rect">
            <a:avLst/>
          </a:prstGeom>
          <a:noFill/>
          <a:ln/>
        </p:spPr>
        <p:txBody>
          <a:bodyPr wrap="square" rtlCol="0" anchor="ctr"/>
          <a:lstStyle/>
          <a:p>
            <a:pPr algn="ctr" indent="0" marL="0">
              <a:buNone/>
            </a:pPr>
            <a:r>
              <a:rPr lang="en-US" sz="1300" b="1" spc="100" kern="0" dirty="0">
                <a:solidFill>
                  <a:srgbClr val="B8902F"/>
                </a:solidFill>
                <a:latin typeface="Fraunces" pitchFamily="34" charset="0"/>
                <a:ea typeface="Fraunces" pitchFamily="34" charset="-122"/>
                <a:cs typeface="Fraunces" pitchFamily="34" charset="-120"/>
              </a:rPr>
              <a:t>CULTURAL PRESERVATION</a:t>
            </a:r>
            <a:endParaRPr lang="en-US" sz="1300" dirty="0"/>
          </a:p>
        </p:txBody>
      </p:sp>
      <p:sp>
        <p:nvSpPr>
          <p:cNvPr id="71" name="Shape 69"/>
          <p:cNvSpPr/>
          <p:nvPr/>
        </p:nvSpPr>
        <p:spPr>
          <a:xfrm>
            <a:off x="9424264" y="3377794"/>
            <a:ext cx="292608" cy="292608"/>
          </a:xfrm>
          <a:prstGeom prst="ellipse">
            <a:avLst/>
          </a:prstGeom>
          <a:solidFill>
            <a:srgbClr val="8B1E1E"/>
          </a:solidFill>
          <a:ln w="9525">
            <a:solidFill>
              <a:srgbClr val="2C1810"/>
            </a:solidFill>
            <a:prstDash val="solid"/>
          </a:ln>
        </p:spPr>
      </p:sp>
      <p:sp>
        <p:nvSpPr>
          <p:cNvPr id="72" name="Shape 70"/>
          <p:cNvSpPr/>
          <p:nvPr/>
        </p:nvSpPr>
        <p:spPr>
          <a:xfrm>
            <a:off x="9292590" y="3597250"/>
            <a:ext cx="555955" cy="321869"/>
          </a:xfrm>
          <a:prstGeom prst="roundRect">
            <a:avLst>
              <a:gd name="adj" fmla="val 28409"/>
            </a:avLst>
          </a:prstGeom>
          <a:solidFill>
            <a:srgbClr val="8B1E1E"/>
          </a:solidFill>
          <a:ln w="9525">
            <a:solidFill>
              <a:srgbClr val="2C1810"/>
            </a:solidFill>
            <a:prstDash val="solid"/>
          </a:ln>
        </p:spPr>
      </p:sp>
      <p:sp>
        <p:nvSpPr>
          <p:cNvPr id="73" name="Shape 71"/>
          <p:cNvSpPr/>
          <p:nvPr/>
        </p:nvSpPr>
        <p:spPr>
          <a:xfrm>
            <a:off x="9972904" y="3542386"/>
            <a:ext cx="201168" cy="201168"/>
          </a:xfrm>
          <a:prstGeom prst="ellipse">
            <a:avLst/>
          </a:prstGeom>
          <a:solidFill>
            <a:srgbClr val="2F5D3A"/>
          </a:solidFill>
          <a:ln w="9525">
            <a:solidFill>
              <a:srgbClr val="2C1810"/>
            </a:solidFill>
            <a:prstDash val="solid"/>
          </a:ln>
        </p:spPr>
      </p:sp>
      <p:sp>
        <p:nvSpPr>
          <p:cNvPr id="74" name="Shape 72"/>
          <p:cNvSpPr/>
          <p:nvPr/>
        </p:nvSpPr>
        <p:spPr>
          <a:xfrm>
            <a:off x="9882378" y="3693262"/>
            <a:ext cx="382219" cy="221285"/>
          </a:xfrm>
          <a:prstGeom prst="roundRect">
            <a:avLst>
              <a:gd name="adj" fmla="val 41322"/>
            </a:avLst>
          </a:prstGeom>
          <a:solidFill>
            <a:srgbClr val="2F5D3A"/>
          </a:solidFill>
          <a:ln w="9525">
            <a:solidFill>
              <a:srgbClr val="2C1810"/>
            </a:solidFill>
            <a:prstDash val="solid"/>
          </a:ln>
        </p:spPr>
      </p:sp>
      <p:sp>
        <p:nvSpPr>
          <p:cNvPr id="75" name="Shape 73"/>
          <p:cNvSpPr/>
          <p:nvPr/>
        </p:nvSpPr>
        <p:spPr>
          <a:xfrm>
            <a:off x="10228936" y="3264408"/>
            <a:ext cx="329184" cy="237744"/>
          </a:xfrm>
          <a:prstGeom prst="ellipse">
            <a:avLst/>
          </a:prstGeom>
          <a:solidFill>
            <a:srgbClr val="D4A947">
              <a:alpha val="40000"/>
            </a:srgbClr>
          </a:solidFill>
          <a:ln/>
        </p:spPr>
      </p:sp>
      <p:sp>
        <p:nvSpPr>
          <p:cNvPr id="76" name="Shape 74"/>
          <p:cNvSpPr/>
          <p:nvPr/>
        </p:nvSpPr>
        <p:spPr>
          <a:xfrm>
            <a:off x="10274656" y="3291840"/>
            <a:ext cx="237744" cy="182880"/>
          </a:xfrm>
          <a:prstGeom prst="roundRect">
            <a:avLst>
              <a:gd name="adj" fmla="val 15000"/>
            </a:avLst>
          </a:prstGeom>
          <a:solidFill>
            <a:srgbClr val="F4ECD8"/>
          </a:solidFill>
          <a:ln w="9525">
            <a:solidFill>
              <a:srgbClr val="B8902F"/>
            </a:solidFill>
            <a:prstDash val="solid"/>
          </a:ln>
        </p:spPr>
      </p:sp>
      <p:sp>
        <p:nvSpPr>
          <p:cNvPr id="77" name="Shape 75"/>
          <p:cNvSpPr/>
          <p:nvPr/>
        </p:nvSpPr>
        <p:spPr>
          <a:xfrm>
            <a:off x="9131656" y="3218688"/>
            <a:ext cx="329184" cy="237744"/>
          </a:xfrm>
          <a:prstGeom prst="ellipse">
            <a:avLst/>
          </a:prstGeom>
          <a:solidFill>
            <a:srgbClr val="D4A947">
              <a:alpha val="40000"/>
            </a:srgbClr>
          </a:solidFill>
          <a:ln/>
        </p:spPr>
      </p:sp>
      <p:sp>
        <p:nvSpPr>
          <p:cNvPr id="78" name="Shape 76"/>
          <p:cNvSpPr/>
          <p:nvPr/>
        </p:nvSpPr>
        <p:spPr>
          <a:xfrm>
            <a:off x="9177376" y="3246120"/>
            <a:ext cx="237744" cy="182880"/>
          </a:xfrm>
          <a:prstGeom prst="roundRect">
            <a:avLst>
              <a:gd name="adj" fmla="val 15000"/>
            </a:avLst>
          </a:prstGeom>
          <a:solidFill>
            <a:srgbClr val="F4ECD8"/>
          </a:solidFill>
          <a:ln w="9525">
            <a:solidFill>
              <a:srgbClr val="B8902F"/>
            </a:solidFill>
            <a:prstDash val="solid"/>
          </a:ln>
        </p:spPr>
      </p:sp>
      <p:sp>
        <p:nvSpPr>
          <p:cNvPr id="79" name="Shape 77"/>
          <p:cNvSpPr/>
          <p:nvPr/>
        </p:nvSpPr>
        <p:spPr>
          <a:xfrm>
            <a:off x="9680296" y="3035808"/>
            <a:ext cx="329184" cy="237744"/>
          </a:xfrm>
          <a:prstGeom prst="ellipse">
            <a:avLst/>
          </a:prstGeom>
          <a:solidFill>
            <a:srgbClr val="D4A947">
              <a:alpha val="40000"/>
            </a:srgbClr>
          </a:solidFill>
          <a:ln/>
        </p:spPr>
      </p:sp>
      <p:sp>
        <p:nvSpPr>
          <p:cNvPr id="80" name="Shape 78"/>
          <p:cNvSpPr/>
          <p:nvPr/>
        </p:nvSpPr>
        <p:spPr>
          <a:xfrm>
            <a:off x="9726016" y="3063240"/>
            <a:ext cx="237744" cy="182880"/>
          </a:xfrm>
          <a:prstGeom prst="roundRect">
            <a:avLst>
              <a:gd name="adj" fmla="val 15000"/>
            </a:avLst>
          </a:prstGeom>
          <a:solidFill>
            <a:srgbClr val="F4ECD8"/>
          </a:solidFill>
          <a:ln w="9525">
            <a:solidFill>
              <a:srgbClr val="B8902F"/>
            </a:solidFill>
            <a:prstDash val="solid"/>
          </a:ln>
        </p:spPr>
      </p:sp>
      <p:sp>
        <p:nvSpPr>
          <p:cNvPr id="81" name="Text 79"/>
          <p:cNvSpPr txBox="1"/>
          <p:nvPr/>
        </p:nvSpPr>
        <p:spPr>
          <a:xfrm>
            <a:off x="8358988" y="4434840"/>
            <a:ext cx="2971800" cy="914400"/>
          </a:xfrm>
          <a:prstGeom prst="rect">
            <a:avLst/>
          </a:prstGeom>
          <a:noFill/>
          <a:ln/>
        </p:spPr>
        <p:txBody>
          <a:bodyPr wrap="square" rtlCol="0" anchor="t"/>
          <a:lstStyle/>
          <a:p>
            <a:pPr algn="ctr" indent="0" marL="0">
              <a:lnSpc>
                <a:spcPct val="115000"/>
              </a:lnSpc>
              <a:buNone/>
            </a:pPr>
            <a:r>
              <a:rPr lang="en-US" sz="950" dirty="0">
                <a:solidFill>
                  <a:srgbClr val="2C1810"/>
                </a:solidFill>
                <a:latin typeface="DM Sans" pitchFamily="34" charset="0"/>
                <a:ea typeface="DM Sans" pitchFamily="34" charset="-122"/>
                <a:cs typeface="DM Sans" pitchFamily="34" charset="-120"/>
              </a:rPr>
              <a:t>Every dish carries its migration story, ingredient genealogy, and rarity tier. The hawker's craft is captured as a shareable, citable artifact — locked in before the generation that cooked it retires.</a:t>
            </a:r>
            <a:endParaRPr lang="en-US" sz="950" dirty="0"/>
          </a:p>
        </p:txBody>
      </p:sp>
      <p:sp>
        <p:nvSpPr>
          <p:cNvPr id="82" name="Shape 80"/>
          <p:cNvSpPr/>
          <p:nvPr/>
        </p:nvSpPr>
        <p:spPr>
          <a:xfrm>
            <a:off x="502920" y="5852160"/>
            <a:ext cx="11185855" cy="457200"/>
          </a:xfrm>
          <a:prstGeom prst="roundRect">
            <a:avLst>
              <a:gd name="adj" fmla="val 12000"/>
            </a:avLst>
          </a:prstGeom>
          <a:solidFill>
            <a:srgbClr val="2F5D3A"/>
          </a:solidFill>
          <a:ln w="12700">
            <a:solidFill>
              <a:srgbClr val="2C1810"/>
            </a:solidFill>
            <a:prstDash val="solid"/>
          </a:ln>
        </p:spPr>
      </p:sp>
      <p:sp>
        <p:nvSpPr>
          <p:cNvPr id="83" name="Text 81"/>
          <p:cNvSpPr txBox="1"/>
          <p:nvPr/>
        </p:nvSpPr>
        <p:spPr>
          <a:xfrm>
            <a:off x="502920" y="5852160"/>
            <a:ext cx="11185855" cy="457200"/>
          </a:xfrm>
          <a:prstGeom prst="rect">
            <a:avLst/>
          </a:prstGeom>
          <a:noFill/>
          <a:ln/>
        </p:spPr>
        <p:txBody>
          <a:bodyPr wrap="square" rtlCol="0" anchor="ctr"/>
          <a:lstStyle/>
          <a:p>
            <a:pPr algn="ctr" indent="0" marL="0">
              <a:buNone/>
            </a:pPr>
            <a:r>
              <a:rPr lang="en-US" sz="1200" b="1" spc="300" kern="0" dirty="0">
                <a:solidFill>
                  <a:srgbClr val="F4ECD8"/>
                </a:solidFill>
                <a:latin typeface="Fraunces" pitchFamily="34" charset="0"/>
                <a:ea typeface="Fraunces" pitchFamily="34" charset="-122"/>
                <a:cs typeface="Fraunces" pitchFamily="34" charset="-120"/>
              </a:rPr>
              <a:t>BUILT FOR CODEX HACKATHON 2026  ·  Responsible, grounded, agentic.</a:t>
            </a:r>
            <a:endParaRPr lang="en-US" sz="1200" dirty="0"/>
          </a:p>
        </p:txBody>
      </p:sp>
      <p:sp>
        <p:nvSpPr>
          <p:cNvPr id="84" name="Text 82"/>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85" name="Text 83"/>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D4A947"/>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D4A947">
              <a:alpha val="65000"/>
            </a:srgbClr>
          </a:solidFill>
          <a:ln w="6350">
            <a:solidFill>
              <a:srgbClr val="D4A947"/>
            </a:solidFill>
            <a:prstDash val="solid"/>
          </a:ln>
        </p:spPr>
      </p:sp>
      <p:sp>
        <p:nvSpPr>
          <p:cNvPr id="6" name="Shape 4"/>
          <p:cNvSpPr/>
          <p:nvPr/>
        </p:nvSpPr>
        <p:spPr>
          <a:xfrm rot="5400000">
            <a:off x="394106" y="534924"/>
            <a:ext cx="181051" cy="120701"/>
          </a:xfrm>
          <a:prstGeom prst="ellipse">
            <a:avLst/>
          </a:prstGeom>
          <a:solidFill>
            <a:srgbClr val="D4A947">
              <a:alpha val="65000"/>
            </a:srgbClr>
          </a:solidFill>
          <a:ln w="6350">
            <a:solidFill>
              <a:srgbClr val="D4A947"/>
            </a:solidFill>
            <a:prstDash val="solid"/>
          </a:ln>
        </p:spPr>
      </p:sp>
      <p:sp>
        <p:nvSpPr>
          <p:cNvPr id="7" name="Shape 5"/>
          <p:cNvSpPr/>
          <p:nvPr/>
        </p:nvSpPr>
        <p:spPr>
          <a:xfrm rot="10800000">
            <a:off x="283464" y="424282"/>
            <a:ext cx="181051" cy="120701"/>
          </a:xfrm>
          <a:prstGeom prst="ellipse">
            <a:avLst/>
          </a:prstGeom>
          <a:solidFill>
            <a:srgbClr val="D4A947">
              <a:alpha val="65000"/>
            </a:srgbClr>
          </a:solidFill>
          <a:ln w="6350">
            <a:solidFill>
              <a:srgbClr val="D4A947"/>
            </a:solidFill>
            <a:prstDash val="solid"/>
          </a:ln>
        </p:spPr>
      </p:sp>
      <p:sp>
        <p:nvSpPr>
          <p:cNvPr id="8" name="Shape 6"/>
          <p:cNvSpPr/>
          <p:nvPr/>
        </p:nvSpPr>
        <p:spPr>
          <a:xfrm rot="16200000">
            <a:off x="394106" y="313639"/>
            <a:ext cx="181051" cy="120701"/>
          </a:xfrm>
          <a:prstGeom prst="ellipse">
            <a:avLst/>
          </a:prstGeom>
          <a:solidFill>
            <a:srgbClr val="D4A947">
              <a:alpha val="65000"/>
            </a:srgbClr>
          </a:solidFill>
          <a:ln w="6350">
            <a:solidFill>
              <a:srgbClr val="D4A947"/>
            </a:solidFill>
            <a:prstDash val="solid"/>
          </a:ln>
        </p:spPr>
      </p:sp>
      <p:sp>
        <p:nvSpPr>
          <p:cNvPr id="9" name="Shape 7"/>
          <p:cNvSpPr/>
          <p:nvPr/>
        </p:nvSpPr>
        <p:spPr>
          <a:xfrm>
            <a:off x="448422" y="448422"/>
            <a:ext cx="72420" cy="72420"/>
          </a:xfrm>
          <a:prstGeom prst="ellipse">
            <a:avLst/>
          </a:prstGeom>
          <a:solidFill>
            <a:srgbClr val="D4A947"/>
          </a:solidFill>
          <a:ln w="6350">
            <a:solidFill>
              <a:srgbClr val="D4A947"/>
            </a:solidFill>
            <a:prstDash val="solid"/>
          </a:ln>
        </p:spPr>
      </p:sp>
      <p:sp>
        <p:nvSpPr>
          <p:cNvPr id="10" name="Shape 8"/>
          <p:cNvSpPr/>
          <p:nvPr/>
        </p:nvSpPr>
        <p:spPr>
          <a:xfrm>
            <a:off x="11727180" y="424282"/>
            <a:ext cx="181051" cy="120701"/>
          </a:xfrm>
          <a:prstGeom prst="ellipse">
            <a:avLst/>
          </a:prstGeom>
          <a:solidFill>
            <a:srgbClr val="D4A947">
              <a:alpha val="65000"/>
            </a:srgbClr>
          </a:solidFill>
          <a:ln w="6350">
            <a:solidFill>
              <a:srgbClr val="D4A947"/>
            </a:solidFill>
            <a:prstDash val="solid"/>
          </a:ln>
        </p:spPr>
      </p:sp>
      <p:sp>
        <p:nvSpPr>
          <p:cNvPr id="11" name="Shape 9"/>
          <p:cNvSpPr/>
          <p:nvPr/>
        </p:nvSpPr>
        <p:spPr>
          <a:xfrm rot="5400000">
            <a:off x="11616538" y="534924"/>
            <a:ext cx="181051" cy="120701"/>
          </a:xfrm>
          <a:prstGeom prst="ellipse">
            <a:avLst/>
          </a:prstGeom>
          <a:solidFill>
            <a:srgbClr val="D4A947">
              <a:alpha val="65000"/>
            </a:srgbClr>
          </a:solidFill>
          <a:ln w="6350">
            <a:solidFill>
              <a:srgbClr val="D4A947"/>
            </a:solidFill>
            <a:prstDash val="solid"/>
          </a:ln>
        </p:spPr>
      </p:sp>
      <p:sp>
        <p:nvSpPr>
          <p:cNvPr id="12" name="Shape 10"/>
          <p:cNvSpPr/>
          <p:nvPr/>
        </p:nvSpPr>
        <p:spPr>
          <a:xfrm rot="10800000">
            <a:off x="11505895" y="424282"/>
            <a:ext cx="181051" cy="120701"/>
          </a:xfrm>
          <a:prstGeom prst="ellipse">
            <a:avLst/>
          </a:prstGeom>
          <a:solidFill>
            <a:srgbClr val="D4A947">
              <a:alpha val="65000"/>
            </a:srgbClr>
          </a:solidFill>
          <a:ln w="6350">
            <a:solidFill>
              <a:srgbClr val="D4A947"/>
            </a:solidFill>
            <a:prstDash val="solid"/>
          </a:ln>
        </p:spPr>
      </p:sp>
      <p:sp>
        <p:nvSpPr>
          <p:cNvPr id="13" name="Shape 11"/>
          <p:cNvSpPr/>
          <p:nvPr/>
        </p:nvSpPr>
        <p:spPr>
          <a:xfrm rot="16200000">
            <a:off x="11616538" y="313639"/>
            <a:ext cx="181051" cy="120701"/>
          </a:xfrm>
          <a:prstGeom prst="ellipse">
            <a:avLst/>
          </a:prstGeom>
          <a:solidFill>
            <a:srgbClr val="D4A947">
              <a:alpha val="65000"/>
            </a:srgbClr>
          </a:solidFill>
          <a:ln w="6350">
            <a:solidFill>
              <a:srgbClr val="D4A947"/>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D4A947"/>
            </a:solidFill>
            <a:prstDash val="solid"/>
          </a:ln>
        </p:spPr>
      </p:sp>
      <p:sp>
        <p:nvSpPr>
          <p:cNvPr id="15" name="Shape 13"/>
          <p:cNvSpPr/>
          <p:nvPr/>
        </p:nvSpPr>
        <p:spPr>
          <a:xfrm>
            <a:off x="504749" y="6313018"/>
            <a:ext cx="181051" cy="120701"/>
          </a:xfrm>
          <a:prstGeom prst="ellipse">
            <a:avLst/>
          </a:prstGeom>
          <a:solidFill>
            <a:srgbClr val="D4A947">
              <a:alpha val="65000"/>
            </a:srgbClr>
          </a:solidFill>
          <a:ln w="6350">
            <a:solidFill>
              <a:srgbClr val="D4A947"/>
            </a:solidFill>
            <a:prstDash val="solid"/>
          </a:ln>
        </p:spPr>
      </p:sp>
      <p:sp>
        <p:nvSpPr>
          <p:cNvPr id="16" name="Shape 14"/>
          <p:cNvSpPr/>
          <p:nvPr/>
        </p:nvSpPr>
        <p:spPr>
          <a:xfrm rot="5400000">
            <a:off x="394106" y="6423660"/>
            <a:ext cx="181051" cy="120701"/>
          </a:xfrm>
          <a:prstGeom prst="ellipse">
            <a:avLst/>
          </a:prstGeom>
          <a:solidFill>
            <a:srgbClr val="D4A947">
              <a:alpha val="65000"/>
            </a:srgbClr>
          </a:solidFill>
          <a:ln w="6350">
            <a:solidFill>
              <a:srgbClr val="D4A947"/>
            </a:solidFill>
            <a:prstDash val="solid"/>
          </a:ln>
        </p:spPr>
      </p:sp>
      <p:sp>
        <p:nvSpPr>
          <p:cNvPr id="17" name="Shape 15"/>
          <p:cNvSpPr/>
          <p:nvPr/>
        </p:nvSpPr>
        <p:spPr>
          <a:xfrm rot="10800000">
            <a:off x="283464" y="6313018"/>
            <a:ext cx="181051" cy="120701"/>
          </a:xfrm>
          <a:prstGeom prst="ellipse">
            <a:avLst/>
          </a:prstGeom>
          <a:solidFill>
            <a:srgbClr val="D4A947">
              <a:alpha val="65000"/>
            </a:srgbClr>
          </a:solidFill>
          <a:ln w="6350">
            <a:solidFill>
              <a:srgbClr val="D4A947"/>
            </a:solidFill>
            <a:prstDash val="solid"/>
          </a:ln>
        </p:spPr>
      </p:sp>
      <p:sp>
        <p:nvSpPr>
          <p:cNvPr id="18" name="Shape 16"/>
          <p:cNvSpPr/>
          <p:nvPr/>
        </p:nvSpPr>
        <p:spPr>
          <a:xfrm rot="16200000">
            <a:off x="394106" y="6202375"/>
            <a:ext cx="181051" cy="120701"/>
          </a:xfrm>
          <a:prstGeom prst="ellipse">
            <a:avLst/>
          </a:prstGeom>
          <a:solidFill>
            <a:srgbClr val="D4A947">
              <a:alpha val="65000"/>
            </a:srgbClr>
          </a:solidFill>
          <a:ln w="6350">
            <a:solidFill>
              <a:srgbClr val="D4A947"/>
            </a:solidFill>
            <a:prstDash val="solid"/>
          </a:ln>
        </p:spPr>
      </p:sp>
      <p:sp>
        <p:nvSpPr>
          <p:cNvPr id="19" name="Shape 17"/>
          <p:cNvSpPr/>
          <p:nvPr/>
        </p:nvSpPr>
        <p:spPr>
          <a:xfrm>
            <a:off x="448422" y="6337158"/>
            <a:ext cx="72420" cy="72420"/>
          </a:xfrm>
          <a:prstGeom prst="ellipse">
            <a:avLst/>
          </a:prstGeom>
          <a:solidFill>
            <a:srgbClr val="D4A947"/>
          </a:solidFill>
          <a:ln w="6350">
            <a:solidFill>
              <a:srgbClr val="D4A947"/>
            </a:solidFill>
            <a:prstDash val="solid"/>
          </a:ln>
        </p:spPr>
      </p:sp>
      <p:sp>
        <p:nvSpPr>
          <p:cNvPr id="20" name="Shape 18"/>
          <p:cNvSpPr/>
          <p:nvPr/>
        </p:nvSpPr>
        <p:spPr>
          <a:xfrm>
            <a:off x="11727180" y="6313018"/>
            <a:ext cx="181051" cy="120701"/>
          </a:xfrm>
          <a:prstGeom prst="ellipse">
            <a:avLst/>
          </a:prstGeom>
          <a:solidFill>
            <a:srgbClr val="D4A947">
              <a:alpha val="65000"/>
            </a:srgbClr>
          </a:solidFill>
          <a:ln w="6350">
            <a:solidFill>
              <a:srgbClr val="D4A947"/>
            </a:solidFill>
            <a:prstDash val="solid"/>
          </a:ln>
        </p:spPr>
      </p:sp>
      <p:sp>
        <p:nvSpPr>
          <p:cNvPr id="21" name="Shape 19"/>
          <p:cNvSpPr/>
          <p:nvPr/>
        </p:nvSpPr>
        <p:spPr>
          <a:xfrm rot="5400000">
            <a:off x="11616538" y="6423660"/>
            <a:ext cx="181051" cy="120701"/>
          </a:xfrm>
          <a:prstGeom prst="ellipse">
            <a:avLst/>
          </a:prstGeom>
          <a:solidFill>
            <a:srgbClr val="D4A947">
              <a:alpha val="65000"/>
            </a:srgbClr>
          </a:solidFill>
          <a:ln w="6350">
            <a:solidFill>
              <a:srgbClr val="D4A947"/>
            </a:solidFill>
            <a:prstDash val="solid"/>
          </a:ln>
        </p:spPr>
      </p:sp>
      <p:sp>
        <p:nvSpPr>
          <p:cNvPr id="22" name="Shape 20"/>
          <p:cNvSpPr/>
          <p:nvPr/>
        </p:nvSpPr>
        <p:spPr>
          <a:xfrm rot="10800000">
            <a:off x="11505895" y="6313018"/>
            <a:ext cx="181051" cy="120701"/>
          </a:xfrm>
          <a:prstGeom prst="ellipse">
            <a:avLst/>
          </a:prstGeom>
          <a:solidFill>
            <a:srgbClr val="D4A947">
              <a:alpha val="65000"/>
            </a:srgbClr>
          </a:solidFill>
          <a:ln w="6350">
            <a:solidFill>
              <a:srgbClr val="D4A947"/>
            </a:solidFill>
            <a:prstDash val="solid"/>
          </a:ln>
        </p:spPr>
      </p:sp>
      <p:sp>
        <p:nvSpPr>
          <p:cNvPr id="23" name="Shape 21"/>
          <p:cNvSpPr/>
          <p:nvPr/>
        </p:nvSpPr>
        <p:spPr>
          <a:xfrm rot="16200000">
            <a:off x="11616538" y="6202375"/>
            <a:ext cx="181051" cy="120701"/>
          </a:xfrm>
          <a:prstGeom prst="ellipse">
            <a:avLst/>
          </a:prstGeom>
          <a:solidFill>
            <a:srgbClr val="D4A947">
              <a:alpha val="65000"/>
            </a:srgbClr>
          </a:solidFill>
          <a:ln w="6350">
            <a:solidFill>
              <a:srgbClr val="D4A947"/>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D4A947"/>
            </a:solidFill>
            <a:prstDash val="solid"/>
          </a:ln>
        </p:spPr>
      </p:sp>
      <p:sp>
        <p:nvSpPr>
          <p:cNvPr id="25" name="Shape 23"/>
          <p:cNvSpPr/>
          <p:nvPr/>
        </p:nvSpPr>
        <p:spPr>
          <a:xfrm>
            <a:off x="1828800" y="411480"/>
            <a:ext cx="0" cy="261518"/>
          </a:xfrm>
          <a:prstGeom prst="line">
            <a:avLst/>
          </a:prstGeom>
          <a:noFill/>
          <a:ln w="9525">
            <a:solidFill>
              <a:srgbClr val="D4A947"/>
            </a:solidFill>
            <a:prstDash val="solid"/>
          </a:ln>
        </p:spPr>
      </p:sp>
      <p:sp>
        <p:nvSpPr>
          <p:cNvPr id="26" name="Shape 24"/>
          <p:cNvSpPr/>
          <p:nvPr/>
        </p:nvSpPr>
        <p:spPr>
          <a:xfrm>
            <a:off x="1591056" y="566014"/>
            <a:ext cx="475488" cy="475488"/>
          </a:xfrm>
          <a:prstGeom prst="ellipse">
            <a:avLst/>
          </a:prstGeom>
          <a:solidFill>
            <a:srgbClr val="D4A947">
              <a:alpha val="30000"/>
            </a:srgbClr>
          </a:solidFill>
          <a:ln/>
        </p:spPr>
      </p:sp>
      <p:sp>
        <p:nvSpPr>
          <p:cNvPr id="27" name="Shape 25"/>
          <p:cNvSpPr/>
          <p:nvPr/>
        </p:nvSpPr>
        <p:spPr>
          <a:xfrm>
            <a:off x="1727759" y="625450"/>
            <a:ext cx="202082" cy="225857"/>
          </a:xfrm>
          <a:prstGeom prst="ellipse">
            <a:avLst/>
          </a:prstGeom>
          <a:solidFill>
            <a:srgbClr val="D4A947"/>
          </a:solidFill>
          <a:ln w="9525">
            <a:solidFill>
              <a:srgbClr val="B8902F"/>
            </a:solidFill>
            <a:prstDash val="solid"/>
          </a:ln>
        </p:spPr>
      </p:sp>
      <p:sp>
        <p:nvSpPr>
          <p:cNvPr id="28" name="Shape 26"/>
          <p:cNvSpPr/>
          <p:nvPr/>
        </p:nvSpPr>
        <p:spPr>
          <a:xfrm>
            <a:off x="3657600" y="411480"/>
            <a:ext cx="0" cy="261518"/>
          </a:xfrm>
          <a:prstGeom prst="line">
            <a:avLst/>
          </a:prstGeom>
          <a:noFill/>
          <a:ln w="9525">
            <a:solidFill>
              <a:srgbClr val="D4A947"/>
            </a:solidFill>
            <a:prstDash val="solid"/>
          </a:ln>
        </p:spPr>
      </p:sp>
      <p:sp>
        <p:nvSpPr>
          <p:cNvPr id="29" name="Shape 27"/>
          <p:cNvSpPr/>
          <p:nvPr/>
        </p:nvSpPr>
        <p:spPr>
          <a:xfrm>
            <a:off x="3419856" y="566014"/>
            <a:ext cx="475488" cy="475488"/>
          </a:xfrm>
          <a:prstGeom prst="ellipse">
            <a:avLst/>
          </a:prstGeom>
          <a:solidFill>
            <a:srgbClr val="D4A947">
              <a:alpha val="30000"/>
            </a:srgbClr>
          </a:solidFill>
          <a:ln/>
        </p:spPr>
      </p:sp>
      <p:sp>
        <p:nvSpPr>
          <p:cNvPr id="30" name="Shape 28"/>
          <p:cNvSpPr/>
          <p:nvPr/>
        </p:nvSpPr>
        <p:spPr>
          <a:xfrm>
            <a:off x="3556559" y="625450"/>
            <a:ext cx="202082" cy="225857"/>
          </a:xfrm>
          <a:prstGeom prst="ellipse">
            <a:avLst/>
          </a:prstGeom>
          <a:solidFill>
            <a:srgbClr val="D4A947"/>
          </a:solidFill>
          <a:ln w="9525">
            <a:solidFill>
              <a:srgbClr val="B8902F"/>
            </a:solidFill>
            <a:prstDash val="solid"/>
          </a:ln>
        </p:spPr>
      </p:sp>
      <p:sp>
        <p:nvSpPr>
          <p:cNvPr id="31" name="Shape 29"/>
          <p:cNvSpPr/>
          <p:nvPr/>
        </p:nvSpPr>
        <p:spPr>
          <a:xfrm>
            <a:off x="5943600" y="411480"/>
            <a:ext cx="0" cy="261518"/>
          </a:xfrm>
          <a:prstGeom prst="line">
            <a:avLst/>
          </a:prstGeom>
          <a:noFill/>
          <a:ln w="9525">
            <a:solidFill>
              <a:srgbClr val="D4A947"/>
            </a:solidFill>
            <a:prstDash val="solid"/>
          </a:ln>
        </p:spPr>
      </p:sp>
      <p:sp>
        <p:nvSpPr>
          <p:cNvPr id="32" name="Shape 30"/>
          <p:cNvSpPr/>
          <p:nvPr/>
        </p:nvSpPr>
        <p:spPr>
          <a:xfrm>
            <a:off x="5705856" y="566014"/>
            <a:ext cx="475488" cy="475488"/>
          </a:xfrm>
          <a:prstGeom prst="ellipse">
            <a:avLst/>
          </a:prstGeom>
          <a:solidFill>
            <a:srgbClr val="D4A947">
              <a:alpha val="30000"/>
            </a:srgbClr>
          </a:solidFill>
          <a:ln/>
        </p:spPr>
      </p:sp>
      <p:sp>
        <p:nvSpPr>
          <p:cNvPr id="33" name="Shape 31"/>
          <p:cNvSpPr/>
          <p:nvPr/>
        </p:nvSpPr>
        <p:spPr>
          <a:xfrm>
            <a:off x="5842559" y="625450"/>
            <a:ext cx="202082" cy="225857"/>
          </a:xfrm>
          <a:prstGeom prst="ellipse">
            <a:avLst/>
          </a:prstGeom>
          <a:solidFill>
            <a:srgbClr val="D4A947"/>
          </a:solidFill>
          <a:ln w="9525">
            <a:solidFill>
              <a:srgbClr val="B8902F"/>
            </a:solidFill>
            <a:prstDash val="solid"/>
          </a:ln>
        </p:spPr>
      </p:sp>
      <p:sp>
        <p:nvSpPr>
          <p:cNvPr id="34" name="Shape 32"/>
          <p:cNvSpPr/>
          <p:nvPr/>
        </p:nvSpPr>
        <p:spPr>
          <a:xfrm>
            <a:off x="8229600" y="411480"/>
            <a:ext cx="0" cy="261518"/>
          </a:xfrm>
          <a:prstGeom prst="line">
            <a:avLst/>
          </a:prstGeom>
          <a:noFill/>
          <a:ln w="9525">
            <a:solidFill>
              <a:srgbClr val="D4A947"/>
            </a:solidFill>
            <a:prstDash val="solid"/>
          </a:ln>
        </p:spPr>
      </p:sp>
      <p:sp>
        <p:nvSpPr>
          <p:cNvPr id="35" name="Shape 33"/>
          <p:cNvSpPr/>
          <p:nvPr/>
        </p:nvSpPr>
        <p:spPr>
          <a:xfrm>
            <a:off x="7991856" y="566014"/>
            <a:ext cx="475488" cy="475488"/>
          </a:xfrm>
          <a:prstGeom prst="ellipse">
            <a:avLst/>
          </a:prstGeom>
          <a:solidFill>
            <a:srgbClr val="D4A947">
              <a:alpha val="30000"/>
            </a:srgbClr>
          </a:solidFill>
          <a:ln/>
        </p:spPr>
      </p:sp>
      <p:sp>
        <p:nvSpPr>
          <p:cNvPr id="36" name="Shape 34"/>
          <p:cNvSpPr/>
          <p:nvPr/>
        </p:nvSpPr>
        <p:spPr>
          <a:xfrm>
            <a:off x="8128559" y="625450"/>
            <a:ext cx="202082" cy="225857"/>
          </a:xfrm>
          <a:prstGeom prst="ellipse">
            <a:avLst/>
          </a:prstGeom>
          <a:solidFill>
            <a:srgbClr val="D4A947"/>
          </a:solidFill>
          <a:ln w="9525">
            <a:solidFill>
              <a:srgbClr val="B8902F"/>
            </a:solidFill>
            <a:prstDash val="solid"/>
          </a:ln>
        </p:spPr>
      </p:sp>
      <p:sp>
        <p:nvSpPr>
          <p:cNvPr id="37" name="Shape 35"/>
          <p:cNvSpPr/>
          <p:nvPr/>
        </p:nvSpPr>
        <p:spPr>
          <a:xfrm>
            <a:off x="10058400" y="411480"/>
            <a:ext cx="0" cy="261518"/>
          </a:xfrm>
          <a:prstGeom prst="line">
            <a:avLst/>
          </a:prstGeom>
          <a:noFill/>
          <a:ln w="9525">
            <a:solidFill>
              <a:srgbClr val="D4A947"/>
            </a:solidFill>
            <a:prstDash val="solid"/>
          </a:ln>
        </p:spPr>
      </p:sp>
      <p:sp>
        <p:nvSpPr>
          <p:cNvPr id="38" name="Shape 36"/>
          <p:cNvSpPr/>
          <p:nvPr/>
        </p:nvSpPr>
        <p:spPr>
          <a:xfrm>
            <a:off x="9820656" y="566014"/>
            <a:ext cx="475488" cy="475488"/>
          </a:xfrm>
          <a:prstGeom prst="ellipse">
            <a:avLst/>
          </a:prstGeom>
          <a:solidFill>
            <a:srgbClr val="D4A947">
              <a:alpha val="30000"/>
            </a:srgbClr>
          </a:solidFill>
          <a:ln/>
        </p:spPr>
      </p:sp>
      <p:sp>
        <p:nvSpPr>
          <p:cNvPr id="39" name="Shape 37"/>
          <p:cNvSpPr/>
          <p:nvPr/>
        </p:nvSpPr>
        <p:spPr>
          <a:xfrm>
            <a:off x="9957359" y="625450"/>
            <a:ext cx="202082" cy="225857"/>
          </a:xfrm>
          <a:prstGeom prst="ellipse">
            <a:avLst/>
          </a:prstGeom>
          <a:solidFill>
            <a:srgbClr val="D4A947"/>
          </a:solidFill>
          <a:ln w="9525">
            <a:solidFill>
              <a:srgbClr val="B8902F"/>
            </a:solidFill>
            <a:prstDash val="solid"/>
          </a:ln>
        </p:spPr>
      </p:sp>
      <p:sp>
        <p:nvSpPr>
          <p:cNvPr id="40" name="Shape 38"/>
          <p:cNvSpPr/>
          <p:nvPr/>
        </p:nvSpPr>
        <p:spPr>
          <a:xfrm>
            <a:off x="8284464" y="2990088"/>
            <a:ext cx="3218688" cy="2615184"/>
          </a:xfrm>
          <a:prstGeom prst="ellipse">
            <a:avLst/>
          </a:prstGeom>
          <a:solidFill>
            <a:srgbClr val="D4A947">
              <a:alpha val="25000"/>
            </a:srgbClr>
          </a:solidFill>
          <a:ln/>
        </p:spPr>
      </p:sp>
      <p:sp>
        <p:nvSpPr>
          <p:cNvPr id="41" name="Shape 39"/>
          <p:cNvSpPr/>
          <p:nvPr/>
        </p:nvSpPr>
        <p:spPr>
          <a:xfrm>
            <a:off x="8686800" y="3291840"/>
            <a:ext cx="2414016" cy="704088"/>
          </a:xfrm>
          <a:prstGeom prst="triangle">
            <a:avLst/>
          </a:prstGeom>
          <a:solidFill>
            <a:srgbClr val="2F5D3A"/>
          </a:solidFill>
          <a:ln w="12700">
            <a:solidFill>
              <a:srgbClr val="2C1810"/>
            </a:solidFill>
            <a:prstDash val="solid"/>
          </a:ln>
        </p:spPr>
      </p:sp>
      <p:sp>
        <p:nvSpPr>
          <p:cNvPr id="42" name="Shape 40"/>
          <p:cNvSpPr/>
          <p:nvPr/>
        </p:nvSpPr>
        <p:spPr>
          <a:xfrm>
            <a:off x="8787384" y="3945636"/>
            <a:ext cx="2212848" cy="1207008"/>
          </a:xfrm>
          <a:prstGeom prst="rect">
            <a:avLst/>
          </a:prstGeom>
          <a:solidFill>
            <a:srgbClr val="8B1E1E"/>
          </a:solidFill>
          <a:ln w="12700">
            <a:solidFill>
              <a:srgbClr val="2C1810"/>
            </a:solidFill>
            <a:prstDash val="solid"/>
          </a:ln>
        </p:spPr>
      </p:sp>
      <p:sp>
        <p:nvSpPr>
          <p:cNvPr id="43" name="Shape 41"/>
          <p:cNvSpPr/>
          <p:nvPr/>
        </p:nvSpPr>
        <p:spPr>
          <a:xfrm>
            <a:off x="9038844" y="4096512"/>
            <a:ext cx="1709928" cy="422453"/>
          </a:xfrm>
          <a:prstGeom prst="rect">
            <a:avLst/>
          </a:prstGeom>
          <a:solidFill>
            <a:srgbClr val="F4ECD8"/>
          </a:solidFill>
          <a:ln w="9525">
            <a:solidFill>
              <a:srgbClr val="2C1810"/>
            </a:solidFill>
            <a:prstDash val="solid"/>
          </a:ln>
        </p:spPr>
      </p:sp>
      <p:sp>
        <p:nvSpPr>
          <p:cNvPr id="44" name="Shape 42"/>
          <p:cNvSpPr/>
          <p:nvPr/>
        </p:nvSpPr>
        <p:spPr>
          <a:xfrm>
            <a:off x="9109253" y="4197096"/>
            <a:ext cx="1508760" cy="0"/>
          </a:xfrm>
          <a:prstGeom prst="line">
            <a:avLst/>
          </a:prstGeom>
          <a:noFill/>
          <a:ln w="9525">
            <a:solidFill>
              <a:srgbClr val="5B4636"/>
            </a:solidFill>
            <a:prstDash val="solid"/>
          </a:ln>
        </p:spPr>
      </p:sp>
      <p:sp>
        <p:nvSpPr>
          <p:cNvPr id="45" name="Shape 43"/>
          <p:cNvSpPr/>
          <p:nvPr/>
        </p:nvSpPr>
        <p:spPr>
          <a:xfrm>
            <a:off x="9109253" y="4297680"/>
            <a:ext cx="1508760" cy="0"/>
          </a:xfrm>
          <a:prstGeom prst="line">
            <a:avLst/>
          </a:prstGeom>
          <a:noFill/>
          <a:ln w="9525">
            <a:solidFill>
              <a:srgbClr val="5B4636"/>
            </a:solidFill>
            <a:prstDash val="solid"/>
          </a:ln>
        </p:spPr>
      </p:sp>
      <p:sp>
        <p:nvSpPr>
          <p:cNvPr id="46" name="Shape 44"/>
          <p:cNvSpPr/>
          <p:nvPr/>
        </p:nvSpPr>
        <p:spPr>
          <a:xfrm>
            <a:off x="9109253" y="4398264"/>
            <a:ext cx="1508760" cy="0"/>
          </a:xfrm>
          <a:prstGeom prst="line">
            <a:avLst/>
          </a:prstGeom>
          <a:noFill/>
          <a:ln w="9525">
            <a:solidFill>
              <a:srgbClr val="5B4636"/>
            </a:solidFill>
            <a:prstDash val="solid"/>
          </a:ln>
        </p:spPr>
      </p:sp>
      <p:sp>
        <p:nvSpPr>
          <p:cNvPr id="47" name="Shape 45"/>
          <p:cNvSpPr/>
          <p:nvPr/>
        </p:nvSpPr>
        <p:spPr>
          <a:xfrm>
            <a:off x="9390888" y="4800600"/>
            <a:ext cx="704088" cy="301752"/>
          </a:xfrm>
          <a:prstGeom prst="ellipse">
            <a:avLst/>
          </a:prstGeom>
          <a:solidFill>
            <a:srgbClr val="2C1810"/>
          </a:solidFill>
          <a:ln w="9525">
            <a:solidFill>
              <a:srgbClr val="2C1810"/>
            </a:solidFill>
            <a:prstDash val="solid"/>
          </a:ln>
        </p:spPr>
      </p:sp>
      <p:sp>
        <p:nvSpPr>
          <p:cNvPr id="48" name="Shape 46"/>
          <p:cNvSpPr/>
          <p:nvPr/>
        </p:nvSpPr>
        <p:spPr>
          <a:xfrm>
            <a:off x="9642348" y="3392424"/>
            <a:ext cx="352044" cy="352044"/>
          </a:xfrm>
          <a:prstGeom prst="ellipse">
            <a:avLst/>
          </a:prstGeom>
          <a:solidFill>
            <a:srgbClr val="FFFFFF">
              <a:alpha val="40000"/>
            </a:srgbClr>
          </a:solidFill>
          <a:ln/>
        </p:spPr>
      </p:sp>
      <p:sp>
        <p:nvSpPr>
          <p:cNvPr id="49" name="Shape 47"/>
          <p:cNvSpPr/>
          <p:nvPr/>
        </p:nvSpPr>
        <p:spPr>
          <a:xfrm>
            <a:off x="9843516" y="3140964"/>
            <a:ext cx="281635" cy="281635"/>
          </a:xfrm>
          <a:prstGeom prst="ellipse">
            <a:avLst/>
          </a:prstGeom>
          <a:solidFill>
            <a:srgbClr val="FFFFFF">
              <a:alpha val="40000"/>
            </a:srgbClr>
          </a:solidFill>
          <a:ln/>
        </p:spPr>
      </p:sp>
      <p:sp>
        <p:nvSpPr>
          <p:cNvPr id="50" name="Shape 48"/>
          <p:cNvSpPr/>
          <p:nvPr/>
        </p:nvSpPr>
        <p:spPr>
          <a:xfrm>
            <a:off x="9441180" y="3241548"/>
            <a:ext cx="221285" cy="221285"/>
          </a:xfrm>
          <a:prstGeom prst="ellipse">
            <a:avLst/>
          </a:prstGeom>
          <a:solidFill>
            <a:srgbClr val="FFFFFF">
              <a:alpha val="40000"/>
            </a:srgbClr>
          </a:solidFill>
          <a:ln/>
        </p:spPr>
      </p:sp>
      <p:sp>
        <p:nvSpPr>
          <p:cNvPr id="51" name="Shape 49"/>
          <p:cNvSpPr/>
          <p:nvPr/>
        </p:nvSpPr>
        <p:spPr>
          <a:xfrm>
            <a:off x="10698480" y="4076395"/>
            <a:ext cx="181051" cy="221285"/>
          </a:xfrm>
          <a:prstGeom prst="ellipse">
            <a:avLst/>
          </a:prstGeom>
          <a:solidFill>
            <a:srgbClr val="D4A947"/>
          </a:solidFill>
          <a:ln w="6350">
            <a:solidFill>
              <a:srgbClr val="2C1810"/>
            </a:solidFill>
            <a:prstDash val="solid"/>
          </a:ln>
        </p:spPr>
      </p:sp>
      <p:sp>
        <p:nvSpPr>
          <p:cNvPr id="52" name="Shape 50"/>
          <p:cNvSpPr/>
          <p:nvPr/>
        </p:nvSpPr>
        <p:spPr>
          <a:xfrm>
            <a:off x="9509760" y="2926080"/>
            <a:ext cx="320040" cy="320040"/>
          </a:xfrm>
          <a:prstGeom prst="ellipse">
            <a:avLst/>
          </a:prstGeom>
          <a:solidFill>
            <a:srgbClr val="FFFFFF">
              <a:alpha val="30000"/>
            </a:srgbClr>
          </a:solidFill>
          <a:ln/>
        </p:spPr>
      </p:sp>
      <p:sp>
        <p:nvSpPr>
          <p:cNvPr id="53" name="Shape 51"/>
          <p:cNvSpPr/>
          <p:nvPr/>
        </p:nvSpPr>
        <p:spPr>
          <a:xfrm>
            <a:off x="9784080" y="2788920"/>
            <a:ext cx="320040" cy="320040"/>
          </a:xfrm>
          <a:prstGeom prst="ellipse">
            <a:avLst/>
          </a:prstGeom>
          <a:solidFill>
            <a:srgbClr val="FFFFFF">
              <a:alpha val="30000"/>
            </a:srgbClr>
          </a:solidFill>
          <a:ln/>
        </p:spPr>
      </p:sp>
      <p:sp>
        <p:nvSpPr>
          <p:cNvPr id="54" name="Shape 52"/>
          <p:cNvSpPr/>
          <p:nvPr/>
        </p:nvSpPr>
        <p:spPr>
          <a:xfrm>
            <a:off x="10058400" y="2651760"/>
            <a:ext cx="320040" cy="320040"/>
          </a:xfrm>
          <a:prstGeom prst="ellipse">
            <a:avLst/>
          </a:prstGeom>
          <a:solidFill>
            <a:srgbClr val="FFFFFF">
              <a:alpha val="30000"/>
            </a:srgbClr>
          </a:solidFill>
          <a:ln/>
        </p:spPr>
      </p:sp>
      <p:sp>
        <p:nvSpPr>
          <p:cNvPr id="55" name="Text 53"/>
          <p:cNvSpPr txBox="1"/>
          <p:nvPr/>
        </p:nvSpPr>
        <p:spPr>
          <a:xfrm>
            <a:off x="502920" y="1554480"/>
            <a:ext cx="6858000" cy="1280160"/>
          </a:xfrm>
          <a:prstGeom prst="rect">
            <a:avLst/>
          </a:prstGeom>
          <a:noFill/>
          <a:ln/>
        </p:spPr>
        <p:txBody>
          <a:bodyPr wrap="square" rtlCol="0" anchor="ctr"/>
          <a:lstStyle/>
          <a:p>
            <a:pPr algn="l" indent="0" marL="0">
              <a:buNone/>
            </a:pPr>
            <a:r>
              <a:rPr lang="en-US" sz="6400" b="1" dirty="0">
                <a:solidFill>
                  <a:srgbClr val="A88860"/>
                </a:solidFill>
                <a:latin typeface="Fraunces" pitchFamily="34" charset="0"/>
                <a:ea typeface="Fraunces" pitchFamily="34" charset="-122"/>
                <a:cs typeface="Fraunces" pitchFamily="34" charset="-120"/>
              </a:rPr>
              <a:t>TERIMA KASIH</a:t>
            </a:r>
            <a:endParaRPr lang="en-US" sz="6400" dirty="0"/>
          </a:p>
        </p:txBody>
      </p:sp>
      <p:sp>
        <p:nvSpPr>
          <p:cNvPr id="56" name="Text 54"/>
          <p:cNvSpPr txBox="1"/>
          <p:nvPr/>
        </p:nvSpPr>
        <p:spPr>
          <a:xfrm>
            <a:off x="502920" y="1508760"/>
            <a:ext cx="6858000" cy="1280160"/>
          </a:xfrm>
          <a:prstGeom prst="rect">
            <a:avLst/>
          </a:prstGeom>
          <a:noFill/>
          <a:ln/>
        </p:spPr>
        <p:txBody>
          <a:bodyPr wrap="square" rtlCol="0" anchor="ctr"/>
          <a:lstStyle/>
          <a:p>
            <a:pPr algn="l" indent="0" marL="0">
              <a:buNone/>
            </a:pPr>
            <a:r>
              <a:rPr lang="en-US" sz="6400" b="1" dirty="0">
                <a:solidFill>
                  <a:srgbClr val="D4A947"/>
                </a:solidFill>
                <a:latin typeface="Fraunces" pitchFamily="34" charset="0"/>
                <a:ea typeface="Fraunces" pitchFamily="34" charset="-122"/>
                <a:cs typeface="Fraunces" pitchFamily="34" charset="-120"/>
              </a:rPr>
              <a:t>TERIMA KASIH</a:t>
            </a:r>
            <a:endParaRPr lang="en-US" sz="6400" dirty="0"/>
          </a:p>
        </p:txBody>
      </p:sp>
      <p:sp>
        <p:nvSpPr>
          <p:cNvPr id="57" name="Text 55"/>
          <p:cNvSpPr txBox="1"/>
          <p:nvPr/>
        </p:nvSpPr>
        <p:spPr>
          <a:xfrm>
            <a:off x="502920" y="2788920"/>
            <a:ext cx="6858000" cy="365760"/>
          </a:xfrm>
          <a:prstGeom prst="rect">
            <a:avLst/>
          </a:prstGeom>
          <a:noFill/>
          <a:ln/>
        </p:spPr>
        <p:txBody>
          <a:bodyPr wrap="square" rtlCol="0" anchor="ctr"/>
          <a:lstStyle/>
          <a:p>
            <a:pPr algn="l" indent="0" marL="0">
              <a:buNone/>
            </a:pPr>
            <a:r>
              <a:rPr lang="en-US" sz="1600" i="1" dirty="0">
                <a:solidFill>
                  <a:srgbClr val="F4ECD8"/>
                </a:solidFill>
                <a:latin typeface="Fraunces" pitchFamily="34" charset="0"/>
                <a:ea typeface="Fraunces" pitchFamily="34" charset="-122"/>
                <a:cs typeface="Fraunces" pitchFamily="34" charset="-120"/>
              </a:rPr>
              <a:t>Thank you · 谢谢 · நன்றி</a:t>
            </a:r>
            <a:endParaRPr lang="en-US" sz="1600" dirty="0"/>
          </a:p>
        </p:txBody>
      </p:sp>
      <p:sp>
        <p:nvSpPr>
          <p:cNvPr id="58" name="Shape 56"/>
          <p:cNvSpPr/>
          <p:nvPr/>
        </p:nvSpPr>
        <p:spPr>
          <a:xfrm>
            <a:off x="502920" y="3429000"/>
            <a:ext cx="3291840" cy="640080"/>
          </a:xfrm>
          <a:prstGeom prst="roundRect">
            <a:avLst>
              <a:gd name="adj" fmla="val 10000"/>
            </a:avLst>
          </a:prstGeom>
          <a:solidFill>
            <a:srgbClr val="1F1410"/>
          </a:solidFill>
          <a:ln w="12700">
            <a:solidFill>
              <a:srgbClr val="D4A947"/>
            </a:solidFill>
            <a:prstDash val="solid"/>
          </a:ln>
        </p:spPr>
      </p:sp>
      <p:sp>
        <p:nvSpPr>
          <p:cNvPr id="59" name="Shape 57"/>
          <p:cNvSpPr/>
          <p:nvPr/>
        </p:nvSpPr>
        <p:spPr>
          <a:xfrm>
            <a:off x="502920" y="3429000"/>
            <a:ext cx="73152" cy="640080"/>
          </a:xfrm>
          <a:prstGeom prst="rect">
            <a:avLst/>
          </a:prstGeom>
          <a:solidFill>
            <a:srgbClr val="D4A947"/>
          </a:solidFill>
          <a:ln/>
        </p:spPr>
      </p:sp>
      <p:sp>
        <p:nvSpPr>
          <p:cNvPr id="60" name="Text 58"/>
          <p:cNvSpPr txBox="1"/>
          <p:nvPr/>
        </p:nvSpPr>
        <p:spPr>
          <a:xfrm>
            <a:off x="685800" y="3493008"/>
            <a:ext cx="3017520" cy="201168"/>
          </a:xfrm>
          <a:prstGeom prst="rect">
            <a:avLst/>
          </a:prstGeom>
          <a:noFill/>
          <a:ln/>
        </p:spPr>
        <p:txBody>
          <a:bodyPr wrap="square" rtlCol="0" anchor="ctr"/>
          <a:lstStyle/>
          <a:p>
            <a:pPr indent="0" marL="0">
              <a:buNone/>
            </a:pPr>
            <a:r>
              <a:rPr lang="en-US" sz="800" b="1" spc="200" kern="0" dirty="0">
                <a:solidFill>
                  <a:srgbClr val="D4A947"/>
                </a:solidFill>
                <a:latin typeface="DM Sans" pitchFamily="34" charset="0"/>
                <a:ea typeface="DM Sans" pitchFamily="34" charset="-122"/>
                <a:cs typeface="DM Sans" pitchFamily="34" charset="-120"/>
              </a:rPr>
              <a:t>GITHUB</a:t>
            </a:r>
            <a:endParaRPr lang="en-US" sz="800" dirty="0"/>
          </a:p>
        </p:txBody>
      </p:sp>
      <p:sp>
        <p:nvSpPr>
          <p:cNvPr id="61" name="Text 59"/>
          <p:cNvSpPr txBox="1"/>
          <p:nvPr/>
        </p:nvSpPr>
        <p:spPr>
          <a:xfrm>
            <a:off x="685800" y="3685032"/>
            <a:ext cx="3017520" cy="329184"/>
          </a:xfrm>
          <a:prstGeom prst="rect">
            <a:avLst/>
          </a:prstGeom>
          <a:noFill/>
          <a:ln/>
        </p:spPr>
        <p:txBody>
          <a:bodyPr wrap="square" rtlCol="0" anchor="ctr"/>
          <a:lstStyle/>
          <a:p>
            <a:pPr indent="0" marL="0">
              <a:buNone/>
            </a:pPr>
            <a:r>
              <a:rPr lang="en-US" sz="1100" b="1" dirty="0">
                <a:solidFill>
                  <a:srgbClr val="F4ECD8"/>
                </a:solidFill>
                <a:latin typeface="DM Sans" pitchFamily="34" charset="0"/>
                <a:ea typeface="DM Sans" pitchFamily="34" charset="-122"/>
                <a:cs typeface="DM Sans" pitchFamily="34" charset="-120"/>
              </a:rPr>
              <a:t>github.com/yeeern1217/makanmate</a:t>
            </a:r>
            <a:endParaRPr lang="en-US" sz="1100" dirty="0"/>
          </a:p>
        </p:txBody>
      </p:sp>
      <p:sp>
        <p:nvSpPr>
          <p:cNvPr id="62" name="Shape 60"/>
          <p:cNvSpPr/>
          <p:nvPr/>
        </p:nvSpPr>
        <p:spPr>
          <a:xfrm>
            <a:off x="4023360" y="3429000"/>
            <a:ext cx="3291840" cy="640080"/>
          </a:xfrm>
          <a:prstGeom prst="roundRect">
            <a:avLst>
              <a:gd name="adj" fmla="val 10000"/>
            </a:avLst>
          </a:prstGeom>
          <a:solidFill>
            <a:srgbClr val="1F1410"/>
          </a:solidFill>
          <a:ln w="12700">
            <a:solidFill>
              <a:srgbClr val="4A7C59"/>
            </a:solidFill>
            <a:prstDash val="solid"/>
          </a:ln>
        </p:spPr>
      </p:sp>
      <p:sp>
        <p:nvSpPr>
          <p:cNvPr id="63" name="Shape 61"/>
          <p:cNvSpPr/>
          <p:nvPr/>
        </p:nvSpPr>
        <p:spPr>
          <a:xfrm>
            <a:off x="4023360" y="3429000"/>
            <a:ext cx="73152" cy="640080"/>
          </a:xfrm>
          <a:prstGeom prst="rect">
            <a:avLst/>
          </a:prstGeom>
          <a:solidFill>
            <a:srgbClr val="4A7C59"/>
          </a:solidFill>
          <a:ln/>
        </p:spPr>
      </p:sp>
      <p:sp>
        <p:nvSpPr>
          <p:cNvPr id="64" name="Text 62"/>
          <p:cNvSpPr txBox="1"/>
          <p:nvPr/>
        </p:nvSpPr>
        <p:spPr>
          <a:xfrm>
            <a:off x="4206240" y="3493008"/>
            <a:ext cx="3017520" cy="201168"/>
          </a:xfrm>
          <a:prstGeom prst="rect">
            <a:avLst/>
          </a:prstGeom>
          <a:noFill/>
          <a:ln/>
        </p:spPr>
        <p:txBody>
          <a:bodyPr wrap="square" rtlCol="0" anchor="ctr"/>
          <a:lstStyle/>
          <a:p>
            <a:pPr indent="0" marL="0">
              <a:buNone/>
            </a:pPr>
            <a:r>
              <a:rPr lang="en-US" sz="800" b="1" spc="200" kern="0" dirty="0">
                <a:solidFill>
                  <a:srgbClr val="4A7C59"/>
                </a:solidFill>
                <a:latin typeface="DM Sans" pitchFamily="34" charset="0"/>
                <a:ea typeface="DM Sans" pitchFamily="34" charset="-122"/>
                <a:cs typeface="DM Sans" pitchFamily="34" charset="-120"/>
              </a:rPr>
              <a:t>LIVE DEMO</a:t>
            </a:r>
            <a:endParaRPr lang="en-US" sz="800" dirty="0"/>
          </a:p>
        </p:txBody>
      </p:sp>
      <p:sp>
        <p:nvSpPr>
          <p:cNvPr id="65" name="Text 63"/>
          <p:cNvSpPr txBox="1"/>
          <p:nvPr/>
        </p:nvSpPr>
        <p:spPr>
          <a:xfrm>
            <a:off x="4206240" y="3685032"/>
            <a:ext cx="3017520" cy="329184"/>
          </a:xfrm>
          <a:prstGeom prst="rect">
            <a:avLst/>
          </a:prstGeom>
          <a:noFill/>
          <a:ln/>
        </p:spPr>
        <p:txBody>
          <a:bodyPr wrap="square" rtlCol="0" anchor="ctr"/>
          <a:lstStyle/>
          <a:p>
            <a:pPr indent="0" marL="0">
              <a:buNone/>
            </a:pPr>
            <a:r>
              <a:rPr lang="en-US" sz="1100" b="1" dirty="0">
                <a:solidFill>
                  <a:srgbClr val="F4ECD8"/>
                </a:solidFill>
                <a:latin typeface="DM Sans" pitchFamily="34" charset="0"/>
                <a:ea typeface="DM Sans" pitchFamily="34" charset="-122"/>
                <a:cs typeface="DM Sans" pitchFamily="34" charset="-120"/>
              </a:rPr>
              <a:t>makanmate.vercel.app</a:t>
            </a:r>
            <a:endParaRPr lang="en-US" sz="1100" dirty="0"/>
          </a:p>
        </p:txBody>
      </p:sp>
      <p:sp>
        <p:nvSpPr>
          <p:cNvPr id="66" name="Shape 64"/>
          <p:cNvSpPr/>
          <p:nvPr/>
        </p:nvSpPr>
        <p:spPr>
          <a:xfrm>
            <a:off x="502920" y="4206240"/>
            <a:ext cx="3291840" cy="640080"/>
          </a:xfrm>
          <a:prstGeom prst="roundRect">
            <a:avLst>
              <a:gd name="adj" fmla="val 10000"/>
            </a:avLst>
          </a:prstGeom>
          <a:solidFill>
            <a:srgbClr val="1F1410"/>
          </a:solidFill>
          <a:ln w="12700">
            <a:solidFill>
              <a:srgbClr val="C4553A"/>
            </a:solidFill>
            <a:prstDash val="solid"/>
          </a:ln>
        </p:spPr>
      </p:sp>
      <p:sp>
        <p:nvSpPr>
          <p:cNvPr id="67" name="Shape 65"/>
          <p:cNvSpPr/>
          <p:nvPr/>
        </p:nvSpPr>
        <p:spPr>
          <a:xfrm>
            <a:off x="502920" y="4206240"/>
            <a:ext cx="73152" cy="640080"/>
          </a:xfrm>
          <a:prstGeom prst="rect">
            <a:avLst/>
          </a:prstGeom>
          <a:solidFill>
            <a:srgbClr val="C4553A"/>
          </a:solidFill>
          <a:ln/>
        </p:spPr>
      </p:sp>
      <p:sp>
        <p:nvSpPr>
          <p:cNvPr id="68" name="Text 66"/>
          <p:cNvSpPr txBox="1"/>
          <p:nvPr/>
        </p:nvSpPr>
        <p:spPr>
          <a:xfrm>
            <a:off x="685800" y="4270248"/>
            <a:ext cx="3017520" cy="201168"/>
          </a:xfrm>
          <a:prstGeom prst="rect">
            <a:avLst/>
          </a:prstGeom>
          <a:noFill/>
          <a:ln/>
        </p:spPr>
        <p:txBody>
          <a:bodyPr wrap="square" rtlCol="0" anchor="ctr"/>
          <a:lstStyle/>
          <a:p>
            <a:pPr indent="0" marL="0">
              <a:buNone/>
            </a:pPr>
            <a:r>
              <a:rPr lang="en-US" sz="800" b="1" spc="200" kern="0" dirty="0">
                <a:solidFill>
                  <a:srgbClr val="C4553A"/>
                </a:solidFill>
                <a:latin typeface="DM Sans" pitchFamily="34" charset="0"/>
                <a:ea typeface="DM Sans" pitchFamily="34" charset="-122"/>
                <a:cs typeface="DM Sans" pitchFamily="34" charset="-120"/>
              </a:rPr>
              <a:t>BUILT AT</a:t>
            </a:r>
            <a:endParaRPr lang="en-US" sz="800" dirty="0"/>
          </a:p>
        </p:txBody>
      </p:sp>
      <p:sp>
        <p:nvSpPr>
          <p:cNvPr id="69" name="Text 67"/>
          <p:cNvSpPr txBox="1"/>
          <p:nvPr/>
        </p:nvSpPr>
        <p:spPr>
          <a:xfrm>
            <a:off x="685800" y="4462272"/>
            <a:ext cx="3017520" cy="329184"/>
          </a:xfrm>
          <a:prstGeom prst="rect">
            <a:avLst/>
          </a:prstGeom>
          <a:noFill/>
          <a:ln/>
        </p:spPr>
        <p:txBody>
          <a:bodyPr wrap="square" rtlCol="0" anchor="ctr"/>
          <a:lstStyle/>
          <a:p>
            <a:pPr indent="0" marL="0">
              <a:buNone/>
            </a:pPr>
            <a:r>
              <a:rPr lang="en-US" sz="1100" b="1" dirty="0">
                <a:solidFill>
                  <a:srgbClr val="F4ECD8"/>
                </a:solidFill>
                <a:latin typeface="DM Sans" pitchFamily="34" charset="0"/>
                <a:ea typeface="DM Sans" pitchFamily="34" charset="-122"/>
                <a:cs typeface="DM Sans" pitchFamily="34" charset="-120"/>
              </a:rPr>
              <a:t>Codex Hackathon 2026 · Malaysia</a:t>
            </a:r>
            <a:endParaRPr lang="en-US" sz="1100" dirty="0"/>
          </a:p>
        </p:txBody>
      </p:sp>
      <p:sp>
        <p:nvSpPr>
          <p:cNvPr id="70" name="Shape 68"/>
          <p:cNvSpPr/>
          <p:nvPr/>
        </p:nvSpPr>
        <p:spPr>
          <a:xfrm>
            <a:off x="4023360" y="4206240"/>
            <a:ext cx="3291840" cy="640080"/>
          </a:xfrm>
          <a:prstGeom prst="roundRect">
            <a:avLst>
              <a:gd name="adj" fmla="val 10000"/>
            </a:avLst>
          </a:prstGeom>
          <a:solidFill>
            <a:srgbClr val="1F1410"/>
          </a:solidFill>
          <a:ln w="12700">
            <a:solidFill>
              <a:srgbClr val="D4A947"/>
            </a:solidFill>
            <a:prstDash val="solid"/>
          </a:ln>
        </p:spPr>
      </p:sp>
      <p:sp>
        <p:nvSpPr>
          <p:cNvPr id="71" name="Shape 69"/>
          <p:cNvSpPr/>
          <p:nvPr/>
        </p:nvSpPr>
        <p:spPr>
          <a:xfrm>
            <a:off x="4023360" y="4206240"/>
            <a:ext cx="73152" cy="640080"/>
          </a:xfrm>
          <a:prstGeom prst="rect">
            <a:avLst/>
          </a:prstGeom>
          <a:solidFill>
            <a:srgbClr val="D4A947"/>
          </a:solidFill>
          <a:ln/>
        </p:spPr>
      </p:sp>
      <p:sp>
        <p:nvSpPr>
          <p:cNvPr id="72" name="Text 70"/>
          <p:cNvSpPr txBox="1"/>
          <p:nvPr/>
        </p:nvSpPr>
        <p:spPr>
          <a:xfrm>
            <a:off x="4206240" y="4270248"/>
            <a:ext cx="3017520" cy="201168"/>
          </a:xfrm>
          <a:prstGeom prst="rect">
            <a:avLst/>
          </a:prstGeom>
          <a:noFill/>
          <a:ln/>
        </p:spPr>
        <p:txBody>
          <a:bodyPr wrap="square" rtlCol="0" anchor="ctr"/>
          <a:lstStyle/>
          <a:p>
            <a:pPr indent="0" marL="0">
              <a:buNone/>
            </a:pPr>
            <a:r>
              <a:rPr lang="en-US" sz="800" b="1" spc="200" kern="0" dirty="0">
                <a:solidFill>
                  <a:srgbClr val="D4A947"/>
                </a:solidFill>
                <a:latin typeface="DM Sans" pitchFamily="34" charset="0"/>
                <a:ea typeface="DM Sans" pitchFamily="34" charset="-122"/>
                <a:cs typeface="DM Sans" pitchFamily="34" charset="-120"/>
              </a:rPr>
              <a:t>TRY NOW</a:t>
            </a:r>
            <a:endParaRPr lang="en-US" sz="800" dirty="0"/>
          </a:p>
        </p:txBody>
      </p:sp>
      <p:sp>
        <p:nvSpPr>
          <p:cNvPr id="73" name="Text 71"/>
          <p:cNvSpPr txBox="1"/>
          <p:nvPr/>
        </p:nvSpPr>
        <p:spPr>
          <a:xfrm>
            <a:off x="4206240" y="4462272"/>
            <a:ext cx="3017520" cy="329184"/>
          </a:xfrm>
          <a:prstGeom prst="rect">
            <a:avLst/>
          </a:prstGeom>
          <a:noFill/>
          <a:ln/>
        </p:spPr>
        <p:txBody>
          <a:bodyPr wrap="square" rtlCol="0" anchor="ctr"/>
          <a:lstStyle/>
          <a:p>
            <a:pPr indent="0" marL="0">
              <a:buNone/>
            </a:pPr>
            <a:r>
              <a:rPr lang="en-US" sz="1100" b="1" dirty="0">
                <a:solidFill>
                  <a:srgbClr val="F4ECD8"/>
                </a:solidFill>
                <a:latin typeface="DM Sans" pitchFamily="34" charset="0"/>
                <a:ea typeface="DM Sans" pitchFamily="34" charset="-122"/>
                <a:cs typeface="DM Sans" pitchFamily="34" charset="-120"/>
              </a:rPr>
              <a:t>Scan the QR  →</a:t>
            </a:r>
            <a:endParaRPr lang="en-US" sz="1100" dirty="0"/>
          </a:p>
        </p:txBody>
      </p:sp>
      <p:sp>
        <p:nvSpPr>
          <p:cNvPr id="74" name="Shape 72"/>
          <p:cNvSpPr/>
          <p:nvPr/>
        </p:nvSpPr>
        <p:spPr>
          <a:xfrm>
            <a:off x="7818120" y="3246120"/>
            <a:ext cx="2286000" cy="1920240"/>
          </a:xfrm>
          <a:prstGeom prst="roundRect">
            <a:avLst>
              <a:gd name="adj" fmla="val 3810"/>
            </a:avLst>
          </a:prstGeom>
          <a:solidFill>
            <a:srgbClr val="F4ECD8"/>
          </a:solidFill>
          <a:ln w="19050">
            <a:solidFill>
              <a:srgbClr val="D4A947"/>
            </a:solidFill>
            <a:prstDash val="solid"/>
          </a:ln>
        </p:spPr>
      </p:sp>
      <p:sp>
        <p:nvSpPr>
          <p:cNvPr id="75" name="Shape 73"/>
          <p:cNvSpPr/>
          <p:nvPr/>
        </p:nvSpPr>
        <p:spPr>
          <a:xfrm>
            <a:off x="7955280" y="3383280"/>
            <a:ext cx="1645920" cy="1645920"/>
          </a:xfrm>
          <a:prstGeom prst="roundRect">
            <a:avLst>
              <a:gd name="adj" fmla="val 3333"/>
            </a:avLst>
          </a:prstGeom>
          <a:solidFill>
            <a:srgbClr val="FFFFFF"/>
          </a:solidFill>
          <a:ln w="19050">
            <a:solidFill>
              <a:srgbClr val="2C1810"/>
            </a:solidFill>
            <a:prstDash val="solid"/>
          </a:ln>
        </p:spPr>
      </p:sp>
      <p:sp>
        <p:nvSpPr>
          <p:cNvPr id="76" name="Shape 74"/>
          <p:cNvSpPr/>
          <p:nvPr/>
        </p:nvSpPr>
        <p:spPr>
          <a:xfrm>
            <a:off x="7955280" y="3383280"/>
            <a:ext cx="149629" cy="149629"/>
          </a:xfrm>
          <a:prstGeom prst="rect">
            <a:avLst/>
          </a:prstGeom>
          <a:solidFill>
            <a:srgbClr val="2C1810"/>
          </a:solidFill>
          <a:ln/>
        </p:spPr>
      </p:sp>
      <p:sp>
        <p:nvSpPr>
          <p:cNvPr id="77" name="Shape 75"/>
          <p:cNvSpPr/>
          <p:nvPr/>
        </p:nvSpPr>
        <p:spPr>
          <a:xfrm>
            <a:off x="8104909" y="3383280"/>
            <a:ext cx="149629" cy="149629"/>
          </a:xfrm>
          <a:prstGeom prst="rect">
            <a:avLst/>
          </a:prstGeom>
          <a:solidFill>
            <a:srgbClr val="2C1810"/>
          </a:solidFill>
          <a:ln/>
        </p:spPr>
      </p:sp>
      <p:sp>
        <p:nvSpPr>
          <p:cNvPr id="78" name="Shape 76"/>
          <p:cNvSpPr/>
          <p:nvPr/>
        </p:nvSpPr>
        <p:spPr>
          <a:xfrm>
            <a:off x="8254538" y="3383280"/>
            <a:ext cx="149629" cy="149629"/>
          </a:xfrm>
          <a:prstGeom prst="rect">
            <a:avLst/>
          </a:prstGeom>
          <a:solidFill>
            <a:srgbClr val="2C1810"/>
          </a:solidFill>
          <a:ln/>
        </p:spPr>
      </p:sp>
      <p:sp>
        <p:nvSpPr>
          <p:cNvPr id="79" name="Shape 77"/>
          <p:cNvSpPr/>
          <p:nvPr/>
        </p:nvSpPr>
        <p:spPr>
          <a:xfrm>
            <a:off x="8404167" y="3383280"/>
            <a:ext cx="149629" cy="149629"/>
          </a:xfrm>
          <a:prstGeom prst="rect">
            <a:avLst/>
          </a:prstGeom>
          <a:solidFill>
            <a:srgbClr val="2C1810"/>
          </a:solidFill>
          <a:ln/>
        </p:spPr>
      </p:sp>
      <p:sp>
        <p:nvSpPr>
          <p:cNvPr id="80" name="Shape 78"/>
          <p:cNvSpPr/>
          <p:nvPr/>
        </p:nvSpPr>
        <p:spPr>
          <a:xfrm>
            <a:off x="8703425" y="3383280"/>
            <a:ext cx="149629" cy="149629"/>
          </a:xfrm>
          <a:prstGeom prst="rect">
            <a:avLst/>
          </a:prstGeom>
          <a:solidFill>
            <a:srgbClr val="2C1810"/>
          </a:solidFill>
          <a:ln/>
        </p:spPr>
      </p:sp>
      <p:sp>
        <p:nvSpPr>
          <p:cNvPr id="81" name="Shape 79"/>
          <p:cNvSpPr/>
          <p:nvPr/>
        </p:nvSpPr>
        <p:spPr>
          <a:xfrm>
            <a:off x="9002684" y="3383280"/>
            <a:ext cx="149629" cy="149629"/>
          </a:xfrm>
          <a:prstGeom prst="rect">
            <a:avLst/>
          </a:prstGeom>
          <a:solidFill>
            <a:srgbClr val="2C1810"/>
          </a:solidFill>
          <a:ln/>
        </p:spPr>
      </p:sp>
      <p:sp>
        <p:nvSpPr>
          <p:cNvPr id="82" name="Shape 80"/>
          <p:cNvSpPr/>
          <p:nvPr/>
        </p:nvSpPr>
        <p:spPr>
          <a:xfrm>
            <a:off x="9152313" y="3383280"/>
            <a:ext cx="149629" cy="149629"/>
          </a:xfrm>
          <a:prstGeom prst="rect">
            <a:avLst/>
          </a:prstGeom>
          <a:solidFill>
            <a:srgbClr val="2C1810"/>
          </a:solidFill>
          <a:ln/>
        </p:spPr>
      </p:sp>
      <p:sp>
        <p:nvSpPr>
          <p:cNvPr id="83" name="Shape 81"/>
          <p:cNvSpPr/>
          <p:nvPr/>
        </p:nvSpPr>
        <p:spPr>
          <a:xfrm>
            <a:off x="9301942" y="3383280"/>
            <a:ext cx="149629" cy="149629"/>
          </a:xfrm>
          <a:prstGeom prst="rect">
            <a:avLst/>
          </a:prstGeom>
          <a:solidFill>
            <a:srgbClr val="2C1810"/>
          </a:solidFill>
          <a:ln/>
        </p:spPr>
      </p:sp>
      <p:sp>
        <p:nvSpPr>
          <p:cNvPr id="84" name="Shape 82"/>
          <p:cNvSpPr/>
          <p:nvPr/>
        </p:nvSpPr>
        <p:spPr>
          <a:xfrm>
            <a:off x="9451571" y="3383280"/>
            <a:ext cx="149629" cy="149629"/>
          </a:xfrm>
          <a:prstGeom prst="rect">
            <a:avLst/>
          </a:prstGeom>
          <a:solidFill>
            <a:srgbClr val="2C1810"/>
          </a:solidFill>
          <a:ln/>
        </p:spPr>
      </p:sp>
      <p:sp>
        <p:nvSpPr>
          <p:cNvPr id="85" name="Shape 83"/>
          <p:cNvSpPr/>
          <p:nvPr/>
        </p:nvSpPr>
        <p:spPr>
          <a:xfrm>
            <a:off x="7955280" y="3532909"/>
            <a:ext cx="149629" cy="149629"/>
          </a:xfrm>
          <a:prstGeom prst="rect">
            <a:avLst/>
          </a:prstGeom>
          <a:solidFill>
            <a:srgbClr val="2C1810"/>
          </a:solidFill>
          <a:ln/>
        </p:spPr>
      </p:sp>
      <p:sp>
        <p:nvSpPr>
          <p:cNvPr id="86" name="Shape 84"/>
          <p:cNvSpPr/>
          <p:nvPr/>
        </p:nvSpPr>
        <p:spPr>
          <a:xfrm>
            <a:off x="8104909" y="3532909"/>
            <a:ext cx="149629" cy="149629"/>
          </a:xfrm>
          <a:prstGeom prst="rect">
            <a:avLst/>
          </a:prstGeom>
          <a:solidFill>
            <a:srgbClr val="2C1810"/>
          </a:solidFill>
          <a:ln/>
        </p:spPr>
      </p:sp>
      <p:sp>
        <p:nvSpPr>
          <p:cNvPr id="87" name="Shape 85"/>
          <p:cNvSpPr/>
          <p:nvPr/>
        </p:nvSpPr>
        <p:spPr>
          <a:xfrm>
            <a:off x="8254538" y="3532909"/>
            <a:ext cx="149629" cy="149629"/>
          </a:xfrm>
          <a:prstGeom prst="rect">
            <a:avLst/>
          </a:prstGeom>
          <a:solidFill>
            <a:srgbClr val="2C1810"/>
          </a:solidFill>
          <a:ln/>
        </p:spPr>
      </p:sp>
      <p:sp>
        <p:nvSpPr>
          <p:cNvPr id="88" name="Shape 86"/>
          <p:cNvSpPr/>
          <p:nvPr/>
        </p:nvSpPr>
        <p:spPr>
          <a:xfrm>
            <a:off x="8553796" y="3532909"/>
            <a:ext cx="149629" cy="149629"/>
          </a:xfrm>
          <a:prstGeom prst="rect">
            <a:avLst/>
          </a:prstGeom>
          <a:solidFill>
            <a:srgbClr val="2C1810"/>
          </a:solidFill>
          <a:ln/>
        </p:spPr>
      </p:sp>
      <p:sp>
        <p:nvSpPr>
          <p:cNvPr id="89" name="Shape 87"/>
          <p:cNvSpPr/>
          <p:nvPr/>
        </p:nvSpPr>
        <p:spPr>
          <a:xfrm>
            <a:off x="8853055" y="3532909"/>
            <a:ext cx="149629" cy="149629"/>
          </a:xfrm>
          <a:prstGeom prst="rect">
            <a:avLst/>
          </a:prstGeom>
          <a:solidFill>
            <a:srgbClr val="2C1810"/>
          </a:solidFill>
          <a:ln/>
        </p:spPr>
      </p:sp>
      <p:sp>
        <p:nvSpPr>
          <p:cNvPr id="90" name="Shape 88"/>
          <p:cNvSpPr/>
          <p:nvPr/>
        </p:nvSpPr>
        <p:spPr>
          <a:xfrm>
            <a:off x="9152313" y="3532909"/>
            <a:ext cx="149629" cy="149629"/>
          </a:xfrm>
          <a:prstGeom prst="rect">
            <a:avLst/>
          </a:prstGeom>
          <a:solidFill>
            <a:srgbClr val="2C1810"/>
          </a:solidFill>
          <a:ln/>
        </p:spPr>
      </p:sp>
      <p:sp>
        <p:nvSpPr>
          <p:cNvPr id="91" name="Shape 89"/>
          <p:cNvSpPr/>
          <p:nvPr/>
        </p:nvSpPr>
        <p:spPr>
          <a:xfrm>
            <a:off x="9301942" y="3532909"/>
            <a:ext cx="149629" cy="149629"/>
          </a:xfrm>
          <a:prstGeom prst="rect">
            <a:avLst/>
          </a:prstGeom>
          <a:solidFill>
            <a:srgbClr val="2C1810"/>
          </a:solidFill>
          <a:ln/>
        </p:spPr>
      </p:sp>
      <p:sp>
        <p:nvSpPr>
          <p:cNvPr id="92" name="Shape 90"/>
          <p:cNvSpPr/>
          <p:nvPr/>
        </p:nvSpPr>
        <p:spPr>
          <a:xfrm>
            <a:off x="9451571" y="3532909"/>
            <a:ext cx="149629" cy="149629"/>
          </a:xfrm>
          <a:prstGeom prst="rect">
            <a:avLst/>
          </a:prstGeom>
          <a:solidFill>
            <a:srgbClr val="2C1810"/>
          </a:solidFill>
          <a:ln/>
        </p:spPr>
      </p:sp>
      <p:sp>
        <p:nvSpPr>
          <p:cNvPr id="93" name="Shape 91"/>
          <p:cNvSpPr/>
          <p:nvPr/>
        </p:nvSpPr>
        <p:spPr>
          <a:xfrm>
            <a:off x="7955280" y="3682538"/>
            <a:ext cx="149629" cy="149629"/>
          </a:xfrm>
          <a:prstGeom prst="rect">
            <a:avLst/>
          </a:prstGeom>
          <a:solidFill>
            <a:srgbClr val="2C1810"/>
          </a:solidFill>
          <a:ln/>
        </p:spPr>
      </p:sp>
      <p:sp>
        <p:nvSpPr>
          <p:cNvPr id="94" name="Shape 92"/>
          <p:cNvSpPr/>
          <p:nvPr/>
        </p:nvSpPr>
        <p:spPr>
          <a:xfrm>
            <a:off x="8104909" y="3682538"/>
            <a:ext cx="149629" cy="149629"/>
          </a:xfrm>
          <a:prstGeom prst="rect">
            <a:avLst/>
          </a:prstGeom>
          <a:solidFill>
            <a:srgbClr val="2C1810"/>
          </a:solidFill>
          <a:ln/>
        </p:spPr>
      </p:sp>
      <p:sp>
        <p:nvSpPr>
          <p:cNvPr id="95" name="Shape 93"/>
          <p:cNvSpPr/>
          <p:nvPr/>
        </p:nvSpPr>
        <p:spPr>
          <a:xfrm>
            <a:off x="8254538" y="3682538"/>
            <a:ext cx="149629" cy="149629"/>
          </a:xfrm>
          <a:prstGeom prst="rect">
            <a:avLst/>
          </a:prstGeom>
          <a:solidFill>
            <a:srgbClr val="2C1810"/>
          </a:solidFill>
          <a:ln/>
        </p:spPr>
      </p:sp>
      <p:sp>
        <p:nvSpPr>
          <p:cNvPr id="96" name="Shape 94"/>
          <p:cNvSpPr/>
          <p:nvPr/>
        </p:nvSpPr>
        <p:spPr>
          <a:xfrm>
            <a:off x="8404167" y="3682538"/>
            <a:ext cx="149629" cy="149629"/>
          </a:xfrm>
          <a:prstGeom prst="rect">
            <a:avLst/>
          </a:prstGeom>
          <a:solidFill>
            <a:srgbClr val="2C1810"/>
          </a:solidFill>
          <a:ln/>
        </p:spPr>
      </p:sp>
      <p:sp>
        <p:nvSpPr>
          <p:cNvPr id="97" name="Shape 95"/>
          <p:cNvSpPr/>
          <p:nvPr/>
        </p:nvSpPr>
        <p:spPr>
          <a:xfrm>
            <a:off x="8703425" y="3682538"/>
            <a:ext cx="149629" cy="149629"/>
          </a:xfrm>
          <a:prstGeom prst="rect">
            <a:avLst/>
          </a:prstGeom>
          <a:solidFill>
            <a:srgbClr val="2C1810"/>
          </a:solidFill>
          <a:ln/>
        </p:spPr>
      </p:sp>
      <p:sp>
        <p:nvSpPr>
          <p:cNvPr id="98" name="Shape 96"/>
          <p:cNvSpPr/>
          <p:nvPr/>
        </p:nvSpPr>
        <p:spPr>
          <a:xfrm>
            <a:off x="9152313" y="3682538"/>
            <a:ext cx="149629" cy="149629"/>
          </a:xfrm>
          <a:prstGeom prst="rect">
            <a:avLst/>
          </a:prstGeom>
          <a:solidFill>
            <a:srgbClr val="2C1810"/>
          </a:solidFill>
          <a:ln/>
        </p:spPr>
      </p:sp>
      <p:sp>
        <p:nvSpPr>
          <p:cNvPr id="99" name="Shape 97"/>
          <p:cNvSpPr/>
          <p:nvPr/>
        </p:nvSpPr>
        <p:spPr>
          <a:xfrm>
            <a:off x="9301942" y="3682538"/>
            <a:ext cx="149629" cy="149629"/>
          </a:xfrm>
          <a:prstGeom prst="rect">
            <a:avLst/>
          </a:prstGeom>
          <a:solidFill>
            <a:srgbClr val="2C1810"/>
          </a:solidFill>
          <a:ln/>
        </p:spPr>
      </p:sp>
      <p:sp>
        <p:nvSpPr>
          <p:cNvPr id="100" name="Shape 98"/>
          <p:cNvSpPr/>
          <p:nvPr/>
        </p:nvSpPr>
        <p:spPr>
          <a:xfrm>
            <a:off x="9451571" y="3682538"/>
            <a:ext cx="149629" cy="149629"/>
          </a:xfrm>
          <a:prstGeom prst="rect">
            <a:avLst/>
          </a:prstGeom>
          <a:solidFill>
            <a:srgbClr val="2C1810"/>
          </a:solidFill>
          <a:ln/>
        </p:spPr>
      </p:sp>
      <p:sp>
        <p:nvSpPr>
          <p:cNvPr id="101" name="Shape 99"/>
          <p:cNvSpPr/>
          <p:nvPr/>
        </p:nvSpPr>
        <p:spPr>
          <a:xfrm>
            <a:off x="7955280" y="3832167"/>
            <a:ext cx="149629" cy="149629"/>
          </a:xfrm>
          <a:prstGeom prst="rect">
            <a:avLst/>
          </a:prstGeom>
          <a:solidFill>
            <a:srgbClr val="2C1810"/>
          </a:solidFill>
          <a:ln/>
        </p:spPr>
      </p:sp>
      <p:sp>
        <p:nvSpPr>
          <p:cNvPr id="102" name="Shape 100"/>
          <p:cNvSpPr/>
          <p:nvPr/>
        </p:nvSpPr>
        <p:spPr>
          <a:xfrm>
            <a:off x="8254538" y="3832167"/>
            <a:ext cx="149629" cy="149629"/>
          </a:xfrm>
          <a:prstGeom prst="rect">
            <a:avLst/>
          </a:prstGeom>
          <a:solidFill>
            <a:srgbClr val="2C1810"/>
          </a:solidFill>
          <a:ln/>
        </p:spPr>
      </p:sp>
      <p:sp>
        <p:nvSpPr>
          <p:cNvPr id="103" name="Shape 101"/>
          <p:cNvSpPr/>
          <p:nvPr/>
        </p:nvSpPr>
        <p:spPr>
          <a:xfrm>
            <a:off x="8553796" y="3832167"/>
            <a:ext cx="149629" cy="149629"/>
          </a:xfrm>
          <a:prstGeom prst="rect">
            <a:avLst/>
          </a:prstGeom>
          <a:solidFill>
            <a:srgbClr val="2C1810"/>
          </a:solidFill>
          <a:ln/>
        </p:spPr>
      </p:sp>
      <p:sp>
        <p:nvSpPr>
          <p:cNvPr id="104" name="Shape 102"/>
          <p:cNvSpPr/>
          <p:nvPr/>
        </p:nvSpPr>
        <p:spPr>
          <a:xfrm>
            <a:off x="9002684" y="3832167"/>
            <a:ext cx="149629" cy="149629"/>
          </a:xfrm>
          <a:prstGeom prst="rect">
            <a:avLst/>
          </a:prstGeom>
          <a:solidFill>
            <a:srgbClr val="2C1810"/>
          </a:solidFill>
          <a:ln/>
        </p:spPr>
      </p:sp>
      <p:sp>
        <p:nvSpPr>
          <p:cNvPr id="105" name="Shape 103"/>
          <p:cNvSpPr/>
          <p:nvPr/>
        </p:nvSpPr>
        <p:spPr>
          <a:xfrm>
            <a:off x="9301942" y="3832167"/>
            <a:ext cx="149629" cy="149629"/>
          </a:xfrm>
          <a:prstGeom prst="rect">
            <a:avLst/>
          </a:prstGeom>
          <a:solidFill>
            <a:srgbClr val="2C1810"/>
          </a:solidFill>
          <a:ln/>
        </p:spPr>
      </p:sp>
      <p:sp>
        <p:nvSpPr>
          <p:cNvPr id="106" name="Shape 104"/>
          <p:cNvSpPr/>
          <p:nvPr/>
        </p:nvSpPr>
        <p:spPr>
          <a:xfrm>
            <a:off x="8104909" y="3981796"/>
            <a:ext cx="149629" cy="149629"/>
          </a:xfrm>
          <a:prstGeom prst="rect">
            <a:avLst/>
          </a:prstGeom>
          <a:solidFill>
            <a:srgbClr val="2C1810"/>
          </a:solidFill>
          <a:ln/>
        </p:spPr>
      </p:sp>
      <p:sp>
        <p:nvSpPr>
          <p:cNvPr id="107" name="Shape 105"/>
          <p:cNvSpPr/>
          <p:nvPr/>
        </p:nvSpPr>
        <p:spPr>
          <a:xfrm>
            <a:off x="8404167" y="3981796"/>
            <a:ext cx="149629" cy="149629"/>
          </a:xfrm>
          <a:prstGeom prst="rect">
            <a:avLst/>
          </a:prstGeom>
          <a:solidFill>
            <a:srgbClr val="2C1810"/>
          </a:solidFill>
          <a:ln/>
        </p:spPr>
      </p:sp>
      <p:sp>
        <p:nvSpPr>
          <p:cNvPr id="108" name="Shape 106"/>
          <p:cNvSpPr/>
          <p:nvPr/>
        </p:nvSpPr>
        <p:spPr>
          <a:xfrm>
            <a:off x="8853055" y="3981796"/>
            <a:ext cx="149629" cy="149629"/>
          </a:xfrm>
          <a:prstGeom prst="rect">
            <a:avLst/>
          </a:prstGeom>
          <a:solidFill>
            <a:srgbClr val="2C1810"/>
          </a:solidFill>
          <a:ln/>
        </p:spPr>
      </p:sp>
      <p:sp>
        <p:nvSpPr>
          <p:cNvPr id="109" name="Shape 107"/>
          <p:cNvSpPr/>
          <p:nvPr/>
        </p:nvSpPr>
        <p:spPr>
          <a:xfrm>
            <a:off x="9152313" y="3981796"/>
            <a:ext cx="149629" cy="149629"/>
          </a:xfrm>
          <a:prstGeom prst="rect">
            <a:avLst/>
          </a:prstGeom>
          <a:solidFill>
            <a:srgbClr val="2C1810"/>
          </a:solidFill>
          <a:ln/>
        </p:spPr>
      </p:sp>
      <p:sp>
        <p:nvSpPr>
          <p:cNvPr id="110" name="Shape 108"/>
          <p:cNvSpPr/>
          <p:nvPr/>
        </p:nvSpPr>
        <p:spPr>
          <a:xfrm>
            <a:off x="9451571" y="3981796"/>
            <a:ext cx="149629" cy="149629"/>
          </a:xfrm>
          <a:prstGeom prst="rect">
            <a:avLst/>
          </a:prstGeom>
          <a:solidFill>
            <a:srgbClr val="2C1810"/>
          </a:solidFill>
          <a:ln/>
        </p:spPr>
      </p:sp>
      <p:sp>
        <p:nvSpPr>
          <p:cNvPr id="111" name="Shape 109"/>
          <p:cNvSpPr/>
          <p:nvPr/>
        </p:nvSpPr>
        <p:spPr>
          <a:xfrm>
            <a:off x="7955280" y="4131425"/>
            <a:ext cx="149629" cy="149629"/>
          </a:xfrm>
          <a:prstGeom prst="rect">
            <a:avLst/>
          </a:prstGeom>
          <a:solidFill>
            <a:srgbClr val="2C1810"/>
          </a:solidFill>
          <a:ln/>
        </p:spPr>
      </p:sp>
      <p:sp>
        <p:nvSpPr>
          <p:cNvPr id="112" name="Shape 110"/>
          <p:cNvSpPr/>
          <p:nvPr/>
        </p:nvSpPr>
        <p:spPr>
          <a:xfrm>
            <a:off x="8254538" y="4131425"/>
            <a:ext cx="149629" cy="149629"/>
          </a:xfrm>
          <a:prstGeom prst="rect">
            <a:avLst/>
          </a:prstGeom>
          <a:solidFill>
            <a:srgbClr val="2C1810"/>
          </a:solidFill>
          <a:ln/>
        </p:spPr>
      </p:sp>
      <p:sp>
        <p:nvSpPr>
          <p:cNvPr id="113" name="Shape 111"/>
          <p:cNvSpPr/>
          <p:nvPr/>
        </p:nvSpPr>
        <p:spPr>
          <a:xfrm>
            <a:off x="8703425" y="4131425"/>
            <a:ext cx="149629" cy="149629"/>
          </a:xfrm>
          <a:prstGeom prst="rect">
            <a:avLst/>
          </a:prstGeom>
          <a:solidFill>
            <a:srgbClr val="2C1810"/>
          </a:solidFill>
          <a:ln/>
        </p:spPr>
      </p:sp>
      <p:sp>
        <p:nvSpPr>
          <p:cNvPr id="114" name="Shape 112"/>
          <p:cNvSpPr/>
          <p:nvPr/>
        </p:nvSpPr>
        <p:spPr>
          <a:xfrm>
            <a:off x="9002684" y="4131425"/>
            <a:ext cx="149629" cy="149629"/>
          </a:xfrm>
          <a:prstGeom prst="rect">
            <a:avLst/>
          </a:prstGeom>
          <a:solidFill>
            <a:srgbClr val="2C1810"/>
          </a:solidFill>
          <a:ln/>
        </p:spPr>
      </p:sp>
      <p:sp>
        <p:nvSpPr>
          <p:cNvPr id="115" name="Shape 113"/>
          <p:cNvSpPr/>
          <p:nvPr/>
        </p:nvSpPr>
        <p:spPr>
          <a:xfrm>
            <a:off x="9301942" y="4131425"/>
            <a:ext cx="149629" cy="149629"/>
          </a:xfrm>
          <a:prstGeom prst="rect">
            <a:avLst/>
          </a:prstGeom>
          <a:solidFill>
            <a:srgbClr val="2C1810"/>
          </a:solidFill>
          <a:ln/>
        </p:spPr>
      </p:sp>
      <p:sp>
        <p:nvSpPr>
          <p:cNvPr id="116" name="Shape 114"/>
          <p:cNvSpPr/>
          <p:nvPr/>
        </p:nvSpPr>
        <p:spPr>
          <a:xfrm>
            <a:off x="8104909" y="4281055"/>
            <a:ext cx="149629" cy="149629"/>
          </a:xfrm>
          <a:prstGeom prst="rect">
            <a:avLst/>
          </a:prstGeom>
          <a:solidFill>
            <a:srgbClr val="2C1810"/>
          </a:solidFill>
          <a:ln/>
        </p:spPr>
      </p:sp>
      <p:sp>
        <p:nvSpPr>
          <p:cNvPr id="117" name="Shape 115"/>
          <p:cNvSpPr/>
          <p:nvPr/>
        </p:nvSpPr>
        <p:spPr>
          <a:xfrm>
            <a:off x="8553796" y="4281055"/>
            <a:ext cx="149629" cy="149629"/>
          </a:xfrm>
          <a:prstGeom prst="rect">
            <a:avLst/>
          </a:prstGeom>
          <a:solidFill>
            <a:srgbClr val="2C1810"/>
          </a:solidFill>
          <a:ln/>
        </p:spPr>
      </p:sp>
      <p:sp>
        <p:nvSpPr>
          <p:cNvPr id="118" name="Shape 116"/>
          <p:cNvSpPr/>
          <p:nvPr/>
        </p:nvSpPr>
        <p:spPr>
          <a:xfrm>
            <a:off x="8853055" y="4281055"/>
            <a:ext cx="149629" cy="149629"/>
          </a:xfrm>
          <a:prstGeom prst="rect">
            <a:avLst/>
          </a:prstGeom>
          <a:solidFill>
            <a:srgbClr val="2C1810"/>
          </a:solidFill>
          <a:ln/>
        </p:spPr>
      </p:sp>
      <p:sp>
        <p:nvSpPr>
          <p:cNvPr id="119" name="Shape 117"/>
          <p:cNvSpPr/>
          <p:nvPr/>
        </p:nvSpPr>
        <p:spPr>
          <a:xfrm>
            <a:off x="9152313" y="4281055"/>
            <a:ext cx="149629" cy="149629"/>
          </a:xfrm>
          <a:prstGeom prst="rect">
            <a:avLst/>
          </a:prstGeom>
          <a:solidFill>
            <a:srgbClr val="2C1810"/>
          </a:solidFill>
          <a:ln/>
        </p:spPr>
      </p:sp>
      <p:sp>
        <p:nvSpPr>
          <p:cNvPr id="120" name="Shape 118"/>
          <p:cNvSpPr/>
          <p:nvPr/>
        </p:nvSpPr>
        <p:spPr>
          <a:xfrm>
            <a:off x="7955280" y="4430684"/>
            <a:ext cx="149629" cy="149629"/>
          </a:xfrm>
          <a:prstGeom prst="rect">
            <a:avLst/>
          </a:prstGeom>
          <a:solidFill>
            <a:srgbClr val="2C1810"/>
          </a:solidFill>
          <a:ln/>
        </p:spPr>
      </p:sp>
      <p:sp>
        <p:nvSpPr>
          <p:cNvPr id="121" name="Shape 119"/>
          <p:cNvSpPr/>
          <p:nvPr/>
        </p:nvSpPr>
        <p:spPr>
          <a:xfrm>
            <a:off x="8404167" y="4430684"/>
            <a:ext cx="149629" cy="149629"/>
          </a:xfrm>
          <a:prstGeom prst="rect">
            <a:avLst/>
          </a:prstGeom>
          <a:solidFill>
            <a:srgbClr val="2C1810"/>
          </a:solidFill>
          <a:ln/>
        </p:spPr>
      </p:sp>
      <p:sp>
        <p:nvSpPr>
          <p:cNvPr id="122" name="Shape 120"/>
          <p:cNvSpPr/>
          <p:nvPr/>
        </p:nvSpPr>
        <p:spPr>
          <a:xfrm>
            <a:off x="8703425" y="4430684"/>
            <a:ext cx="149629" cy="149629"/>
          </a:xfrm>
          <a:prstGeom prst="rect">
            <a:avLst/>
          </a:prstGeom>
          <a:solidFill>
            <a:srgbClr val="2C1810"/>
          </a:solidFill>
          <a:ln/>
        </p:spPr>
      </p:sp>
      <p:sp>
        <p:nvSpPr>
          <p:cNvPr id="123" name="Shape 121"/>
          <p:cNvSpPr/>
          <p:nvPr/>
        </p:nvSpPr>
        <p:spPr>
          <a:xfrm>
            <a:off x="9002684" y="4430684"/>
            <a:ext cx="149629" cy="149629"/>
          </a:xfrm>
          <a:prstGeom prst="rect">
            <a:avLst/>
          </a:prstGeom>
          <a:solidFill>
            <a:srgbClr val="2C1810"/>
          </a:solidFill>
          <a:ln/>
        </p:spPr>
      </p:sp>
      <p:sp>
        <p:nvSpPr>
          <p:cNvPr id="124" name="Shape 122"/>
          <p:cNvSpPr/>
          <p:nvPr/>
        </p:nvSpPr>
        <p:spPr>
          <a:xfrm>
            <a:off x="9451571" y="4430684"/>
            <a:ext cx="149629" cy="149629"/>
          </a:xfrm>
          <a:prstGeom prst="rect">
            <a:avLst/>
          </a:prstGeom>
          <a:solidFill>
            <a:srgbClr val="2C1810"/>
          </a:solidFill>
          <a:ln/>
        </p:spPr>
      </p:sp>
      <p:sp>
        <p:nvSpPr>
          <p:cNvPr id="125" name="Shape 123"/>
          <p:cNvSpPr/>
          <p:nvPr/>
        </p:nvSpPr>
        <p:spPr>
          <a:xfrm>
            <a:off x="7955280" y="4580313"/>
            <a:ext cx="149629" cy="149629"/>
          </a:xfrm>
          <a:prstGeom prst="rect">
            <a:avLst/>
          </a:prstGeom>
          <a:solidFill>
            <a:srgbClr val="2C1810"/>
          </a:solidFill>
          <a:ln/>
        </p:spPr>
      </p:sp>
      <p:sp>
        <p:nvSpPr>
          <p:cNvPr id="126" name="Shape 124"/>
          <p:cNvSpPr/>
          <p:nvPr/>
        </p:nvSpPr>
        <p:spPr>
          <a:xfrm>
            <a:off x="8104909" y="4580313"/>
            <a:ext cx="149629" cy="149629"/>
          </a:xfrm>
          <a:prstGeom prst="rect">
            <a:avLst/>
          </a:prstGeom>
          <a:solidFill>
            <a:srgbClr val="2C1810"/>
          </a:solidFill>
          <a:ln/>
        </p:spPr>
      </p:sp>
      <p:sp>
        <p:nvSpPr>
          <p:cNvPr id="127" name="Shape 125"/>
          <p:cNvSpPr/>
          <p:nvPr/>
        </p:nvSpPr>
        <p:spPr>
          <a:xfrm>
            <a:off x="8254538" y="4580313"/>
            <a:ext cx="149629" cy="149629"/>
          </a:xfrm>
          <a:prstGeom prst="rect">
            <a:avLst/>
          </a:prstGeom>
          <a:solidFill>
            <a:srgbClr val="2C1810"/>
          </a:solidFill>
          <a:ln/>
        </p:spPr>
      </p:sp>
      <p:sp>
        <p:nvSpPr>
          <p:cNvPr id="128" name="Shape 126"/>
          <p:cNvSpPr/>
          <p:nvPr/>
        </p:nvSpPr>
        <p:spPr>
          <a:xfrm>
            <a:off x="8553796" y="4580313"/>
            <a:ext cx="149629" cy="149629"/>
          </a:xfrm>
          <a:prstGeom prst="rect">
            <a:avLst/>
          </a:prstGeom>
          <a:solidFill>
            <a:srgbClr val="2C1810"/>
          </a:solidFill>
          <a:ln/>
        </p:spPr>
      </p:sp>
      <p:sp>
        <p:nvSpPr>
          <p:cNvPr id="129" name="Shape 127"/>
          <p:cNvSpPr/>
          <p:nvPr/>
        </p:nvSpPr>
        <p:spPr>
          <a:xfrm>
            <a:off x="8853055" y="4580313"/>
            <a:ext cx="149629" cy="149629"/>
          </a:xfrm>
          <a:prstGeom prst="rect">
            <a:avLst/>
          </a:prstGeom>
          <a:solidFill>
            <a:srgbClr val="2C1810"/>
          </a:solidFill>
          <a:ln/>
        </p:spPr>
      </p:sp>
      <p:sp>
        <p:nvSpPr>
          <p:cNvPr id="130" name="Shape 128"/>
          <p:cNvSpPr/>
          <p:nvPr/>
        </p:nvSpPr>
        <p:spPr>
          <a:xfrm>
            <a:off x="9301942" y="4580313"/>
            <a:ext cx="149629" cy="149629"/>
          </a:xfrm>
          <a:prstGeom prst="rect">
            <a:avLst/>
          </a:prstGeom>
          <a:solidFill>
            <a:srgbClr val="2C1810"/>
          </a:solidFill>
          <a:ln/>
        </p:spPr>
      </p:sp>
      <p:sp>
        <p:nvSpPr>
          <p:cNvPr id="131" name="Shape 129"/>
          <p:cNvSpPr/>
          <p:nvPr/>
        </p:nvSpPr>
        <p:spPr>
          <a:xfrm>
            <a:off x="7955280" y="4729942"/>
            <a:ext cx="149629" cy="149629"/>
          </a:xfrm>
          <a:prstGeom prst="rect">
            <a:avLst/>
          </a:prstGeom>
          <a:solidFill>
            <a:srgbClr val="2C1810"/>
          </a:solidFill>
          <a:ln/>
        </p:spPr>
      </p:sp>
      <p:sp>
        <p:nvSpPr>
          <p:cNvPr id="132" name="Shape 130"/>
          <p:cNvSpPr/>
          <p:nvPr/>
        </p:nvSpPr>
        <p:spPr>
          <a:xfrm>
            <a:off x="8104909" y="4729942"/>
            <a:ext cx="149629" cy="149629"/>
          </a:xfrm>
          <a:prstGeom prst="rect">
            <a:avLst/>
          </a:prstGeom>
          <a:solidFill>
            <a:srgbClr val="2C1810"/>
          </a:solidFill>
          <a:ln/>
        </p:spPr>
      </p:sp>
      <p:sp>
        <p:nvSpPr>
          <p:cNvPr id="133" name="Shape 131"/>
          <p:cNvSpPr/>
          <p:nvPr/>
        </p:nvSpPr>
        <p:spPr>
          <a:xfrm>
            <a:off x="8254538" y="4729942"/>
            <a:ext cx="149629" cy="149629"/>
          </a:xfrm>
          <a:prstGeom prst="rect">
            <a:avLst/>
          </a:prstGeom>
          <a:solidFill>
            <a:srgbClr val="2C1810"/>
          </a:solidFill>
          <a:ln/>
        </p:spPr>
      </p:sp>
      <p:sp>
        <p:nvSpPr>
          <p:cNvPr id="134" name="Shape 132"/>
          <p:cNvSpPr/>
          <p:nvPr/>
        </p:nvSpPr>
        <p:spPr>
          <a:xfrm>
            <a:off x="8404167" y="4729942"/>
            <a:ext cx="149629" cy="149629"/>
          </a:xfrm>
          <a:prstGeom prst="rect">
            <a:avLst/>
          </a:prstGeom>
          <a:solidFill>
            <a:srgbClr val="2C1810"/>
          </a:solidFill>
          <a:ln/>
        </p:spPr>
      </p:sp>
      <p:sp>
        <p:nvSpPr>
          <p:cNvPr id="135" name="Shape 133"/>
          <p:cNvSpPr/>
          <p:nvPr/>
        </p:nvSpPr>
        <p:spPr>
          <a:xfrm>
            <a:off x="8703425" y="4729942"/>
            <a:ext cx="149629" cy="149629"/>
          </a:xfrm>
          <a:prstGeom prst="rect">
            <a:avLst/>
          </a:prstGeom>
          <a:solidFill>
            <a:srgbClr val="2C1810"/>
          </a:solidFill>
          <a:ln/>
        </p:spPr>
      </p:sp>
      <p:sp>
        <p:nvSpPr>
          <p:cNvPr id="136" name="Shape 134"/>
          <p:cNvSpPr/>
          <p:nvPr/>
        </p:nvSpPr>
        <p:spPr>
          <a:xfrm>
            <a:off x="9152313" y="4729942"/>
            <a:ext cx="149629" cy="149629"/>
          </a:xfrm>
          <a:prstGeom prst="rect">
            <a:avLst/>
          </a:prstGeom>
          <a:solidFill>
            <a:srgbClr val="2C1810"/>
          </a:solidFill>
          <a:ln/>
        </p:spPr>
      </p:sp>
      <p:sp>
        <p:nvSpPr>
          <p:cNvPr id="137" name="Shape 135"/>
          <p:cNvSpPr/>
          <p:nvPr/>
        </p:nvSpPr>
        <p:spPr>
          <a:xfrm>
            <a:off x="9451571" y="4729942"/>
            <a:ext cx="149629" cy="149629"/>
          </a:xfrm>
          <a:prstGeom prst="rect">
            <a:avLst/>
          </a:prstGeom>
          <a:solidFill>
            <a:srgbClr val="2C1810"/>
          </a:solidFill>
          <a:ln/>
        </p:spPr>
      </p:sp>
      <p:sp>
        <p:nvSpPr>
          <p:cNvPr id="138" name="Shape 136"/>
          <p:cNvSpPr/>
          <p:nvPr/>
        </p:nvSpPr>
        <p:spPr>
          <a:xfrm>
            <a:off x="7955280" y="4879571"/>
            <a:ext cx="149629" cy="149629"/>
          </a:xfrm>
          <a:prstGeom prst="rect">
            <a:avLst/>
          </a:prstGeom>
          <a:solidFill>
            <a:srgbClr val="2C1810"/>
          </a:solidFill>
          <a:ln/>
        </p:spPr>
      </p:sp>
      <p:sp>
        <p:nvSpPr>
          <p:cNvPr id="139" name="Shape 137"/>
          <p:cNvSpPr/>
          <p:nvPr/>
        </p:nvSpPr>
        <p:spPr>
          <a:xfrm>
            <a:off x="8104909" y="4879571"/>
            <a:ext cx="149629" cy="149629"/>
          </a:xfrm>
          <a:prstGeom prst="rect">
            <a:avLst/>
          </a:prstGeom>
          <a:solidFill>
            <a:srgbClr val="2C1810"/>
          </a:solidFill>
          <a:ln/>
        </p:spPr>
      </p:sp>
      <p:sp>
        <p:nvSpPr>
          <p:cNvPr id="140" name="Shape 138"/>
          <p:cNvSpPr/>
          <p:nvPr/>
        </p:nvSpPr>
        <p:spPr>
          <a:xfrm>
            <a:off x="8254538" y="4879571"/>
            <a:ext cx="149629" cy="149629"/>
          </a:xfrm>
          <a:prstGeom prst="rect">
            <a:avLst/>
          </a:prstGeom>
          <a:solidFill>
            <a:srgbClr val="2C1810"/>
          </a:solidFill>
          <a:ln/>
        </p:spPr>
      </p:sp>
      <p:sp>
        <p:nvSpPr>
          <p:cNvPr id="141" name="Shape 139"/>
          <p:cNvSpPr/>
          <p:nvPr/>
        </p:nvSpPr>
        <p:spPr>
          <a:xfrm>
            <a:off x="8553796" y="4879571"/>
            <a:ext cx="149629" cy="149629"/>
          </a:xfrm>
          <a:prstGeom prst="rect">
            <a:avLst/>
          </a:prstGeom>
          <a:solidFill>
            <a:srgbClr val="2C1810"/>
          </a:solidFill>
          <a:ln/>
        </p:spPr>
      </p:sp>
      <p:sp>
        <p:nvSpPr>
          <p:cNvPr id="142" name="Shape 140"/>
          <p:cNvSpPr/>
          <p:nvPr/>
        </p:nvSpPr>
        <p:spPr>
          <a:xfrm>
            <a:off x="9002684" y="4879571"/>
            <a:ext cx="149629" cy="149629"/>
          </a:xfrm>
          <a:prstGeom prst="rect">
            <a:avLst/>
          </a:prstGeom>
          <a:solidFill>
            <a:srgbClr val="2C1810"/>
          </a:solidFill>
          <a:ln/>
        </p:spPr>
      </p:sp>
      <p:sp>
        <p:nvSpPr>
          <p:cNvPr id="143" name="Shape 141"/>
          <p:cNvSpPr/>
          <p:nvPr/>
        </p:nvSpPr>
        <p:spPr>
          <a:xfrm>
            <a:off x="9301942" y="4879571"/>
            <a:ext cx="149629" cy="149629"/>
          </a:xfrm>
          <a:prstGeom prst="rect">
            <a:avLst/>
          </a:prstGeom>
          <a:solidFill>
            <a:srgbClr val="2C1810"/>
          </a:solidFill>
          <a:ln/>
        </p:spPr>
      </p:sp>
      <p:sp>
        <p:nvSpPr>
          <p:cNvPr id="144" name="Text 142"/>
          <p:cNvSpPr txBox="1"/>
          <p:nvPr/>
        </p:nvSpPr>
        <p:spPr>
          <a:xfrm>
            <a:off x="9646920" y="3429000"/>
            <a:ext cx="548640" cy="1554480"/>
          </a:xfrm>
          <a:prstGeom prst="rect">
            <a:avLst/>
          </a:prstGeom>
          <a:noFill/>
          <a:ln/>
        </p:spPr>
        <p:txBody>
          <a:bodyPr wrap="square" rtlCol="0" anchor="ctr"/>
          <a:lstStyle/>
          <a:p>
            <a:pPr algn="ctr" indent="0" marL="0">
              <a:buNone/>
            </a:pPr>
            <a:r>
              <a:rPr lang="en-US" sz="1100" b="1" dirty="0">
                <a:solidFill>
                  <a:srgbClr val="8B1E1E"/>
                </a:solidFill>
                <a:latin typeface="Fraunces" pitchFamily="34" charset="0"/>
                <a:ea typeface="Fraunces" pitchFamily="34" charset="-122"/>
                <a:cs typeface="Fraunces" pitchFamily="34" charset="-120"/>
              </a:rPr>
              <a:t>TRY MAKANMATE NOW</a:t>
            </a:r>
            <a:endParaRPr lang="en-US" sz="1100" dirty="0"/>
          </a:p>
        </p:txBody>
      </p:sp>
      <p:sp>
        <p:nvSpPr>
          <p:cNvPr id="145" name="Text 143"/>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BUILT FOR CODEX HACKATHON 2026 · Responsible, grounded, agentic.</a:t>
            </a:r>
            <a:endParaRPr lang="en-US" sz="900" dirty="0"/>
          </a:p>
        </p:txBody>
      </p:sp>
      <p:sp>
        <p:nvSpPr>
          <p:cNvPr id="146" name="Text 144"/>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 )</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Text 23"/>
          <p:cNvSpPr txBox="1"/>
          <p:nvPr/>
        </p:nvSpPr>
        <p:spPr>
          <a:xfrm>
            <a:off x="502920" y="2011680"/>
            <a:ext cx="11185855" cy="914400"/>
          </a:xfrm>
          <a:prstGeom prst="rect">
            <a:avLst/>
          </a:prstGeom>
          <a:noFill/>
          <a:ln/>
        </p:spPr>
        <p:txBody>
          <a:bodyPr wrap="square" rtlCol="0" anchor="ctr"/>
          <a:lstStyle/>
          <a:p>
            <a:pPr algn="ctr" indent="0" marL="0">
              <a:buNone/>
            </a:pPr>
            <a:r>
              <a:rPr lang="en-US" sz="2800" b="1" spc="1200" kern="0" dirty="0">
                <a:solidFill>
                  <a:srgbClr val="8B1E1E"/>
                </a:solidFill>
                <a:latin typeface="Fraunces" pitchFamily="34" charset="0"/>
                <a:ea typeface="Fraunces" pitchFamily="34" charset="-122"/>
                <a:cs typeface="Fraunces" pitchFamily="34" charset="-120"/>
              </a:rPr>
              <a:t>APPENDIX</a:t>
            </a:r>
            <a:endParaRPr lang="en-US" sz="2800" dirty="0"/>
          </a:p>
        </p:txBody>
      </p:sp>
      <p:sp>
        <p:nvSpPr>
          <p:cNvPr id="26" name="Text 24"/>
          <p:cNvSpPr txBox="1"/>
          <p:nvPr/>
        </p:nvSpPr>
        <p:spPr>
          <a:xfrm>
            <a:off x="502920" y="2834640"/>
            <a:ext cx="11185855" cy="1371600"/>
          </a:xfrm>
          <a:prstGeom prst="rect">
            <a:avLst/>
          </a:prstGeom>
          <a:noFill/>
          <a:ln/>
        </p:spPr>
        <p:txBody>
          <a:bodyPr wrap="square" rtlCol="0" anchor="ctr"/>
          <a:lstStyle/>
          <a:p>
            <a:pPr algn="ctr" indent="0" marL="0">
              <a:buNone/>
            </a:pPr>
            <a:r>
              <a:rPr lang="en-US" sz="7200" b="1" dirty="0">
                <a:solidFill>
                  <a:srgbClr val="8B1E1E"/>
                </a:solidFill>
                <a:latin typeface="Fraunces" pitchFamily="34" charset="0"/>
                <a:ea typeface="Fraunces" pitchFamily="34" charset="-122"/>
                <a:cs typeface="Fraunces" pitchFamily="34" charset="-120"/>
              </a:rPr>
              <a:t>JUDGE Q&amp;A PREP</a:t>
            </a:r>
            <a:endParaRPr lang="en-US" sz="7200" dirty="0"/>
          </a:p>
        </p:txBody>
      </p:sp>
      <p:sp>
        <p:nvSpPr>
          <p:cNvPr id="27" name="Shape 25"/>
          <p:cNvSpPr/>
          <p:nvPr/>
        </p:nvSpPr>
        <p:spPr>
          <a:xfrm>
            <a:off x="4724248" y="4434840"/>
            <a:ext cx="2743200" cy="0"/>
          </a:xfrm>
          <a:prstGeom prst="line">
            <a:avLst/>
          </a:prstGeom>
          <a:noFill/>
          <a:ln w="19050">
            <a:solidFill>
              <a:srgbClr val="D4A947"/>
            </a:solidFill>
            <a:prstDash val="solid"/>
          </a:ln>
        </p:spPr>
      </p:sp>
      <p:sp>
        <p:nvSpPr>
          <p:cNvPr id="28" name="Shape 26"/>
          <p:cNvSpPr/>
          <p:nvPr/>
        </p:nvSpPr>
        <p:spPr>
          <a:xfrm>
            <a:off x="6123280" y="4352544"/>
            <a:ext cx="246888" cy="164592"/>
          </a:xfrm>
          <a:prstGeom prst="ellipse">
            <a:avLst/>
          </a:prstGeom>
          <a:solidFill>
            <a:srgbClr val="8B1E1E">
              <a:alpha val="65000"/>
            </a:srgbClr>
          </a:solidFill>
          <a:ln w="6350">
            <a:solidFill>
              <a:srgbClr val="8B1E1E"/>
            </a:solidFill>
            <a:prstDash val="solid"/>
          </a:ln>
        </p:spPr>
      </p:sp>
      <p:sp>
        <p:nvSpPr>
          <p:cNvPr id="29" name="Shape 27"/>
          <p:cNvSpPr/>
          <p:nvPr/>
        </p:nvSpPr>
        <p:spPr>
          <a:xfrm rot="5400000">
            <a:off x="5972404" y="4503420"/>
            <a:ext cx="246888" cy="164592"/>
          </a:xfrm>
          <a:prstGeom prst="ellipse">
            <a:avLst/>
          </a:prstGeom>
          <a:solidFill>
            <a:srgbClr val="8B1E1E">
              <a:alpha val="65000"/>
            </a:srgbClr>
          </a:solidFill>
          <a:ln w="6350">
            <a:solidFill>
              <a:srgbClr val="8B1E1E"/>
            </a:solidFill>
            <a:prstDash val="solid"/>
          </a:ln>
        </p:spPr>
      </p:sp>
      <p:sp>
        <p:nvSpPr>
          <p:cNvPr id="30" name="Shape 28"/>
          <p:cNvSpPr/>
          <p:nvPr/>
        </p:nvSpPr>
        <p:spPr>
          <a:xfrm rot="10800000">
            <a:off x="5821528" y="4352544"/>
            <a:ext cx="246888" cy="164592"/>
          </a:xfrm>
          <a:prstGeom prst="ellipse">
            <a:avLst/>
          </a:prstGeom>
          <a:solidFill>
            <a:srgbClr val="8B1E1E">
              <a:alpha val="65000"/>
            </a:srgbClr>
          </a:solidFill>
          <a:ln w="6350">
            <a:solidFill>
              <a:srgbClr val="8B1E1E"/>
            </a:solidFill>
            <a:prstDash val="solid"/>
          </a:ln>
        </p:spPr>
      </p:sp>
      <p:sp>
        <p:nvSpPr>
          <p:cNvPr id="31" name="Shape 29"/>
          <p:cNvSpPr/>
          <p:nvPr/>
        </p:nvSpPr>
        <p:spPr>
          <a:xfrm rot="16200000">
            <a:off x="5972404" y="4201668"/>
            <a:ext cx="246888" cy="164592"/>
          </a:xfrm>
          <a:prstGeom prst="ellipse">
            <a:avLst/>
          </a:prstGeom>
          <a:solidFill>
            <a:srgbClr val="8B1E1E">
              <a:alpha val="65000"/>
            </a:srgbClr>
          </a:solidFill>
          <a:ln w="6350">
            <a:solidFill>
              <a:srgbClr val="8B1E1E"/>
            </a:solidFill>
            <a:prstDash val="solid"/>
          </a:ln>
        </p:spPr>
      </p:sp>
      <p:sp>
        <p:nvSpPr>
          <p:cNvPr id="32" name="Shape 30"/>
          <p:cNvSpPr/>
          <p:nvPr/>
        </p:nvSpPr>
        <p:spPr>
          <a:xfrm>
            <a:off x="6046470" y="4385462"/>
            <a:ext cx="98755" cy="98755"/>
          </a:xfrm>
          <a:prstGeom prst="ellipse">
            <a:avLst/>
          </a:prstGeom>
          <a:solidFill>
            <a:srgbClr val="D4A947"/>
          </a:solidFill>
          <a:ln w="6350">
            <a:solidFill>
              <a:srgbClr val="8B1E1E"/>
            </a:solidFill>
            <a:prstDash val="solid"/>
          </a:ln>
        </p:spPr>
      </p:sp>
      <p:sp>
        <p:nvSpPr>
          <p:cNvPr id="33" name="Text 31"/>
          <p:cNvSpPr txBox="1"/>
          <p:nvPr/>
        </p:nvSpPr>
        <p:spPr>
          <a:xfrm>
            <a:off x="502920" y="4754880"/>
            <a:ext cx="11185855" cy="365760"/>
          </a:xfrm>
          <a:prstGeom prst="rect">
            <a:avLst/>
          </a:prstGeom>
          <a:noFill/>
          <a:ln/>
        </p:spPr>
        <p:txBody>
          <a:bodyPr wrap="square" rtlCol="0" anchor="ctr"/>
          <a:lstStyle/>
          <a:p>
            <a:pPr algn="ctr" indent="0" marL="0">
              <a:buNone/>
            </a:pPr>
            <a:r>
              <a:rPr lang="en-US" sz="1200" i="1" spc="300" kern="0" dirty="0">
                <a:solidFill>
                  <a:srgbClr val="5B4636"/>
                </a:solidFill>
                <a:latin typeface="DM Sans" pitchFamily="34" charset="0"/>
                <a:ea typeface="DM Sans" pitchFamily="34" charset="-122"/>
                <a:cs typeface="DM Sans" pitchFamily="34" charset="-120"/>
              </a:rPr>
              <a:t>Five likely questions · flip here when prompted</a:t>
            </a:r>
            <a:endParaRPr lang="en-US" sz="1200" dirty="0"/>
          </a:p>
        </p:txBody>
      </p:sp>
      <p:sp>
        <p:nvSpPr>
          <p:cNvPr id="34" name="Text 32"/>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35" name="Text 33"/>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A )</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502920" y="822960"/>
            <a:ext cx="914400" cy="914400"/>
          </a:xfrm>
          <a:prstGeom prst="ellipse">
            <a:avLst/>
          </a:prstGeom>
          <a:solidFill>
            <a:srgbClr val="8B1E1E"/>
          </a:solidFill>
          <a:ln w="15875">
            <a:solidFill>
              <a:srgbClr val="2C1810"/>
            </a:solidFill>
            <a:prstDash val="solid"/>
          </a:ln>
        </p:spPr>
      </p:sp>
      <p:sp>
        <p:nvSpPr>
          <p:cNvPr id="26" name="Text 24"/>
          <p:cNvSpPr txBox="1"/>
          <p:nvPr/>
        </p:nvSpPr>
        <p:spPr>
          <a:xfrm>
            <a:off x="502920" y="822960"/>
            <a:ext cx="914400" cy="914400"/>
          </a:xfrm>
          <a:prstGeom prst="rect">
            <a:avLst/>
          </a:prstGeom>
          <a:noFill/>
          <a:ln/>
        </p:spPr>
        <p:txBody>
          <a:bodyPr wrap="square" rtlCol="0" anchor="ctr"/>
          <a:lstStyle/>
          <a:p>
            <a:pPr algn="ctr" indent="0" marL="0">
              <a:buNone/>
            </a:pPr>
            <a:r>
              <a:rPr lang="en-US" sz="2800" b="1" dirty="0">
                <a:solidFill>
                  <a:srgbClr val="F4ECD8"/>
                </a:solidFill>
                <a:latin typeface="Fraunces" pitchFamily="34" charset="0"/>
                <a:ea typeface="Fraunces" pitchFamily="34" charset="-122"/>
                <a:cs typeface="Fraunces" pitchFamily="34" charset="-120"/>
              </a:rPr>
              <a:t>01</a:t>
            </a:r>
            <a:endParaRPr lang="en-US" sz="2800" dirty="0"/>
          </a:p>
        </p:txBody>
      </p:sp>
      <p:sp>
        <p:nvSpPr>
          <p:cNvPr id="27" name="Text 25"/>
          <p:cNvSpPr txBox="1"/>
          <p:nvPr/>
        </p:nvSpPr>
        <p:spPr>
          <a:xfrm>
            <a:off x="1645920" y="868680"/>
            <a:ext cx="9144000" cy="274320"/>
          </a:xfrm>
          <a:prstGeom prst="rect">
            <a:avLst/>
          </a:prstGeom>
          <a:noFill/>
          <a:ln/>
        </p:spPr>
        <p:txBody>
          <a:bodyPr wrap="square" rtlCol="0" anchor="ctr"/>
          <a:lstStyle/>
          <a:p>
            <a:pPr indent="0" marL="0">
              <a:buNone/>
            </a:pPr>
            <a:r>
              <a:rPr lang="en-US" sz="1000" b="1" spc="400" kern="0" dirty="0">
                <a:solidFill>
                  <a:srgbClr val="8B1E1E"/>
                </a:solidFill>
                <a:latin typeface="DM Sans" pitchFamily="34" charset="0"/>
                <a:ea typeface="DM Sans" pitchFamily="34" charset="-122"/>
                <a:cs typeface="DM Sans" pitchFamily="34" charset="-120"/>
              </a:rPr>
              <a:t>QUESTION</a:t>
            </a:r>
            <a:endParaRPr lang="en-US" sz="1000" dirty="0"/>
          </a:p>
        </p:txBody>
      </p:sp>
      <p:sp>
        <p:nvSpPr>
          <p:cNvPr id="28" name="Text 26"/>
          <p:cNvSpPr txBox="1"/>
          <p:nvPr/>
        </p:nvSpPr>
        <p:spPr>
          <a:xfrm>
            <a:off x="1645920" y="1097280"/>
            <a:ext cx="9601200" cy="822960"/>
          </a:xfrm>
          <a:prstGeom prst="rect">
            <a:avLst/>
          </a:prstGeom>
          <a:noFill/>
          <a:ln/>
        </p:spPr>
        <p:txBody>
          <a:bodyPr wrap="square" rtlCol="0" anchor="t"/>
          <a:lstStyle/>
          <a:p>
            <a:pPr algn="l" indent="0" marL="0">
              <a:lnSpc>
                <a:spcPct val="105000"/>
              </a:lnSpc>
              <a:buNone/>
            </a:pPr>
            <a:r>
              <a:rPr lang="en-US" sz="2000" b="1" dirty="0">
                <a:solidFill>
                  <a:srgbClr val="2C1810"/>
                </a:solidFill>
                <a:latin typeface="Fraunces" pitchFamily="34" charset="0"/>
                <a:ea typeface="Fraunces" pitchFamily="34" charset="-122"/>
                <a:cs typeface="Fraunces" pitchFamily="34" charset="-120"/>
              </a:rPr>
              <a:t>How is this different from Google Lens + ChatGPT?</a:t>
            </a:r>
            <a:endParaRPr lang="en-US" sz="2000" dirty="0"/>
          </a:p>
        </p:txBody>
      </p:sp>
      <p:sp>
        <p:nvSpPr>
          <p:cNvPr id="29" name="Shape 27"/>
          <p:cNvSpPr/>
          <p:nvPr/>
        </p:nvSpPr>
        <p:spPr>
          <a:xfrm>
            <a:off x="502920" y="2240280"/>
            <a:ext cx="11185855" cy="0"/>
          </a:xfrm>
          <a:prstGeom prst="line">
            <a:avLst/>
          </a:prstGeom>
          <a:noFill/>
          <a:ln w="15875">
            <a:solidFill>
              <a:srgbClr val="D4A947"/>
            </a:solidFill>
            <a:prstDash val="solid"/>
          </a:ln>
        </p:spPr>
      </p:sp>
      <p:sp>
        <p:nvSpPr>
          <p:cNvPr id="30" name="Text 28"/>
          <p:cNvSpPr txBox="1"/>
          <p:nvPr/>
        </p:nvSpPr>
        <p:spPr>
          <a:xfrm>
            <a:off x="502920" y="2468880"/>
            <a:ext cx="11185855" cy="274320"/>
          </a:xfrm>
          <a:prstGeom prst="rect">
            <a:avLst/>
          </a:prstGeom>
          <a:noFill/>
          <a:ln/>
        </p:spPr>
        <p:txBody>
          <a:bodyPr wrap="square" rtlCol="0" anchor="ctr"/>
          <a:lstStyle/>
          <a:p>
            <a:pPr indent="0" marL="0">
              <a:buNone/>
            </a:pPr>
            <a:r>
              <a:rPr lang="en-US" sz="1000" b="1" spc="400" kern="0" dirty="0">
                <a:solidFill>
                  <a:srgbClr val="2F5D3A"/>
                </a:solidFill>
                <a:latin typeface="DM Sans" pitchFamily="34" charset="0"/>
                <a:ea typeface="DM Sans" pitchFamily="34" charset="-122"/>
                <a:cs typeface="DM Sans" pitchFamily="34" charset="-120"/>
              </a:rPr>
              <a:t>ANSWER</a:t>
            </a:r>
            <a:endParaRPr lang="en-US" sz="1000" dirty="0"/>
          </a:p>
        </p:txBody>
      </p:sp>
      <p:sp>
        <p:nvSpPr>
          <p:cNvPr id="31" name="Shape 29"/>
          <p:cNvSpPr/>
          <p:nvPr/>
        </p:nvSpPr>
        <p:spPr>
          <a:xfrm>
            <a:off x="502920" y="2834640"/>
            <a:ext cx="11185855" cy="3200400"/>
          </a:xfrm>
          <a:prstGeom prst="roundRect">
            <a:avLst>
              <a:gd name="adj" fmla="val 2286"/>
            </a:avLst>
          </a:prstGeom>
          <a:solidFill>
            <a:srgbClr val="EFE6CC"/>
          </a:solidFill>
          <a:ln w="15875">
            <a:solidFill>
              <a:srgbClr val="2F5D3A"/>
            </a:solidFill>
            <a:prstDash val="solid"/>
          </a:ln>
        </p:spPr>
      </p:sp>
      <p:sp>
        <p:nvSpPr>
          <p:cNvPr id="32" name="Text 30"/>
          <p:cNvSpPr txBox="1"/>
          <p:nvPr/>
        </p:nvSpPr>
        <p:spPr>
          <a:xfrm>
            <a:off x="822960" y="3017520"/>
            <a:ext cx="10545775" cy="2834640"/>
          </a:xfrm>
          <a:prstGeom prst="rect">
            <a:avLst/>
          </a:prstGeom>
          <a:noFill/>
          <a:ln/>
        </p:spPr>
        <p:txBody>
          <a:bodyPr wrap="square" rtlCol="0" anchor="t"/>
          <a:lstStyle/>
          <a:p>
            <a:pPr algn="l" indent="0" marL="0">
              <a:lnSpc>
                <a:spcPct val="135000"/>
              </a:lnSpc>
              <a:buNone/>
            </a:pPr>
            <a:r>
              <a:rPr lang="en-US" sz="1500" dirty="0">
                <a:solidFill>
                  <a:srgbClr val="2C1810"/>
                </a:solidFill>
                <a:latin typeface="DM Sans" pitchFamily="34" charset="0"/>
                <a:ea typeface="DM Sans" pitchFamily="34" charset="-122"/>
                <a:cs typeface="DM Sans" pitchFamily="34" charset="-120"/>
              </a:rPr>
              <a:t>Google Lens reads text. ChatGPT translates words. Neither knows what's in sambal, neither knows which Penang stall has 15 reviews and is worth your time, and neither can guarantee a shellfish-allergic user that a dish is safe. MakanMate has a curated dataset and a safety audit layer — that's the difference.</a:t>
            </a:r>
            <a:endParaRPr lang="en-US" sz="1500" dirty="0"/>
          </a:p>
        </p:txBody>
      </p:sp>
      <p:sp>
        <p:nvSpPr>
          <p:cNvPr id="33" name="Text 31"/>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34" name="Text 32"/>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A · 01 )</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502920" y="822960"/>
            <a:ext cx="914400" cy="914400"/>
          </a:xfrm>
          <a:prstGeom prst="ellipse">
            <a:avLst/>
          </a:prstGeom>
          <a:solidFill>
            <a:srgbClr val="8B1E1E"/>
          </a:solidFill>
          <a:ln w="15875">
            <a:solidFill>
              <a:srgbClr val="2C1810"/>
            </a:solidFill>
            <a:prstDash val="solid"/>
          </a:ln>
        </p:spPr>
      </p:sp>
      <p:sp>
        <p:nvSpPr>
          <p:cNvPr id="26" name="Text 24"/>
          <p:cNvSpPr txBox="1"/>
          <p:nvPr/>
        </p:nvSpPr>
        <p:spPr>
          <a:xfrm>
            <a:off x="502920" y="822960"/>
            <a:ext cx="914400" cy="914400"/>
          </a:xfrm>
          <a:prstGeom prst="rect">
            <a:avLst/>
          </a:prstGeom>
          <a:noFill/>
          <a:ln/>
        </p:spPr>
        <p:txBody>
          <a:bodyPr wrap="square" rtlCol="0" anchor="ctr"/>
          <a:lstStyle/>
          <a:p>
            <a:pPr algn="ctr" indent="0" marL="0">
              <a:buNone/>
            </a:pPr>
            <a:r>
              <a:rPr lang="en-US" sz="2800" b="1" dirty="0">
                <a:solidFill>
                  <a:srgbClr val="F4ECD8"/>
                </a:solidFill>
                <a:latin typeface="Fraunces" pitchFamily="34" charset="0"/>
                <a:ea typeface="Fraunces" pitchFamily="34" charset="-122"/>
                <a:cs typeface="Fraunces" pitchFamily="34" charset="-120"/>
              </a:rPr>
              <a:t>02</a:t>
            </a:r>
            <a:endParaRPr lang="en-US" sz="2800" dirty="0"/>
          </a:p>
        </p:txBody>
      </p:sp>
      <p:sp>
        <p:nvSpPr>
          <p:cNvPr id="27" name="Text 25"/>
          <p:cNvSpPr txBox="1"/>
          <p:nvPr/>
        </p:nvSpPr>
        <p:spPr>
          <a:xfrm>
            <a:off x="1645920" y="868680"/>
            <a:ext cx="9144000" cy="274320"/>
          </a:xfrm>
          <a:prstGeom prst="rect">
            <a:avLst/>
          </a:prstGeom>
          <a:noFill/>
          <a:ln/>
        </p:spPr>
        <p:txBody>
          <a:bodyPr wrap="square" rtlCol="0" anchor="ctr"/>
          <a:lstStyle/>
          <a:p>
            <a:pPr indent="0" marL="0">
              <a:buNone/>
            </a:pPr>
            <a:r>
              <a:rPr lang="en-US" sz="1000" b="1" spc="400" kern="0" dirty="0">
                <a:solidFill>
                  <a:srgbClr val="8B1E1E"/>
                </a:solidFill>
                <a:latin typeface="DM Sans" pitchFamily="34" charset="0"/>
                <a:ea typeface="DM Sans" pitchFamily="34" charset="-122"/>
                <a:cs typeface="DM Sans" pitchFamily="34" charset="-120"/>
              </a:rPr>
              <a:t>QUESTION</a:t>
            </a:r>
            <a:endParaRPr lang="en-US" sz="1000" dirty="0"/>
          </a:p>
        </p:txBody>
      </p:sp>
      <p:sp>
        <p:nvSpPr>
          <p:cNvPr id="28" name="Text 26"/>
          <p:cNvSpPr txBox="1"/>
          <p:nvPr/>
        </p:nvSpPr>
        <p:spPr>
          <a:xfrm>
            <a:off x="1645920" y="1097280"/>
            <a:ext cx="9601200" cy="822960"/>
          </a:xfrm>
          <a:prstGeom prst="rect">
            <a:avLst/>
          </a:prstGeom>
          <a:noFill/>
          <a:ln/>
        </p:spPr>
        <p:txBody>
          <a:bodyPr wrap="square" rtlCol="0" anchor="t"/>
          <a:lstStyle/>
          <a:p>
            <a:pPr algn="l" indent="0" marL="0">
              <a:lnSpc>
                <a:spcPct val="105000"/>
              </a:lnSpc>
              <a:buNone/>
            </a:pPr>
            <a:r>
              <a:rPr lang="en-US" sz="2000" b="1" dirty="0">
                <a:solidFill>
                  <a:srgbClr val="2C1810"/>
                </a:solidFill>
                <a:latin typeface="Fraunces" pitchFamily="34" charset="0"/>
                <a:ea typeface="Fraunces" pitchFamily="34" charset="-122"/>
                <a:cs typeface="Fraunces" pitchFamily="34" charset="-120"/>
              </a:rPr>
              <a:t>Does the Critic Agent actually catch real allergic reactions?</a:t>
            </a:r>
            <a:endParaRPr lang="en-US" sz="2000" dirty="0"/>
          </a:p>
        </p:txBody>
      </p:sp>
      <p:sp>
        <p:nvSpPr>
          <p:cNvPr id="29" name="Shape 27"/>
          <p:cNvSpPr/>
          <p:nvPr/>
        </p:nvSpPr>
        <p:spPr>
          <a:xfrm>
            <a:off x="502920" y="2240280"/>
            <a:ext cx="11185855" cy="0"/>
          </a:xfrm>
          <a:prstGeom prst="line">
            <a:avLst/>
          </a:prstGeom>
          <a:noFill/>
          <a:ln w="15875">
            <a:solidFill>
              <a:srgbClr val="D4A947"/>
            </a:solidFill>
            <a:prstDash val="solid"/>
          </a:ln>
        </p:spPr>
      </p:sp>
      <p:sp>
        <p:nvSpPr>
          <p:cNvPr id="30" name="Text 28"/>
          <p:cNvSpPr txBox="1"/>
          <p:nvPr/>
        </p:nvSpPr>
        <p:spPr>
          <a:xfrm>
            <a:off x="502920" y="2468880"/>
            <a:ext cx="11185855" cy="274320"/>
          </a:xfrm>
          <a:prstGeom prst="rect">
            <a:avLst/>
          </a:prstGeom>
          <a:noFill/>
          <a:ln/>
        </p:spPr>
        <p:txBody>
          <a:bodyPr wrap="square" rtlCol="0" anchor="ctr"/>
          <a:lstStyle/>
          <a:p>
            <a:pPr indent="0" marL="0">
              <a:buNone/>
            </a:pPr>
            <a:r>
              <a:rPr lang="en-US" sz="1000" b="1" spc="400" kern="0" dirty="0">
                <a:solidFill>
                  <a:srgbClr val="2F5D3A"/>
                </a:solidFill>
                <a:latin typeface="DM Sans" pitchFamily="34" charset="0"/>
                <a:ea typeface="DM Sans" pitchFamily="34" charset="-122"/>
                <a:cs typeface="DM Sans" pitchFamily="34" charset="-120"/>
              </a:rPr>
              <a:t>ANSWER</a:t>
            </a:r>
            <a:endParaRPr lang="en-US" sz="1000" dirty="0"/>
          </a:p>
        </p:txBody>
      </p:sp>
      <p:sp>
        <p:nvSpPr>
          <p:cNvPr id="31" name="Shape 29"/>
          <p:cNvSpPr/>
          <p:nvPr/>
        </p:nvSpPr>
        <p:spPr>
          <a:xfrm>
            <a:off x="502920" y="2834640"/>
            <a:ext cx="11185855" cy="3200400"/>
          </a:xfrm>
          <a:prstGeom prst="roundRect">
            <a:avLst>
              <a:gd name="adj" fmla="val 2286"/>
            </a:avLst>
          </a:prstGeom>
          <a:solidFill>
            <a:srgbClr val="EFE6CC"/>
          </a:solidFill>
          <a:ln w="15875">
            <a:solidFill>
              <a:srgbClr val="2F5D3A"/>
            </a:solidFill>
            <a:prstDash val="solid"/>
          </a:ln>
        </p:spPr>
      </p:sp>
      <p:sp>
        <p:nvSpPr>
          <p:cNvPr id="32" name="Text 30"/>
          <p:cNvSpPr txBox="1"/>
          <p:nvPr/>
        </p:nvSpPr>
        <p:spPr>
          <a:xfrm>
            <a:off x="822960" y="3017520"/>
            <a:ext cx="10545775" cy="2834640"/>
          </a:xfrm>
          <a:prstGeom prst="rect">
            <a:avLst/>
          </a:prstGeom>
          <a:noFill/>
          <a:ln/>
        </p:spPr>
        <p:txBody>
          <a:bodyPr wrap="square" rtlCol="0" anchor="t"/>
          <a:lstStyle/>
          <a:p>
            <a:pPr algn="l" indent="0" marL="0">
              <a:lnSpc>
                <a:spcPct val="135000"/>
              </a:lnSpc>
              <a:buNone/>
            </a:pPr>
            <a:r>
              <a:rPr lang="en-US" sz="1500" dirty="0">
                <a:solidFill>
                  <a:srgbClr val="2C1810"/>
                </a:solidFill>
                <a:latin typeface="DM Sans" pitchFamily="34" charset="0"/>
                <a:ea typeface="DM Sans" pitchFamily="34" charset="-122"/>
                <a:cs typeface="DM Sans" pitchFamily="34" charset="-120"/>
              </a:rPr>
              <a:t>It catches them at the ingredient-matrix level — every dish is mapped to its authentic ingredients via RAG, and the user's profile is checked against that matrix. We don't make medical claims, but we make sure the user sees the warning before they see the dish.</a:t>
            </a:r>
            <a:endParaRPr lang="en-US" sz="1500" dirty="0"/>
          </a:p>
        </p:txBody>
      </p:sp>
      <p:sp>
        <p:nvSpPr>
          <p:cNvPr id="33" name="Text 31"/>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34" name="Text 32"/>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A · 02 )</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502920" y="822960"/>
            <a:ext cx="914400" cy="914400"/>
          </a:xfrm>
          <a:prstGeom prst="ellipse">
            <a:avLst/>
          </a:prstGeom>
          <a:solidFill>
            <a:srgbClr val="8B1E1E"/>
          </a:solidFill>
          <a:ln w="15875">
            <a:solidFill>
              <a:srgbClr val="2C1810"/>
            </a:solidFill>
            <a:prstDash val="solid"/>
          </a:ln>
        </p:spPr>
      </p:sp>
      <p:sp>
        <p:nvSpPr>
          <p:cNvPr id="26" name="Text 24"/>
          <p:cNvSpPr txBox="1"/>
          <p:nvPr/>
        </p:nvSpPr>
        <p:spPr>
          <a:xfrm>
            <a:off x="502920" y="822960"/>
            <a:ext cx="914400" cy="914400"/>
          </a:xfrm>
          <a:prstGeom prst="rect">
            <a:avLst/>
          </a:prstGeom>
          <a:noFill/>
          <a:ln/>
        </p:spPr>
        <p:txBody>
          <a:bodyPr wrap="square" rtlCol="0" anchor="ctr"/>
          <a:lstStyle/>
          <a:p>
            <a:pPr algn="ctr" indent="0" marL="0">
              <a:buNone/>
            </a:pPr>
            <a:r>
              <a:rPr lang="en-US" sz="2800" b="1" dirty="0">
                <a:solidFill>
                  <a:srgbClr val="F4ECD8"/>
                </a:solidFill>
                <a:latin typeface="Fraunces" pitchFamily="34" charset="0"/>
                <a:ea typeface="Fraunces" pitchFamily="34" charset="-122"/>
                <a:cs typeface="Fraunces" pitchFamily="34" charset="-120"/>
              </a:rPr>
              <a:t>03</a:t>
            </a:r>
            <a:endParaRPr lang="en-US" sz="2800" dirty="0"/>
          </a:p>
        </p:txBody>
      </p:sp>
      <p:sp>
        <p:nvSpPr>
          <p:cNvPr id="27" name="Text 25"/>
          <p:cNvSpPr txBox="1"/>
          <p:nvPr/>
        </p:nvSpPr>
        <p:spPr>
          <a:xfrm>
            <a:off x="1645920" y="868680"/>
            <a:ext cx="9144000" cy="274320"/>
          </a:xfrm>
          <a:prstGeom prst="rect">
            <a:avLst/>
          </a:prstGeom>
          <a:noFill/>
          <a:ln/>
        </p:spPr>
        <p:txBody>
          <a:bodyPr wrap="square" rtlCol="0" anchor="ctr"/>
          <a:lstStyle/>
          <a:p>
            <a:pPr indent="0" marL="0">
              <a:buNone/>
            </a:pPr>
            <a:r>
              <a:rPr lang="en-US" sz="1000" b="1" spc="400" kern="0" dirty="0">
                <a:solidFill>
                  <a:srgbClr val="8B1E1E"/>
                </a:solidFill>
                <a:latin typeface="DM Sans" pitchFamily="34" charset="0"/>
                <a:ea typeface="DM Sans" pitchFamily="34" charset="-122"/>
                <a:cs typeface="DM Sans" pitchFamily="34" charset="-120"/>
              </a:rPr>
              <a:t>QUESTION</a:t>
            </a:r>
            <a:endParaRPr lang="en-US" sz="1000" dirty="0"/>
          </a:p>
        </p:txBody>
      </p:sp>
      <p:sp>
        <p:nvSpPr>
          <p:cNvPr id="28" name="Text 26"/>
          <p:cNvSpPr txBox="1"/>
          <p:nvPr/>
        </p:nvSpPr>
        <p:spPr>
          <a:xfrm>
            <a:off x="1645920" y="1097280"/>
            <a:ext cx="9601200" cy="822960"/>
          </a:xfrm>
          <a:prstGeom prst="rect">
            <a:avLst/>
          </a:prstGeom>
          <a:noFill/>
          <a:ln/>
        </p:spPr>
        <p:txBody>
          <a:bodyPr wrap="square" rtlCol="0" anchor="t"/>
          <a:lstStyle/>
          <a:p>
            <a:pPr algn="l" indent="0" marL="0">
              <a:lnSpc>
                <a:spcPct val="105000"/>
              </a:lnSpc>
              <a:buNone/>
            </a:pPr>
            <a:r>
              <a:rPr lang="en-US" sz="2000" b="1" dirty="0">
                <a:solidFill>
                  <a:srgbClr val="2C1810"/>
                </a:solidFill>
                <a:latin typeface="Fraunces" pitchFamily="34" charset="0"/>
                <a:ea typeface="Fraunces" pitchFamily="34" charset="-122"/>
                <a:cs typeface="Fraunces" pitchFamily="34" charset="-120"/>
              </a:rPr>
              <a:t>Why build the gamification layer at all?</a:t>
            </a:r>
            <a:endParaRPr lang="en-US" sz="2000" dirty="0"/>
          </a:p>
        </p:txBody>
      </p:sp>
      <p:sp>
        <p:nvSpPr>
          <p:cNvPr id="29" name="Shape 27"/>
          <p:cNvSpPr/>
          <p:nvPr/>
        </p:nvSpPr>
        <p:spPr>
          <a:xfrm>
            <a:off x="502920" y="2240280"/>
            <a:ext cx="11185855" cy="0"/>
          </a:xfrm>
          <a:prstGeom prst="line">
            <a:avLst/>
          </a:prstGeom>
          <a:noFill/>
          <a:ln w="15875">
            <a:solidFill>
              <a:srgbClr val="D4A947"/>
            </a:solidFill>
            <a:prstDash val="solid"/>
          </a:ln>
        </p:spPr>
      </p:sp>
      <p:sp>
        <p:nvSpPr>
          <p:cNvPr id="30" name="Text 28"/>
          <p:cNvSpPr txBox="1"/>
          <p:nvPr/>
        </p:nvSpPr>
        <p:spPr>
          <a:xfrm>
            <a:off x="502920" y="2468880"/>
            <a:ext cx="11185855" cy="274320"/>
          </a:xfrm>
          <a:prstGeom prst="rect">
            <a:avLst/>
          </a:prstGeom>
          <a:noFill/>
          <a:ln/>
        </p:spPr>
        <p:txBody>
          <a:bodyPr wrap="square" rtlCol="0" anchor="ctr"/>
          <a:lstStyle/>
          <a:p>
            <a:pPr indent="0" marL="0">
              <a:buNone/>
            </a:pPr>
            <a:r>
              <a:rPr lang="en-US" sz="1000" b="1" spc="400" kern="0" dirty="0">
                <a:solidFill>
                  <a:srgbClr val="2F5D3A"/>
                </a:solidFill>
                <a:latin typeface="DM Sans" pitchFamily="34" charset="0"/>
                <a:ea typeface="DM Sans" pitchFamily="34" charset="-122"/>
                <a:cs typeface="DM Sans" pitchFamily="34" charset="-120"/>
              </a:rPr>
              <a:t>ANSWER</a:t>
            </a:r>
            <a:endParaRPr lang="en-US" sz="1000" dirty="0"/>
          </a:p>
        </p:txBody>
      </p:sp>
      <p:sp>
        <p:nvSpPr>
          <p:cNvPr id="31" name="Shape 29"/>
          <p:cNvSpPr/>
          <p:nvPr/>
        </p:nvSpPr>
        <p:spPr>
          <a:xfrm>
            <a:off x="502920" y="2834640"/>
            <a:ext cx="11185855" cy="3200400"/>
          </a:xfrm>
          <a:prstGeom prst="roundRect">
            <a:avLst>
              <a:gd name="adj" fmla="val 2286"/>
            </a:avLst>
          </a:prstGeom>
          <a:solidFill>
            <a:srgbClr val="EFE6CC"/>
          </a:solidFill>
          <a:ln w="15875">
            <a:solidFill>
              <a:srgbClr val="2F5D3A"/>
            </a:solidFill>
            <a:prstDash val="solid"/>
          </a:ln>
        </p:spPr>
      </p:sp>
      <p:sp>
        <p:nvSpPr>
          <p:cNvPr id="32" name="Text 30"/>
          <p:cNvSpPr txBox="1"/>
          <p:nvPr/>
        </p:nvSpPr>
        <p:spPr>
          <a:xfrm>
            <a:off x="822960" y="3017520"/>
            <a:ext cx="10545775" cy="2834640"/>
          </a:xfrm>
          <a:prstGeom prst="rect">
            <a:avLst/>
          </a:prstGeom>
          <a:noFill/>
          <a:ln/>
        </p:spPr>
        <p:txBody>
          <a:bodyPr wrap="square" rtlCol="0" anchor="t"/>
          <a:lstStyle/>
          <a:p>
            <a:pPr algn="l" indent="0" marL="0">
              <a:lnSpc>
                <a:spcPct val="135000"/>
              </a:lnSpc>
              <a:buNone/>
            </a:pPr>
            <a:r>
              <a:rPr lang="en-US" sz="1500" dirty="0">
                <a:solidFill>
                  <a:srgbClr val="2C1810"/>
                </a:solidFill>
                <a:latin typeface="DM Sans" pitchFamily="34" charset="0"/>
                <a:ea typeface="DM Sans" pitchFamily="34" charset="-122"/>
                <a:cs typeface="DM Sans" pitchFamily="34" charset="-120"/>
              </a:rPr>
              <a:t>Because discovery without engagement doesn't get used. The Pokedex turns a one-time scan into a repeat behavior, which is what actually drives revenue back to hawkers.</a:t>
            </a:r>
            <a:endParaRPr lang="en-US" sz="1500" dirty="0"/>
          </a:p>
        </p:txBody>
      </p:sp>
      <p:sp>
        <p:nvSpPr>
          <p:cNvPr id="33" name="Text 31"/>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34" name="Text 32"/>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A · 03 )</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502920" y="822960"/>
            <a:ext cx="914400" cy="914400"/>
          </a:xfrm>
          <a:prstGeom prst="ellipse">
            <a:avLst/>
          </a:prstGeom>
          <a:solidFill>
            <a:srgbClr val="8B1E1E"/>
          </a:solidFill>
          <a:ln w="15875">
            <a:solidFill>
              <a:srgbClr val="2C1810"/>
            </a:solidFill>
            <a:prstDash val="solid"/>
          </a:ln>
        </p:spPr>
      </p:sp>
      <p:sp>
        <p:nvSpPr>
          <p:cNvPr id="26" name="Text 24"/>
          <p:cNvSpPr txBox="1"/>
          <p:nvPr/>
        </p:nvSpPr>
        <p:spPr>
          <a:xfrm>
            <a:off x="502920" y="822960"/>
            <a:ext cx="914400" cy="914400"/>
          </a:xfrm>
          <a:prstGeom prst="rect">
            <a:avLst/>
          </a:prstGeom>
          <a:noFill/>
          <a:ln/>
        </p:spPr>
        <p:txBody>
          <a:bodyPr wrap="square" rtlCol="0" anchor="ctr"/>
          <a:lstStyle/>
          <a:p>
            <a:pPr algn="ctr" indent="0" marL="0">
              <a:buNone/>
            </a:pPr>
            <a:r>
              <a:rPr lang="en-US" sz="2800" b="1" dirty="0">
                <a:solidFill>
                  <a:srgbClr val="F4ECD8"/>
                </a:solidFill>
                <a:latin typeface="Fraunces" pitchFamily="34" charset="0"/>
                <a:ea typeface="Fraunces" pitchFamily="34" charset="-122"/>
                <a:cs typeface="Fraunces" pitchFamily="34" charset="-120"/>
              </a:rPr>
              <a:t>04</a:t>
            </a:r>
            <a:endParaRPr lang="en-US" sz="2800" dirty="0"/>
          </a:p>
        </p:txBody>
      </p:sp>
      <p:sp>
        <p:nvSpPr>
          <p:cNvPr id="27" name="Text 25"/>
          <p:cNvSpPr txBox="1"/>
          <p:nvPr/>
        </p:nvSpPr>
        <p:spPr>
          <a:xfrm>
            <a:off x="1645920" y="868680"/>
            <a:ext cx="9144000" cy="274320"/>
          </a:xfrm>
          <a:prstGeom prst="rect">
            <a:avLst/>
          </a:prstGeom>
          <a:noFill/>
          <a:ln/>
        </p:spPr>
        <p:txBody>
          <a:bodyPr wrap="square" rtlCol="0" anchor="ctr"/>
          <a:lstStyle/>
          <a:p>
            <a:pPr indent="0" marL="0">
              <a:buNone/>
            </a:pPr>
            <a:r>
              <a:rPr lang="en-US" sz="1000" b="1" spc="400" kern="0" dirty="0">
                <a:solidFill>
                  <a:srgbClr val="8B1E1E"/>
                </a:solidFill>
                <a:latin typeface="DM Sans" pitchFamily="34" charset="0"/>
                <a:ea typeface="DM Sans" pitchFamily="34" charset="-122"/>
                <a:cs typeface="DM Sans" pitchFamily="34" charset="-120"/>
              </a:rPr>
              <a:t>QUESTION</a:t>
            </a:r>
            <a:endParaRPr lang="en-US" sz="1000" dirty="0"/>
          </a:p>
        </p:txBody>
      </p:sp>
      <p:sp>
        <p:nvSpPr>
          <p:cNvPr id="28" name="Text 26"/>
          <p:cNvSpPr txBox="1"/>
          <p:nvPr/>
        </p:nvSpPr>
        <p:spPr>
          <a:xfrm>
            <a:off x="1645920" y="1097280"/>
            <a:ext cx="9601200" cy="822960"/>
          </a:xfrm>
          <a:prstGeom prst="rect">
            <a:avLst/>
          </a:prstGeom>
          <a:noFill/>
          <a:ln/>
        </p:spPr>
        <p:txBody>
          <a:bodyPr wrap="square" rtlCol="0" anchor="t"/>
          <a:lstStyle/>
          <a:p>
            <a:pPr algn="l" indent="0" marL="0">
              <a:lnSpc>
                <a:spcPct val="105000"/>
              </a:lnSpc>
              <a:buNone/>
            </a:pPr>
            <a:r>
              <a:rPr lang="en-US" sz="2000" b="1" dirty="0">
                <a:solidFill>
                  <a:srgbClr val="2C1810"/>
                </a:solidFill>
                <a:latin typeface="Fraunces" pitchFamily="34" charset="0"/>
                <a:ea typeface="Fraunces" pitchFamily="34" charset="-122"/>
                <a:cs typeface="Fraunces" pitchFamily="34" charset="-120"/>
              </a:rPr>
              <a:t>How do you scale the dataset beyond 16 stalls?</a:t>
            </a:r>
            <a:endParaRPr lang="en-US" sz="2000" dirty="0"/>
          </a:p>
        </p:txBody>
      </p:sp>
      <p:sp>
        <p:nvSpPr>
          <p:cNvPr id="29" name="Shape 27"/>
          <p:cNvSpPr/>
          <p:nvPr/>
        </p:nvSpPr>
        <p:spPr>
          <a:xfrm>
            <a:off x="502920" y="2240280"/>
            <a:ext cx="11185855" cy="0"/>
          </a:xfrm>
          <a:prstGeom prst="line">
            <a:avLst/>
          </a:prstGeom>
          <a:noFill/>
          <a:ln w="15875">
            <a:solidFill>
              <a:srgbClr val="D4A947"/>
            </a:solidFill>
            <a:prstDash val="solid"/>
          </a:ln>
        </p:spPr>
      </p:sp>
      <p:sp>
        <p:nvSpPr>
          <p:cNvPr id="30" name="Text 28"/>
          <p:cNvSpPr txBox="1"/>
          <p:nvPr/>
        </p:nvSpPr>
        <p:spPr>
          <a:xfrm>
            <a:off x="502920" y="2468880"/>
            <a:ext cx="11185855" cy="274320"/>
          </a:xfrm>
          <a:prstGeom prst="rect">
            <a:avLst/>
          </a:prstGeom>
          <a:noFill/>
          <a:ln/>
        </p:spPr>
        <p:txBody>
          <a:bodyPr wrap="square" rtlCol="0" anchor="ctr"/>
          <a:lstStyle/>
          <a:p>
            <a:pPr indent="0" marL="0">
              <a:buNone/>
            </a:pPr>
            <a:r>
              <a:rPr lang="en-US" sz="1000" b="1" spc="400" kern="0" dirty="0">
                <a:solidFill>
                  <a:srgbClr val="2F5D3A"/>
                </a:solidFill>
                <a:latin typeface="DM Sans" pitchFamily="34" charset="0"/>
                <a:ea typeface="DM Sans" pitchFamily="34" charset="-122"/>
                <a:cs typeface="DM Sans" pitchFamily="34" charset="-120"/>
              </a:rPr>
              <a:t>ANSWER</a:t>
            </a:r>
            <a:endParaRPr lang="en-US" sz="1000" dirty="0"/>
          </a:p>
        </p:txBody>
      </p:sp>
      <p:sp>
        <p:nvSpPr>
          <p:cNvPr id="31" name="Shape 29"/>
          <p:cNvSpPr/>
          <p:nvPr/>
        </p:nvSpPr>
        <p:spPr>
          <a:xfrm>
            <a:off x="502920" y="2834640"/>
            <a:ext cx="11185855" cy="3200400"/>
          </a:xfrm>
          <a:prstGeom prst="roundRect">
            <a:avLst>
              <a:gd name="adj" fmla="val 2286"/>
            </a:avLst>
          </a:prstGeom>
          <a:solidFill>
            <a:srgbClr val="EFE6CC"/>
          </a:solidFill>
          <a:ln w="15875">
            <a:solidFill>
              <a:srgbClr val="2F5D3A"/>
            </a:solidFill>
            <a:prstDash val="solid"/>
          </a:ln>
        </p:spPr>
      </p:sp>
      <p:sp>
        <p:nvSpPr>
          <p:cNvPr id="32" name="Text 30"/>
          <p:cNvSpPr txBox="1"/>
          <p:nvPr/>
        </p:nvSpPr>
        <p:spPr>
          <a:xfrm>
            <a:off x="822960" y="3017520"/>
            <a:ext cx="10545775" cy="2834640"/>
          </a:xfrm>
          <a:prstGeom prst="rect">
            <a:avLst/>
          </a:prstGeom>
          <a:noFill/>
          <a:ln/>
        </p:spPr>
        <p:txBody>
          <a:bodyPr wrap="square" rtlCol="0" anchor="t"/>
          <a:lstStyle/>
          <a:p>
            <a:pPr algn="l" indent="0" marL="0">
              <a:lnSpc>
                <a:spcPct val="135000"/>
              </a:lnSpc>
              <a:buNone/>
            </a:pPr>
            <a:r>
              <a:rPr lang="en-US" sz="1500" dirty="0">
                <a:solidFill>
                  <a:srgbClr val="2C1810"/>
                </a:solidFill>
                <a:latin typeface="DM Sans" pitchFamily="34" charset="0"/>
                <a:ea typeface="DM Sans" pitchFamily="34" charset="-122"/>
                <a:cs typeface="DM Sans" pitchFamily="34" charset="-120"/>
              </a:rPr>
              <a:t>The architecture is built for community contribution — the catch flow already validates GPS and creates structured cards. A community-submitted pipeline is the natural V2.</a:t>
            </a:r>
            <a:endParaRPr lang="en-US" sz="1500" dirty="0"/>
          </a:p>
        </p:txBody>
      </p:sp>
      <p:sp>
        <p:nvSpPr>
          <p:cNvPr id="33" name="Text 31"/>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34" name="Text 32"/>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A · 04 )</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CD8"/>
        </a:solidFill>
      </p:bgPr>
    </p:bg>
    <p:spTree>
      <p:nvGrpSpPr>
        <p:cNvPr id="1" name=""/>
        <p:cNvGrpSpPr/>
        <p:nvPr/>
      </p:nvGrpSpPr>
      <p:grpSpPr>
        <a:xfrm>
          <a:off x="0" y="0"/>
          <a:ext cx="0" cy="0"/>
          <a:chOff x="0" y="0"/>
          <a:chExt cx="0" cy="0"/>
        </a:xfrm>
      </p:grpSpPr>
      <p:sp>
        <p:nvSpPr>
          <p:cNvPr id="2" name="Shape 0"/>
          <p:cNvSpPr/>
          <p:nvPr/>
        </p:nvSpPr>
        <p:spPr>
          <a:xfrm>
            <a:off x="-1828800" y="-1828800"/>
            <a:ext cx="15849295" cy="15849295"/>
          </a:xfrm>
          <a:prstGeom prst="ellipse">
            <a:avLst/>
          </a:prstGeom>
          <a:solidFill>
            <a:srgbClr val="D4A947">
              <a:alpha val="12000"/>
            </a:srgbClr>
          </a:solidFill>
          <a:ln/>
        </p:spPr>
      </p:sp>
      <p:sp>
        <p:nvSpPr>
          <p:cNvPr id="3" name="Shape 1"/>
          <p:cNvSpPr/>
          <p:nvPr/>
        </p:nvSpPr>
        <p:spPr>
          <a:xfrm>
            <a:off x="256032" y="256032"/>
            <a:ext cx="11679631" cy="6345936"/>
          </a:xfrm>
          <a:prstGeom prst="rect">
            <a:avLst/>
          </a:prstGeom>
          <a:ln w="15875">
            <a:solidFill>
              <a:srgbClr val="8B1E1E"/>
            </a:solidFill>
            <a:prstDash val="solid"/>
          </a:ln>
        </p:spPr>
      </p:sp>
      <p:sp>
        <p:nvSpPr>
          <p:cNvPr id="4" name="Shape 2"/>
          <p:cNvSpPr/>
          <p:nvPr/>
        </p:nvSpPr>
        <p:spPr>
          <a:xfrm>
            <a:off x="329184" y="329184"/>
            <a:ext cx="11533327" cy="6199632"/>
          </a:xfrm>
          <a:prstGeom prst="rect">
            <a:avLst/>
          </a:prstGeom>
          <a:ln w="9525">
            <a:solidFill>
              <a:srgbClr val="C4A882"/>
            </a:solidFill>
            <a:prstDash val="solid"/>
          </a:ln>
        </p:spPr>
      </p:sp>
      <p:sp>
        <p:nvSpPr>
          <p:cNvPr id="5" name="Shape 3"/>
          <p:cNvSpPr/>
          <p:nvPr/>
        </p:nvSpPr>
        <p:spPr>
          <a:xfrm>
            <a:off x="504749" y="424282"/>
            <a:ext cx="181051" cy="120701"/>
          </a:xfrm>
          <a:prstGeom prst="ellipse">
            <a:avLst/>
          </a:prstGeom>
          <a:solidFill>
            <a:srgbClr val="8B1E1E">
              <a:alpha val="65000"/>
            </a:srgbClr>
          </a:solidFill>
          <a:ln w="6350">
            <a:solidFill>
              <a:srgbClr val="8B1E1E"/>
            </a:solidFill>
            <a:prstDash val="solid"/>
          </a:ln>
        </p:spPr>
      </p:sp>
      <p:sp>
        <p:nvSpPr>
          <p:cNvPr id="6" name="Shape 4"/>
          <p:cNvSpPr/>
          <p:nvPr/>
        </p:nvSpPr>
        <p:spPr>
          <a:xfrm rot="5400000">
            <a:off x="394106" y="534924"/>
            <a:ext cx="181051" cy="120701"/>
          </a:xfrm>
          <a:prstGeom prst="ellipse">
            <a:avLst/>
          </a:prstGeom>
          <a:solidFill>
            <a:srgbClr val="8B1E1E">
              <a:alpha val="65000"/>
            </a:srgbClr>
          </a:solidFill>
          <a:ln w="6350">
            <a:solidFill>
              <a:srgbClr val="8B1E1E"/>
            </a:solidFill>
            <a:prstDash val="solid"/>
          </a:ln>
        </p:spPr>
      </p:sp>
      <p:sp>
        <p:nvSpPr>
          <p:cNvPr id="7" name="Shape 5"/>
          <p:cNvSpPr/>
          <p:nvPr/>
        </p:nvSpPr>
        <p:spPr>
          <a:xfrm rot="10800000">
            <a:off x="283464" y="424282"/>
            <a:ext cx="181051" cy="120701"/>
          </a:xfrm>
          <a:prstGeom prst="ellipse">
            <a:avLst/>
          </a:prstGeom>
          <a:solidFill>
            <a:srgbClr val="8B1E1E">
              <a:alpha val="65000"/>
            </a:srgbClr>
          </a:solidFill>
          <a:ln w="6350">
            <a:solidFill>
              <a:srgbClr val="8B1E1E"/>
            </a:solidFill>
            <a:prstDash val="solid"/>
          </a:ln>
        </p:spPr>
      </p:sp>
      <p:sp>
        <p:nvSpPr>
          <p:cNvPr id="8" name="Shape 6"/>
          <p:cNvSpPr/>
          <p:nvPr/>
        </p:nvSpPr>
        <p:spPr>
          <a:xfrm rot="16200000">
            <a:off x="394106" y="313639"/>
            <a:ext cx="181051" cy="120701"/>
          </a:xfrm>
          <a:prstGeom prst="ellipse">
            <a:avLst/>
          </a:prstGeom>
          <a:solidFill>
            <a:srgbClr val="8B1E1E">
              <a:alpha val="65000"/>
            </a:srgbClr>
          </a:solidFill>
          <a:ln w="6350">
            <a:solidFill>
              <a:srgbClr val="8B1E1E"/>
            </a:solidFill>
            <a:prstDash val="solid"/>
          </a:ln>
        </p:spPr>
      </p:sp>
      <p:sp>
        <p:nvSpPr>
          <p:cNvPr id="9" name="Shape 7"/>
          <p:cNvSpPr/>
          <p:nvPr/>
        </p:nvSpPr>
        <p:spPr>
          <a:xfrm>
            <a:off x="448422" y="448422"/>
            <a:ext cx="72420" cy="72420"/>
          </a:xfrm>
          <a:prstGeom prst="ellipse">
            <a:avLst/>
          </a:prstGeom>
          <a:solidFill>
            <a:srgbClr val="D4A947"/>
          </a:solidFill>
          <a:ln w="6350">
            <a:solidFill>
              <a:srgbClr val="8B1E1E"/>
            </a:solidFill>
            <a:prstDash val="solid"/>
          </a:ln>
        </p:spPr>
      </p:sp>
      <p:sp>
        <p:nvSpPr>
          <p:cNvPr id="10" name="Shape 8"/>
          <p:cNvSpPr/>
          <p:nvPr/>
        </p:nvSpPr>
        <p:spPr>
          <a:xfrm>
            <a:off x="11727180" y="424282"/>
            <a:ext cx="181051" cy="120701"/>
          </a:xfrm>
          <a:prstGeom prst="ellipse">
            <a:avLst/>
          </a:prstGeom>
          <a:solidFill>
            <a:srgbClr val="8B1E1E">
              <a:alpha val="65000"/>
            </a:srgbClr>
          </a:solidFill>
          <a:ln w="6350">
            <a:solidFill>
              <a:srgbClr val="8B1E1E"/>
            </a:solidFill>
            <a:prstDash val="solid"/>
          </a:ln>
        </p:spPr>
      </p:sp>
      <p:sp>
        <p:nvSpPr>
          <p:cNvPr id="11" name="Shape 9"/>
          <p:cNvSpPr/>
          <p:nvPr/>
        </p:nvSpPr>
        <p:spPr>
          <a:xfrm rot="5400000">
            <a:off x="11616538" y="534924"/>
            <a:ext cx="181051" cy="120701"/>
          </a:xfrm>
          <a:prstGeom prst="ellipse">
            <a:avLst/>
          </a:prstGeom>
          <a:solidFill>
            <a:srgbClr val="8B1E1E">
              <a:alpha val="65000"/>
            </a:srgbClr>
          </a:solidFill>
          <a:ln w="6350">
            <a:solidFill>
              <a:srgbClr val="8B1E1E"/>
            </a:solidFill>
            <a:prstDash val="solid"/>
          </a:ln>
        </p:spPr>
      </p:sp>
      <p:sp>
        <p:nvSpPr>
          <p:cNvPr id="12" name="Shape 10"/>
          <p:cNvSpPr/>
          <p:nvPr/>
        </p:nvSpPr>
        <p:spPr>
          <a:xfrm rot="10800000">
            <a:off x="11505895" y="424282"/>
            <a:ext cx="181051" cy="120701"/>
          </a:xfrm>
          <a:prstGeom prst="ellipse">
            <a:avLst/>
          </a:prstGeom>
          <a:solidFill>
            <a:srgbClr val="8B1E1E">
              <a:alpha val="65000"/>
            </a:srgbClr>
          </a:solidFill>
          <a:ln w="6350">
            <a:solidFill>
              <a:srgbClr val="8B1E1E"/>
            </a:solidFill>
            <a:prstDash val="solid"/>
          </a:ln>
        </p:spPr>
      </p:sp>
      <p:sp>
        <p:nvSpPr>
          <p:cNvPr id="13" name="Shape 11"/>
          <p:cNvSpPr/>
          <p:nvPr/>
        </p:nvSpPr>
        <p:spPr>
          <a:xfrm rot="16200000">
            <a:off x="11616538" y="313639"/>
            <a:ext cx="181051" cy="120701"/>
          </a:xfrm>
          <a:prstGeom prst="ellipse">
            <a:avLst/>
          </a:prstGeom>
          <a:solidFill>
            <a:srgbClr val="8B1E1E">
              <a:alpha val="65000"/>
            </a:srgbClr>
          </a:solidFill>
          <a:ln w="6350">
            <a:solidFill>
              <a:srgbClr val="8B1E1E"/>
            </a:solidFill>
            <a:prstDash val="solid"/>
          </a:ln>
        </p:spPr>
      </p:sp>
      <p:sp>
        <p:nvSpPr>
          <p:cNvPr id="14" name="Shape 12"/>
          <p:cNvSpPr/>
          <p:nvPr/>
        </p:nvSpPr>
        <p:spPr>
          <a:xfrm>
            <a:off x="11670853" y="448422"/>
            <a:ext cx="72420" cy="72420"/>
          </a:xfrm>
          <a:prstGeom prst="ellipse">
            <a:avLst/>
          </a:prstGeom>
          <a:solidFill>
            <a:srgbClr val="D4A947"/>
          </a:solidFill>
          <a:ln w="6350">
            <a:solidFill>
              <a:srgbClr val="8B1E1E"/>
            </a:solidFill>
            <a:prstDash val="solid"/>
          </a:ln>
        </p:spPr>
      </p:sp>
      <p:sp>
        <p:nvSpPr>
          <p:cNvPr id="15" name="Shape 13"/>
          <p:cNvSpPr/>
          <p:nvPr/>
        </p:nvSpPr>
        <p:spPr>
          <a:xfrm>
            <a:off x="504749" y="6313018"/>
            <a:ext cx="181051" cy="120701"/>
          </a:xfrm>
          <a:prstGeom prst="ellipse">
            <a:avLst/>
          </a:prstGeom>
          <a:solidFill>
            <a:srgbClr val="8B1E1E">
              <a:alpha val="65000"/>
            </a:srgbClr>
          </a:solidFill>
          <a:ln w="6350">
            <a:solidFill>
              <a:srgbClr val="8B1E1E"/>
            </a:solidFill>
            <a:prstDash val="solid"/>
          </a:ln>
        </p:spPr>
      </p:sp>
      <p:sp>
        <p:nvSpPr>
          <p:cNvPr id="16" name="Shape 14"/>
          <p:cNvSpPr/>
          <p:nvPr/>
        </p:nvSpPr>
        <p:spPr>
          <a:xfrm rot="5400000">
            <a:off x="394106" y="6423660"/>
            <a:ext cx="181051" cy="120701"/>
          </a:xfrm>
          <a:prstGeom prst="ellipse">
            <a:avLst/>
          </a:prstGeom>
          <a:solidFill>
            <a:srgbClr val="8B1E1E">
              <a:alpha val="65000"/>
            </a:srgbClr>
          </a:solidFill>
          <a:ln w="6350">
            <a:solidFill>
              <a:srgbClr val="8B1E1E"/>
            </a:solidFill>
            <a:prstDash val="solid"/>
          </a:ln>
        </p:spPr>
      </p:sp>
      <p:sp>
        <p:nvSpPr>
          <p:cNvPr id="17" name="Shape 15"/>
          <p:cNvSpPr/>
          <p:nvPr/>
        </p:nvSpPr>
        <p:spPr>
          <a:xfrm rot="10800000">
            <a:off x="283464" y="6313018"/>
            <a:ext cx="181051" cy="120701"/>
          </a:xfrm>
          <a:prstGeom prst="ellipse">
            <a:avLst/>
          </a:prstGeom>
          <a:solidFill>
            <a:srgbClr val="8B1E1E">
              <a:alpha val="65000"/>
            </a:srgbClr>
          </a:solidFill>
          <a:ln w="6350">
            <a:solidFill>
              <a:srgbClr val="8B1E1E"/>
            </a:solidFill>
            <a:prstDash val="solid"/>
          </a:ln>
        </p:spPr>
      </p:sp>
      <p:sp>
        <p:nvSpPr>
          <p:cNvPr id="18" name="Shape 16"/>
          <p:cNvSpPr/>
          <p:nvPr/>
        </p:nvSpPr>
        <p:spPr>
          <a:xfrm rot="16200000">
            <a:off x="394106" y="6202375"/>
            <a:ext cx="181051" cy="120701"/>
          </a:xfrm>
          <a:prstGeom prst="ellipse">
            <a:avLst/>
          </a:prstGeom>
          <a:solidFill>
            <a:srgbClr val="8B1E1E">
              <a:alpha val="65000"/>
            </a:srgbClr>
          </a:solidFill>
          <a:ln w="6350">
            <a:solidFill>
              <a:srgbClr val="8B1E1E"/>
            </a:solidFill>
            <a:prstDash val="solid"/>
          </a:ln>
        </p:spPr>
      </p:sp>
      <p:sp>
        <p:nvSpPr>
          <p:cNvPr id="19" name="Shape 17"/>
          <p:cNvSpPr/>
          <p:nvPr/>
        </p:nvSpPr>
        <p:spPr>
          <a:xfrm>
            <a:off x="448422" y="6337158"/>
            <a:ext cx="72420" cy="72420"/>
          </a:xfrm>
          <a:prstGeom prst="ellipse">
            <a:avLst/>
          </a:prstGeom>
          <a:solidFill>
            <a:srgbClr val="D4A947"/>
          </a:solidFill>
          <a:ln w="6350">
            <a:solidFill>
              <a:srgbClr val="8B1E1E"/>
            </a:solidFill>
            <a:prstDash val="solid"/>
          </a:ln>
        </p:spPr>
      </p:sp>
      <p:sp>
        <p:nvSpPr>
          <p:cNvPr id="20" name="Shape 18"/>
          <p:cNvSpPr/>
          <p:nvPr/>
        </p:nvSpPr>
        <p:spPr>
          <a:xfrm>
            <a:off x="11727180" y="6313018"/>
            <a:ext cx="181051" cy="120701"/>
          </a:xfrm>
          <a:prstGeom prst="ellipse">
            <a:avLst/>
          </a:prstGeom>
          <a:solidFill>
            <a:srgbClr val="8B1E1E">
              <a:alpha val="65000"/>
            </a:srgbClr>
          </a:solidFill>
          <a:ln w="6350">
            <a:solidFill>
              <a:srgbClr val="8B1E1E"/>
            </a:solidFill>
            <a:prstDash val="solid"/>
          </a:ln>
        </p:spPr>
      </p:sp>
      <p:sp>
        <p:nvSpPr>
          <p:cNvPr id="21" name="Shape 19"/>
          <p:cNvSpPr/>
          <p:nvPr/>
        </p:nvSpPr>
        <p:spPr>
          <a:xfrm rot="5400000">
            <a:off x="11616538" y="6423660"/>
            <a:ext cx="181051" cy="120701"/>
          </a:xfrm>
          <a:prstGeom prst="ellipse">
            <a:avLst/>
          </a:prstGeom>
          <a:solidFill>
            <a:srgbClr val="8B1E1E">
              <a:alpha val="65000"/>
            </a:srgbClr>
          </a:solidFill>
          <a:ln w="6350">
            <a:solidFill>
              <a:srgbClr val="8B1E1E"/>
            </a:solidFill>
            <a:prstDash val="solid"/>
          </a:ln>
        </p:spPr>
      </p:sp>
      <p:sp>
        <p:nvSpPr>
          <p:cNvPr id="22" name="Shape 20"/>
          <p:cNvSpPr/>
          <p:nvPr/>
        </p:nvSpPr>
        <p:spPr>
          <a:xfrm rot="10800000">
            <a:off x="11505895" y="6313018"/>
            <a:ext cx="181051" cy="120701"/>
          </a:xfrm>
          <a:prstGeom prst="ellipse">
            <a:avLst/>
          </a:prstGeom>
          <a:solidFill>
            <a:srgbClr val="8B1E1E">
              <a:alpha val="65000"/>
            </a:srgbClr>
          </a:solidFill>
          <a:ln w="6350">
            <a:solidFill>
              <a:srgbClr val="8B1E1E"/>
            </a:solidFill>
            <a:prstDash val="solid"/>
          </a:ln>
        </p:spPr>
      </p:sp>
      <p:sp>
        <p:nvSpPr>
          <p:cNvPr id="23" name="Shape 21"/>
          <p:cNvSpPr/>
          <p:nvPr/>
        </p:nvSpPr>
        <p:spPr>
          <a:xfrm rot="16200000">
            <a:off x="11616538" y="6202375"/>
            <a:ext cx="181051" cy="120701"/>
          </a:xfrm>
          <a:prstGeom prst="ellipse">
            <a:avLst/>
          </a:prstGeom>
          <a:solidFill>
            <a:srgbClr val="8B1E1E">
              <a:alpha val="65000"/>
            </a:srgbClr>
          </a:solidFill>
          <a:ln w="6350">
            <a:solidFill>
              <a:srgbClr val="8B1E1E"/>
            </a:solidFill>
            <a:prstDash val="solid"/>
          </a:ln>
        </p:spPr>
      </p:sp>
      <p:sp>
        <p:nvSpPr>
          <p:cNvPr id="24" name="Shape 22"/>
          <p:cNvSpPr/>
          <p:nvPr/>
        </p:nvSpPr>
        <p:spPr>
          <a:xfrm>
            <a:off x="11670853" y="6337158"/>
            <a:ext cx="72420" cy="72420"/>
          </a:xfrm>
          <a:prstGeom prst="ellipse">
            <a:avLst/>
          </a:prstGeom>
          <a:solidFill>
            <a:srgbClr val="D4A947"/>
          </a:solidFill>
          <a:ln w="6350">
            <a:solidFill>
              <a:srgbClr val="8B1E1E"/>
            </a:solidFill>
            <a:prstDash val="solid"/>
          </a:ln>
        </p:spPr>
      </p:sp>
      <p:sp>
        <p:nvSpPr>
          <p:cNvPr id="25" name="Shape 23"/>
          <p:cNvSpPr/>
          <p:nvPr/>
        </p:nvSpPr>
        <p:spPr>
          <a:xfrm>
            <a:off x="502920" y="822960"/>
            <a:ext cx="914400" cy="914400"/>
          </a:xfrm>
          <a:prstGeom prst="ellipse">
            <a:avLst/>
          </a:prstGeom>
          <a:solidFill>
            <a:srgbClr val="8B1E1E"/>
          </a:solidFill>
          <a:ln w="15875">
            <a:solidFill>
              <a:srgbClr val="2C1810"/>
            </a:solidFill>
            <a:prstDash val="solid"/>
          </a:ln>
        </p:spPr>
      </p:sp>
      <p:sp>
        <p:nvSpPr>
          <p:cNvPr id="26" name="Text 24"/>
          <p:cNvSpPr txBox="1"/>
          <p:nvPr/>
        </p:nvSpPr>
        <p:spPr>
          <a:xfrm>
            <a:off x="502920" y="822960"/>
            <a:ext cx="914400" cy="914400"/>
          </a:xfrm>
          <a:prstGeom prst="rect">
            <a:avLst/>
          </a:prstGeom>
          <a:noFill/>
          <a:ln/>
        </p:spPr>
        <p:txBody>
          <a:bodyPr wrap="square" rtlCol="0" anchor="ctr"/>
          <a:lstStyle/>
          <a:p>
            <a:pPr algn="ctr" indent="0" marL="0">
              <a:buNone/>
            </a:pPr>
            <a:r>
              <a:rPr lang="en-US" sz="2800" b="1" dirty="0">
                <a:solidFill>
                  <a:srgbClr val="F4ECD8"/>
                </a:solidFill>
                <a:latin typeface="Fraunces" pitchFamily="34" charset="0"/>
                <a:ea typeface="Fraunces" pitchFamily="34" charset="-122"/>
                <a:cs typeface="Fraunces" pitchFamily="34" charset="-120"/>
              </a:rPr>
              <a:t>05</a:t>
            </a:r>
            <a:endParaRPr lang="en-US" sz="2800" dirty="0"/>
          </a:p>
        </p:txBody>
      </p:sp>
      <p:sp>
        <p:nvSpPr>
          <p:cNvPr id="27" name="Text 25"/>
          <p:cNvSpPr txBox="1"/>
          <p:nvPr/>
        </p:nvSpPr>
        <p:spPr>
          <a:xfrm>
            <a:off x="1645920" y="868680"/>
            <a:ext cx="9144000" cy="274320"/>
          </a:xfrm>
          <a:prstGeom prst="rect">
            <a:avLst/>
          </a:prstGeom>
          <a:noFill/>
          <a:ln/>
        </p:spPr>
        <p:txBody>
          <a:bodyPr wrap="square" rtlCol="0" anchor="ctr"/>
          <a:lstStyle/>
          <a:p>
            <a:pPr indent="0" marL="0">
              <a:buNone/>
            </a:pPr>
            <a:r>
              <a:rPr lang="en-US" sz="1000" b="1" spc="400" kern="0" dirty="0">
                <a:solidFill>
                  <a:srgbClr val="8B1E1E"/>
                </a:solidFill>
                <a:latin typeface="DM Sans" pitchFamily="34" charset="0"/>
                <a:ea typeface="DM Sans" pitchFamily="34" charset="-122"/>
                <a:cs typeface="DM Sans" pitchFamily="34" charset="-120"/>
              </a:rPr>
              <a:t>QUESTION</a:t>
            </a:r>
            <a:endParaRPr lang="en-US" sz="1000" dirty="0"/>
          </a:p>
        </p:txBody>
      </p:sp>
      <p:sp>
        <p:nvSpPr>
          <p:cNvPr id="28" name="Text 26"/>
          <p:cNvSpPr txBox="1"/>
          <p:nvPr/>
        </p:nvSpPr>
        <p:spPr>
          <a:xfrm>
            <a:off x="1645920" y="1097280"/>
            <a:ext cx="9601200" cy="822960"/>
          </a:xfrm>
          <a:prstGeom prst="rect">
            <a:avLst/>
          </a:prstGeom>
          <a:noFill/>
          <a:ln/>
        </p:spPr>
        <p:txBody>
          <a:bodyPr wrap="square" rtlCol="0" anchor="t"/>
          <a:lstStyle/>
          <a:p>
            <a:pPr algn="l" indent="0" marL="0">
              <a:lnSpc>
                <a:spcPct val="105000"/>
              </a:lnSpc>
              <a:buNone/>
            </a:pPr>
            <a:r>
              <a:rPr lang="en-US" sz="2000" b="1" dirty="0">
                <a:solidFill>
                  <a:srgbClr val="2C1810"/>
                </a:solidFill>
                <a:latin typeface="Fraunces" pitchFamily="34" charset="0"/>
                <a:ea typeface="Fraunces" pitchFamily="34" charset="-122"/>
                <a:cs typeface="Fraunces" pitchFamily="34" charset="-120"/>
              </a:rPr>
              <a:t>Why Gemini over GPT-4 / Claude?</a:t>
            </a:r>
            <a:endParaRPr lang="en-US" sz="2000" dirty="0"/>
          </a:p>
        </p:txBody>
      </p:sp>
      <p:sp>
        <p:nvSpPr>
          <p:cNvPr id="29" name="Shape 27"/>
          <p:cNvSpPr/>
          <p:nvPr/>
        </p:nvSpPr>
        <p:spPr>
          <a:xfrm>
            <a:off x="502920" y="2240280"/>
            <a:ext cx="11185855" cy="0"/>
          </a:xfrm>
          <a:prstGeom prst="line">
            <a:avLst/>
          </a:prstGeom>
          <a:noFill/>
          <a:ln w="15875">
            <a:solidFill>
              <a:srgbClr val="D4A947"/>
            </a:solidFill>
            <a:prstDash val="solid"/>
          </a:ln>
        </p:spPr>
      </p:sp>
      <p:sp>
        <p:nvSpPr>
          <p:cNvPr id="30" name="Text 28"/>
          <p:cNvSpPr txBox="1"/>
          <p:nvPr/>
        </p:nvSpPr>
        <p:spPr>
          <a:xfrm>
            <a:off x="502920" y="2468880"/>
            <a:ext cx="11185855" cy="274320"/>
          </a:xfrm>
          <a:prstGeom prst="rect">
            <a:avLst/>
          </a:prstGeom>
          <a:noFill/>
          <a:ln/>
        </p:spPr>
        <p:txBody>
          <a:bodyPr wrap="square" rtlCol="0" anchor="ctr"/>
          <a:lstStyle/>
          <a:p>
            <a:pPr indent="0" marL="0">
              <a:buNone/>
            </a:pPr>
            <a:r>
              <a:rPr lang="en-US" sz="1000" b="1" spc="400" kern="0" dirty="0">
                <a:solidFill>
                  <a:srgbClr val="2F5D3A"/>
                </a:solidFill>
                <a:latin typeface="DM Sans" pitchFamily="34" charset="0"/>
                <a:ea typeface="DM Sans" pitchFamily="34" charset="-122"/>
                <a:cs typeface="DM Sans" pitchFamily="34" charset="-120"/>
              </a:rPr>
              <a:t>ANSWER</a:t>
            </a:r>
            <a:endParaRPr lang="en-US" sz="1000" dirty="0"/>
          </a:p>
        </p:txBody>
      </p:sp>
      <p:sp>
        <p:nvSpPr>
          <p:cNvPr id="31" name="Shape 29"/>
          <p:cNvSpPr/>
          <p:nvPr/>
        </p:nvSpPr>
        <p:spPr>
          <a:xfrm>
            <a:off x="502920" y="2834640"/>
            <a:ext cx="11185855" cy="3200400"/>
          </a:xfrm>
          <a:prstGeom prst="roundRect">
            <a:avLst>
              <a:gd name="adj" fmla="val 2286"/>
            </a:avLst>
          </a:prstGeom>
          <a:solidFill>
            <a:srgbClr val="EFE6CC"/>
          </a:solidFill>
          <a:ln w="15875">
            <a:solidFill>
              <a:srgbClr val="2F5D3A"/>
            </a:solidFill>
            <a:prstDash val="solid"/>
          </a:ln>
        </p:spPr>
      </p:sp>
      <p:sp>
        <p:nvSpPr>
          <p:cNvPr id="32" name="Text 30"/>
          <p:cNvSpPr txBox="1"/>
          <p:nvPr/>
        </p:nvSpPr>
        <p:spPr>
          <a:xfrm>
            <a:off x="822960" y="3017520"/>
            <a:ext cx="10545775" cy="2834640"/>
          </a:xfrm>
          <a:prstGeom prst="rect">
            <a:avLst/>
          </a:prstGeom>
          <a:noFill/>
          <a:ln/>
        </p:spPr>
        <p:txBody>
          <a:bodyPr wrap="square" rtlCol="0" anchor="t"/>
          <a:lstStyle/>
          <a:p>
            <a:pPr algn="l" indent="0" marL="0">
              <a:lnSpc>
                <a:spcPct val="135000"/>
              </a:lnSpc>
              <a:buNone/>
            </a:pPr>
            <a:r>
              <a:rPr lang="en-US" sz="1500" dirty="0">
                <a:solidFill>
                  <a:srgbClr val="2C1810"/>
                </a:solidFill>
                <a:latin typeface="DM Sans" pitchFamily="34" charset="0"/>
                <a:ea typeface="DM Sans" pitchFamily="34" charset="-122"/>
                <a:cs typeface="DM Sans" pitchFamily="34" charset="-120"/>
              </a:rPr>
              <a:t>Native multimodal (vision + text in one call), strong structured-output via Vercel AI SDK's tool-calling, and cost. The architecture is model-agnostic — the orchestrator can swap underlying models per mode.</a:t>
            </a:r>
            <a:endParaRPr lang="en-US" sz="1500" dirty="0"/>
          </a:p>
        </p:txBody>
      </p:sp>
      <p:sp>
        <p:nvSpPr>
          <p:cNvPr id="33" name="Text 31"/>
          <p:cNvSpPr txBox="1"/>
          <p:nvPr/>
        </p:nvSpPr>
        <p:spPr>
          <a:xfrm>
            <a:off x="502920" y="6446520"/>
            <a:ext cx="5486400" cy="274320"/>
          </a:xfrm>
          <a:prstGeom prst="rect">
            <a:avLst/>
          </a:prstGeom>
          <a:noFill/>
          <a:ln/>
        </p:spPr>
        <p:txBody>
          <a:bodyPr wrap="square" rtlCol="0" anchor="ctr"/>
          <a:lstStyle/>
          <a:p>
            <a:pPr algn="l" indent="0" marL="0">
              <a:buNone/>
            </a:pPr>
            <a:r>
              <a:rPr lang="en-US" sz="900" b="1" spc="300" kern="0" dirty="0">
                <a:solidFill>
                  <a:srgbClr val="5B4636"/>
                </a:solidFill>
                <a:latin typeface="DM Sans" pitchFamily="34" charset="0"/>
                <a:ea typeface="DM Sans" pitchFamily="34" charset="-122"/>
                <a:cs typeface="DM Sans" pitchFamily="34" charset="-120"/>
              </a:rPr>
              <a:t>MAKANMATE · CODEX HACKATHON 2026</a:t>
            </a:r>
            <a:endParaRPr lang="en-US" sz="900" dirty="0"/>
          </a:p>
        </p:txBody>
      </p:sp>
      <p:sp>
        <p:nvSpPr>
          <p:cNvPr id="34" name="Text 32"/>
          <p:cNvSpPr txBox="1"/>
          <p:nvPr/>
        </p:nvSpPr>
        <p:spPr>
          <a:xfrm>
            <a:off x="9905695" y="6446520"/>
            <a:ext cx="1783080" cy="274320"/>
          </a:xfrm>
          <a:prstGeom prst="rect">
            <a:avLst/>
          </a:prstGeom>
          <a:noFill/>
          <a:ln/>
        </p:spPr>
        <p:txBody>
          <a:bodyPr wrap="square" rtlCol="0" anchor="ctr"/>
          <a:lstStyle/>
          <a:p>
            <a:pPr algn="r" indent="0" marL="0">
              <a:buNone/>
            </a:pPr>
            <a:r>
              <a:rPr lang="en-US" sz="1000" b="1" spc="300" kern="0" dirty="0">
                <a:solidFill>
                  <a:srgbClr val="8B1E1E"/>
                </a:solidFill>
                <a:latin typeface="DM Sans" pitchFamily="34" charset="0"/>
                <a:ea typeface="DM Sans" pitchFamily="34" charset="-122"/>
                <a:cs typeface="DM Sans" pitchFamily="34" charset="-120"/>
              </a:rPr>
              <a:t>( A · 05 )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Codex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MakanMate — Codex Hackathon 2026 Pitch</dc:title>
  <dc:subject>MakanMate Pitch Deck</dc:subject>
  <dc:creator>MakanMate</dc:creator>
  <cp:lastModifiedBy>MakanMate</cp:lastModifiedBy>
  <cp:revision>1</cp:revision>
  <dcterms:created xsi:type="dcterms:W3CDTF">2026-07-17T22:54:45Z</dcterms:created>
  <dcterms:modified xsi:type="dcterms:W3CDTF">2026-07-17T22:54:45Z</dcterms:modified>
</cp:coreProperties>
</file>